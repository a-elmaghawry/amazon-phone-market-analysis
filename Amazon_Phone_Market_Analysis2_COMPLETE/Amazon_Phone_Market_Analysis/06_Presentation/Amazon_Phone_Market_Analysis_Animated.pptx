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4.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5.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a6dc23c-68b8-d470-4caa-89b9557d5b2e}">
          <p14:sldIdLst>
            <p14:sldId id="256"/>
            <p14:sldId id="257"/>
          </p14:sldIdLst>
        </p14:section>
        <p14:section name="Dataset" id="{84205d48-b5de-0f6c-66b1-a734031bd6d6}">
          <p14:sldIdLst>
            <p14:sldId id="258"/>
            <p14:sldId id="259"/>
            <p14:sldId id="260"/>
          </p14:sldIdLst>
        </p14:section>
        <p14:section name="Data issues" id="{a3ac534e-042b-6f4c-c07b-186b1c6b3e94}">
          <p14:sldIdLst>
            <p14:sldId id="261"/>
            <p14:sldId id="262"/>
            <p14:sldId id="263"/>
          </p14:sldIdLst>
        </p14:section>
        <p14:section name="Analysis" id="{d770e182-9b95-1759-2182-63a4bfff3127}">
          <p14:sldIdLst>
            <p14:sldId id="264"/>
            <p14:sldId id="265"/>
          </p14:sldIdLst>
        </p14:section>
        <p14:section name="Dashboard" id="{b71229a1-642e-f3df-0e86-71fe4e523e90}">
          <p14:sldIdLst>
            <p14:sldId id="266"/>
          </p14:sldIdLst>
        </p14:section>
        <p14:section name="Findings" id="{4e9d6edc-ded3-c903-751e-eddf8f922080}">
          <p14:sldIdLst>
            <p14:sldId id="267"/>
            <p14:sldId id="268"/>
            <p14:sldId id="269"/>
            <p14:sldId id="270"/>
          </p14:sldIdLst>
        </p14:section>
        <p14:section name="Conclusion" id="{d617926c-682b-e3aa-5004-4f9cf13c5682}">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32F3E"/>
                </a:solidFill>
                <a:latin typeface="+mn-lt"/>
              </a:defRPr>
            </a:pPr>
            <a:r>
              <a:rPr sz="1400" b="0" i="0" u="none" strike="noStrike">
                <a:solidFill>
                  <a:srgbClr val="232F3E"/>
                </a:solidFill>
                <a:latin typeface="+mn-lt"/>
              </a:rPr>
              <a:t>Missing values by column (% of 340 raw rows)</a:t>
            </a:r>
          </a:p>
        </c:rich>
      </c:tx>
      <c:layout/>
      <c:overlay val="0"/>
    </c:title>
    <c:autoTitleDeleted val="0"/>
    <c:plotArea>
      <c:layout/>
      <c:barChart>
        <c:barDir val="bar"/>
        <c:grouping val="clustered"/>
        <c:varyColors val="0"/>
        <c:ser>
          <c:idx val="0"/>
          <c:order val="0"/>
          <c:tx>
            <c:strRef>
              <c:f>Sheet1!$B$1</c:f>
              <c:strCache>
                <c:ptCount val="1"/>
                <c:pt idx="0">
                  <c:v>Missing %</c:v>
                </c:pt>
              </c:strCache>
            </c:strRef>
          </c:tx>
          <c:spPr>
            <a:solidFill>
              <a:srgbClr val="FF9900"/>
            </a:solidFill>
            <a:effectLst/>
          </c:spPr>
          <c:invertIfNegative val="0"/>
          <c:dLbls>
            <c:numFmt formatCode="0.0&quot;%&quot;" sourceLinked="0"/>
            <c:txPr>
              <a:bodyPr/>
              <a:lstStyle/>
              <a:p>
                <a:pPr>
                  <a:defRPr b="0" i="0" strike="noStrike" sz="1200" u="none">
                    <a:solidFill>
                      <a:srgbClr val="131A22"/>
                    </a:solidFill>
                    <a:latin typeface="+mn-lt"/>
                  </a:defRPr>
                </a:pPr>
              </a:p>
            </c:txPr>
            <c:showLegendKey val="0"/>
            <c:showVal val="1"/>
            <c:showCatName val="0"/>
            <c:showSerName val="0"/>
            <c:showPercent val="0"/>
            <c:showBubbleSize val="0"/>
            <c:showLeaderLines val="0"/>
          </c:dLbls>
          <c:cat>
            <c:multiLvlStrRef>
              <c:f>Sheet1!$A$2:$A$7</c:f>
              <c:multiLvlStrCache>
                <c:ptCount val="6"/>
                <c:lvl>
                  <c:pt idx="0">
                    <c:v>unit_price / unit_count</c:v>
                  </c:pt>
                  <c:pt idx="1">
                    <c:v>coupon_text</c:v>
                  </c:pt>
                  <c:pt idx="2">
                    <c:v>product_availability</c:v>
                  </c:pt>
                  <c:pt idx="3">
                    <c:v>product_original_price</c:v>
                  </c:pt>
                  <c:pt idx="4">
                    <c:v>sales_volume</c:v>
                  </c:pt>
                  <c:pt idx="5">
                    <c:v>product_price</c:v>
                  </c:pt>
                </c:lvl>
              </c:multiLvlStrCache>
            </c:multiLvlStrRef>
          </c:cat>
          <c:val>
            <c:numRef>
              <c:f>Sheet1!$B$2:$B$7</c:f>
              <c:numCache>
                <c:formatCode>General</c:formatCode>
                <c:ptCount val="6"/>
                <c:pt idx="0">
                  <c:v>98.8</c:v>
                </c:pt>
                <c:pt idx="1">
                  <c:v>93.5</c:v>
                </c:pt>
                <c:pt idx="2">
                  <c:v>77.9</c:v>
                </c:pt>
                <c:pt idx="3">
                  <c:v>56.5</c:v>
                </c:pt>
                <c:pt idx="4">
                  <c:v>5.9</c:v>
                </c:pt>
                <c:pt idx="5">
                  <c:v>1.2</c:v>
                </c:pt>
              </c:numCache>
            </c:numRef>
          </c:val>
        </c:ser>
        <c:dLbls>
          <c:numFmt formatCode="0.0&quot;%&quot;" sourceLinked="0"/>
          <c:txPr>
            <a:bodyPr/>
            <a:lstStyle/>
            <a:p>
              <a:pPr>
                <a:defRPr b="0" i="0" strike="noStrike" sz="1200" u="none">
                  <a:solidFill>
                    <a:srgbClr val="131A22"/>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B7D"/>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E3E8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7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32F3E"/>
                </a:solidFill>
                <a:latin typeface="+mn-lt"/>
              </a:defRPr>
            </a:pPr>
            <a:r>
              <a:rPr sz="1400" b="0" i="0" u="none" strike="noStrike">
                <a:solidFill>
                  <a:srgbClr val="232F3E"/>
                </a:solidFill>
                <a:latin typeface="+mn-lt"/>
              </a:rPr>
              <a:t>Listings by price band</a:t>
            </a:r>
          </a:p>
        </c:rich>
      </c:tx>
      <c:layout/>
      <c:overlay val="0"/>
    </c:title>
    <c:autoTitleDeleted val="0"/>
    <c:plotArea>
      <c:layout/>
      <c:barChart>
        <c:barDir val="col"/>
        <c:grouping val="clustered"/>
        <c:varyColors val="0"/>
        <c:ser>
          <c:idx val="0"/>
          <c:order val="0"/>
          <c:tx>
            <c:strRef>
              <c:f>Sheet1!$B$1</c:f>
              <c:strCache>
                <c:ptCount val="1"/>
                <c:pt idx="0">
                  <c:v>Listings</c:v>
                </c:pt>
              </c:strCache>
            </c:strRef>
          </c:tx>
          <c:spPr>
            <a:solidFill>
              <a:srgbClr val="FF9900"/>
            </a:solidFill>
            <a:effectLst/>
          </c:spPr>
          <c:invertIfNegative val="0"/>
          <c:dLbls>
            <c:numFmt formatCode="#,##0" sourceLinked="0"/>
            <c:txPr>
              <a:bodyPr/>
              <a:lstStyle/>
              <a:p>
                <a:pPr>
                  <a:defRPr b="0" i="0" strike="noStrike" sz="1200" u="none">
                    <a:solidFill>
                      <a:srgbClr val="131A22"/>
                    </a:solidFill>
                    <a:latin typeface="+mn-lt"/>
                  </a:defRPr>
                </a:pPr>
              </a:p>
            </c:txPr>
            <c:showLegendKey val="0"/>
            <c:showVal val="1"/>
            <c:showCatName val="0"/>
            <c:showSerName val="0"/>
            <c:showPercent val="0"/>
            <c:showBubbleSize val="0"/>
            <c:showLeaderLines val="0"/>
          </c:dLbls>
          <c:dPt>
            <c:idx val="0"/>
            <c:invertIfNegative val="0"/>
            <c:bubble3D val="0"/>
            <c:spPr>
              <a:solidFill>
                <a:srgbClr val="FF9900"/>
              </a:solidFill>
              <a:effectLst/>
            </c:spPr>
          </c:dPt>
          <c:dPt>
            <c:idx val="1"/>
            <c:invertIfNegative val="0"/>
            <c:bubble3D val="0"/>
            <c:spPr>
              <a:solidFill>
                <a:srgbClr val="FF9900"/>
              </a:solidFill>
              <a:effectLst/>
            </c:spPr>
          </c:dPt>
          <c:dPt>
            <c:idx val="2"/>
            <c:invertIfNegative val="0"/>
            <c:bubble3D val="0"/>
            <c:spPr>
              <a:solidFill>
                <a:srgbClr val="FF9900"/>
              </a:solidFill>
              <a:effectLst/>
            </c:spPr>
          </c:dPt>
          <c:dPt>
            <c:idx val="3"/>
            <c:invertIfNegative val="0"/>
            <c:bubble3D val="0"/>
            <c:spPr>
              <a:solidFill>
                <a:srgbClr val="FF9900"/>
              </a:solidFill>
              <a:effectLst/>
            </c:spPr>
          </c:dPt>
          <c:dPt>
            <c:idx val="4"/>
            <c:invertIfNegative val="0"/>
            <c:bubble3D val="0"/>
            <c:spPr>
              <a:solidFill>
                <a:srgbClr val="A7B4C2"/>
              </a:solidFill>
              <a:effectLst/>
            </c:spPr>
          </c:dPt>
          <c:cat>
            <c:multiLvlStrRef>
              <c:f>Sheet1!$A$2:$A$6</c:f>
              <c:multiLvlStrCache>
                <c:ptCount val="5"/>
                <c:lvl>
                  <c:pt idx="0">
                    <c:v>Under $100</c:v>
                  </c:pt>
                  <c:pt idx="1">
                    <c:v>$100–299</c:v>
                  </c:pt>
                  <c:pt idx="2">
                    <c:v>$300–599</c:v>
                  </c:pt>
                  <c:pt idx="3">
                    <c:v>$600+</c:v>
                  </c:pt>
                  <c:pt idx="4">
                    <c:v>Unknown</c:v>
                  </c:pt>
                </c:lvl>
              </c:multiLvlStrCache>
            </c:multiLvlStrRef>
          </c:cat>
          <c:val>
            <c:numRef>
              <c:f>Sheet1!$B$2:$B$6</c:f>
              <c:numCache>
                <c:formatCode>General</c:formatCode>
                <c:ptCount val="5"/>
                <c:pt idx="0">
                  <c:v>152</c:v>
                </c:pt>
                <c:pt idx="1">
                  <c:v>123</c:v>
                </c:pt>
                <c:pt idx="2">
                  <c:v>26</c:v>
                </c:pt>
                <c:pt idx="3">
                  <c:v>14</c:v>
                </c:pt>
                <c:pt idx="4">
                  <c:v>4</c:v>
                </c:pt>
              </c:numCache>
            </c:numRef>
          </c:val>
        </c:ser>
        <c:dLbls>
          <c:numFmt formatCode="#,##0" sourceLinked="0"/>
          <c:txPr>
            <a:bodyPr/>
            <a:lstStyle/>
            <a:p>
              <a:pPr>
                <a:defRPr b="0" i="0" strike="noStrike" sz="1200" u="none">
                  <a:solidFill>
                    <a:srgbClr val="131A22"/>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7D"/>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32F3E"/>
                </a:solidFill>
                <a:latin typeface="+mn-lt"/>
              </a:defRPr>
            </a:pPr>
            <a:r>
              <a:rPr sz="1400" b="0" i="0" u="none" strike="noStrike">
                <a:solidFill>
                  <a:srgbClr val="232F3E"/>
                </a:solidFill>
                <a:latin typeface="+mn-lt"/>
              </a:rPr>
              <a:t>Listings by product type (title keywords)</a:t>
            </a:r>
          </a:p>
        </c:rich>
      </c:tx>
      <c:layout/>
      <c:overlay val="0"/>
    </c:title>
    <c:autoTitleDeleted val="0"/>
    <c:plotArea>
      <c:layout/>
      <c:doughnutChart>
        <c:varyColors val="1"/>
        <c:ser>
          <c:idx val="0"/>
          <c:order val="0"/>
          <c:tx>
            <c:strRef>
              <c:f>Sheet1!$B$1</c:f>
              <c:strCache>
                <c:ptCount val="1"/>
                <c:pt idx="0">
                  <c:v>Type</c:v>
                </c:pt>
              </c:strCache>
            </c:strRef>
          </c:tx>
          <c:spPr>
            <a:solidFill>
              <a:schemeClr val="accent1"/>
            </a:solidFill>
            <a:ln w="9525" cap="flat">
              <a:solidFill>
                <a:srgbClr val="F9F9F9"/>
              </a:solidFill>
              <a:prstDash val="solid"/>
              <a:round/>
            </a:ln>
            <a:effectLst/>
          </c:spPr>
          <c:dPt>
            <c:idx val="0"/>
            <c:bubble3D val="0"/>
            <c:spPr>
              <a:solidFill>
                <a:srgbClr val="FF9900"/>
              </a:solidFill>
              <a:effectLst/>
            </c:spPr>
          </c:dPt>
          <c:dPt>
            <c:idx val="1"/>
            <c:bubble3D val="0"/>
            <c:spPr>
              <a:solidFill>
                <a:srgbClr val="232F3E"/>
              </a:solidFill>
              <a:effectLst/>
            </c:spPr>
          </c:dPt>
          <c:dPt>
            <c:idx val="2"/>
            <c:bubble3D val="0"/>
            <c:spPr>
              <a:solidFill>
                <a:srgbClr val="A7B4C2"/>
              </a:solidFill>
              <a:effectLst/>
            </c:spPr>
          </c:dPt>
          <c:dLbls>
            <c:dLbl>
              <c:idx val="0"/>
              <c:numFmt formatCode="0%" sourceLinked="0"/>
              <c:spPr/>
              <c:txPr>
                <a:bodyPr/>
                <a:lstStyle/>
                <a:p>
                  <a:pPr>
                    <a:defRPr sz="1400" b="0"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400" b="0"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1400" b="0"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Mobile phones</c:v>
                </c:pt>
                <c:pt idx="1">
                  <c:v>Cordless / landline</c:v>
                </c:pt>
                <c:pt idx="2">
                  <c:v>Accessories</c:v>
                </c:pt>
              </c:strCache>
            </c:strRef>
          </c:cat>
          <c:val>
            <c:numRef>
              <c:f>Sheet1!$B$2:$B$4</c:f>
              <c:numCache>
                <c:ptCount val="3"/>
                <c:pt idx="0">
                  <c:v>237</c:v>
                </c:pt>
                <c:pt idx="1">
                  <c:v>69</c:v>
                </c:pt>
                <c:pt idx="2">
                  <c:v>13</c:v>
                </c:pt>
              </c:numCache>
            </c:numRef>
          </c:val>
        </c:ser>
        <c:firstSliceAng val="0"/>
        <c:holeSize val="58"/>
      </c:doughnutChart>
      <c:spPr>
        <a:noFill/>
        <a:ln>
          <a:noFill/>
        </a:ln>
        <a:effectLst/>
      </c:spPr>
    </c:plotArea>
    <c:legend>
      <c:legendPos val="b"/>
      <c:overlay val="0"/>
      <c:txPr>
        <a:bodyPr/>
        <a:lstStyle/>
        <a:p>
          <a:pPr>
            <a:defRPr sz="1300">
              <a:solidFill>
                <a:srgbClr val="131A2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32F3E"/>
                </a:solidFill>
                <a:latin typeface="+mn-lt"/>
              </a:defRPr>
            </a:pPr>
            <a:r>
              <a:rPr sz="1400" b="0" i="0" u="none" strike="noStrike">
                <a:solidFill>
                  <a:srgbClr val="232F3E"/>
                </a:solidFill>
                <a:latin typeface="+mn-lt"/>
              </a:rPr>
              <a:t>Average price by Prime status ($)</a:t>
            </a:r>
          </a:p>
        </c:rich>
      </c:tx>
      <c:layout/>
      <c:overlay val="0"/>
    </c:title>
    <c:autoTitleDeleted val="0"/>
    <c:plotArea>
      <c:layout/>
      <c:barChart>
        <c:barDir val="col"/>
        <c:grouping val="clustered"/>
        <c:varyColors val="0"/>
        <c:ser>
          <c:idx val="0"/>
          <c:order val="0"/>
          <c:tx>
            <c:strRef>
              <c:f>Sheet1!$B$1</c:f>
              <c:strCache>
                <c:ptCount val="1"/>
                <c:pt idx="0">
                  <c:v>Average price ($)</c:v>
                </c:pt>
              </c:strCache>
            </c:strRef>
          </c:tx>
          <c:spPr>
            <a:solidFill>
              <a:srgbClr val="FF9900"/>
            </a:solidFill>
            <a:effectLst/>
          </c:spPr>
          <c:invertIfNegative val="0"/>
          <c:dLbls>
            <c:numFmt formatCode="$#,##0" sourceLinked="0"/>
            <c:txPr>
              <a:bodyPr/>
              <a:lstStyle/>
              <a:p>
                <a:pPr>
                  <a:defRPr b="0" i="0" strike="noStrike" sz="1200" u="none">
                    <a:solidFill>
                      <a:srgbClr val="131A22"/>
                    </a:solidFill>
                    <a:latin typeface="+mn-lt"/>
                  </a:defRPr>
                </a:pPr>
              </a:p>
            </c:txPr>
            <c:showLegendKey val="0"/>
            <c:showVal val="1"/>
            <c:showCatName val="0"/>
            <c:showSerName val="0"/>
            <c:showPercent val="0"/>
            <c:showBubbleSize val="0"/>
            <c:showLeaderLines val="0"/>
          </c:dLbls>
          <c:dPt>
            <c:idx val="0"/>
            <c:invertIfNegative val="0"/>
            <c:bubble3D val="0"/>
            <c:spPr>
              <a:solidFill>
                <a:srgbClr val="FF9900"/>
              </a:solidFill>
              <a:effectLst/>
            </c:spPr>
          </c:dPt>
          <c:dPt>
            <c:idx val="1"/>
            <c:invertIfNegative val="0"/>
            <c:bubble3D val="0"/>
            <c:spPr>
              <a:solidFill>
                <a:srgbClr val="232F3E"/>
              </a:solidFill>
              <a:effectLst/>
            </c:spPr>
          </c:dPt>
          <c:cat>
            <c:multiLvlStrRef>
              <c:f>Sheet1!$A$2:$A$3</c:f>
              <c:multiLvlStrCache>
                <c:ptCount val="2"/>
                <c:lvl>
                  <c:pt idx="0">
                    <c:v>Prime</c:v>
                  </c:pt>
                  <c:pt idx="1">
                    <c:v>Not Prime</c:v>
                  </c:pt>
                </c:lvl>
              </c:multiLvlStrCache>
            </c:multiLvlStrRef>
          </c:cat>
          <c:val>
            <c:numRef>
              <c:f>Sheet1!$B$2:$B$3</c:f>
              <c:numCache>
                <c:formatCode>General</c:formatCode>
                <c:ptCount val="2"/>
                <c:pt idx="0">
                  <c:v>151.67</c:v>
                </c:pt>
                <c:pt idx="1">
                  <c:v>232.93</c:v>
                </c:pt>
              </c:numCache>
            </c:numRef>
          </c:val>
        </c:ser>
        <c:dLbls>
          <c:numFmt formatCode="$#,##0" sourceLinked="0"/>
          <c:txPr>
            <a:bodyPr/>
            <a:lstStyle/>
            <a:p>
              <a:pPr>
                <a:defRPr b="0" i="0" strike="noStrike" sz="1200" u="none">
                  <a:solidFill>
                    <a:srgbClr val="131A22"/>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7D"/>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32F3E"/>
                </a:solidFill>
                <a:latin typeface="+mn-lt"/>
              </a:defRPr>
            </a:pPr>
            <a:r>
              <a:rPr sz="1400" b="0" i="0" u="none" strike="noStrike">
                <a:solidFill>
                  <a:srgbClr val="232F3E"/>
                </a:solidFill>
                <a:latin typeface="+mn-lt"/>
              </a:rPr>
              <a:t>Listings with a displayed discount</a:t>
            </a:r>
          </a:p>
        </c:rich>
      </c:tx>
      <c:layout/>
      <c:overlay val="0"/>
    </c:title>
    <c:autoTitleDeleted val="0"/>
    <c:plotArea>
      <c:layout/>
      <c:doughnutChart>
        <c:varyColors val="1"/>
        <c:ser>
          <c:idx val="0"/>
          <c:order val="0"/>
          <c:tx>
            <c:strRef>
              <c:f>Sheet1!$B$1</c:f>
              <c:strCache>
                <c:ptCount val="1"/>
                <c:pt idx="0">
                  <c:v>Discount</c:v>
                </c:pt>
              </c:strCache>
            </c:strRef>
          </c:tx>
          <c:spPr>
            <a:solidFill>
              <a:schemeClr val="accent1"/>
            </a:solidFill>
            <a:ln w="9525" cap="flat">
              <a:solidFill>
                <a:srgbClr val="F9F9F9"/>
              </a:solidFill>
              <a:prstDash val="solid"/>
              <a:round/>
            </a:ln>
            <a:effectLst/>
          </c:spPr>
          <c:dPt>
            <c:idx val="0"/>
            <c:bubble3D val="0"/>
            <c:spPr>
              <a:solidFill>
                <a:srgbClr val="FF9900"/>
              </a:solidFill>
              <a:effectLst/>
            </c:spPr>
          </c:dPt>
          <c:dPt>
            <c:idx val="1"/>
            <c:bubble3D val="0"/>
            <c:spPr>
              <a:solidFill>
                <a:srgbClr val="A7B4C2"/>
              </a:solidFill>
              <a:effectLst/>
            </c:spPr>
          </c:dPt>
          <c:dLbls>
            <c:dLbl>
              <c:idx val="0"/>
              <c:numFmt formatCode="0%" sourceLinked="0"/>
              <c:spPr/>
              <c:txPr>
                <a:bodyPr/>
                <a:lstStyle/>
                <a:p>
                  <a:pPr>
                    <a:defRPr sz="1400" b="0" i="0" u="none" strike="noStrike">
                      <a:solidFill>
                        <a:srgbClr val="131A22"/>
                      </a:solidFill>
                      <a:latin typeface="+mn-lt"/>
                    </a:defRPr>
                  </a:pPr>
                </a:p>
              </c:txPr>
              <c:showLegendKey val="0"/>
              <c:showVal val="0"/>
              <c:showCatName val="0"/>
              <c:showSerName val="0"/>
              <c:showPercent val="1"/>
              <c:showBubbleSize val="0"/>
            </c:dLbl>
            <c:dLbl>
              <c:idx val="1"/>
              <c:numFmt formatCode="0%" sourceLinked="0"/>
              <c:spPr/>
              <c:txPr>
                <a:bodyPr/>
                <a:lstStyle/>
                <a:p>
                  <a:pPr>
                    <a:defRPr sz="1400" b="0" i="0" u="none" strike="noStrike">
                      <a:solidFill>
                        <a:srgbClr val="131A22"/>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With discount</c:v>
                </c:pt>
                <c:pt idx="1">
                  <c:v>No discount</c:v>
                </c:pt>
              </c:strCache>
            </c:strRef>
          </c:cat>
          <c:val>
            <c:numRef>
              <c:f>Sheet1!$B$2:$B$3</c:f>
              <c:numCache>
                <c:ptCount val="2"/>
                <c:pt idx="0">
                  <c:v>139</c:v>
                </c:pt>
                <c:pt idx="1">
                  <c:v>180</c:v>
                </c:pt>
              </c:numCache>
            </c:numRef>
          </c:val>
        </c:ser>
        <c:firstSliceAng val="0"/>
        <c:holeSize val="58"/>
      </c:doughnutChart>
      <c:spPr>
        <a:noFill/>
        <a:ln>
          <a:noFill/>
        </a:ln>
        <a:effectLst/>
      </c:spPr>
    </c:plotArea>
    <c:legend>
      <c:legendPos val="b"/>
      <c:overlay val="0"/>
      <c:txPr>
        <a:bodyPr/>
        <a:lstStyle/>
        <a:p>
          <a:pPr>
            <a:defRPr sz="1300">
              <a:solidFill>
                <a:srgbClr val="131A2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افتتاحية: المشروع بيحلل سوق الموبايلات على أمازون من ناحية السعر وتجربة العميل وأداء السوق. الأداة الأساسية Power BI ومعاها SQL وPython زي ما الدكتور طلب.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نظرة سريعة: السؤال الأساسي للمشروع، وأرقام الداتا قبل وبعد التنضيف، وخط سير الشغل: Python للتنضيف، SQL للفحص والتحليل، Power BI للداشبورد، وPowerPoint للحكي.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الداتا عبارة عن نتايج بحث كلمة phone على أمازون. كل صف منتج واحد. الملف جاي مع المشروع وملوش لينك مصدر جواه، فبنذكر ده بصراحة. تواريخ التوصيل زي Sep 24 بتدل إن اللقطة اتاخدت تقريبًا سبتمبر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كل الأعمدة الـ20 الأصلية مجمعة في 5 مجموعات عشان تبقى سهلة الحفظ والشرح.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الأعمدة الـ11 اللي إحنا ضفناها: أسعار رقمية، تحليل المبيعات، الخصم، فلاجز، وتصنيفات السعر والتقييم. المجموع 20 أصلي + 11 جديد = 31 عمود.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المشاكل الأولى: صفوف مكررة، أسعار مكتوبة كنص، المبيعات مكتوبة كنص، وقيم مش مبيعات في عمود المبيعات. لكل مشكلة بنشرح الدليل والحل مش بس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القيم الفاضية: معظمها مش خطأ. مثلًا السعر الأصلي الفاضي معناه مفيش خصم، وكوبون فاضي معناه مفيش كوبون. فمن غير imputation، وعملنا flags بدل النص.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مراجعة أخيرة للجودة: لسه فيه 4 ASIN متكررين بأسعار مختلفة، وأكواد HTML في العناوين، وفي منتجات مش موبايلات (تليفونات أرضية وإكسسوارات). عرضناهم بصراحة وقلنا إزاي اتعاملنا معاهم.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أداة ليها دور: Python للتنضيف وبناء الأعمدة الجديدة، SQL لفحص الجودة وحساب المؤشرات والمقارنات، وPower BI للموديل والـDAX والداشبورد.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الموديل بسيط: جدول واحد PhoneProducts. الـmeasures الأساسية بتغذي كروت الـKPI. لاحظ إن Total Products بيستخدم DISTINCTCOUNT عشان يتجنب الـASIN المكرر.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الداشبورد 3 صفحات. الصفحة الأولى نظرة تنفيذية بالـKPI والرسومات الأساسية، التانية جدول تفصيلي للمنتجات، والتالتة رؤى السوق (الأسعار والتقييم والخصومات والكوبونات). شغّل الداشبورد لايف وانت بتشرح.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أول نتيجة: السوق ميّال للأسعار الرخيصة. 86% من المنتجات أقل من 300 دولار. المتوسط 174 أعلى من الوسيط 114 لأن فيه فلاجشيبات غالية بتشد المتوسط لفوق. وكل ما السعر يزيد التقييم بيزيد شوية.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نتيجة مهمة: البحث عن phone بيرجّع كمان تليفونات أرضية وإكسسوارات. 7 من أكتر 10 منتجات تقييمات مش موبايلات. لازم نفصلهم قبل أي قرار. التصنيف بالكلمات المفتاحية تقريبي.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ثالث نتيجة: 72% من المنتجات Prime ومتوسط سعرها أقل، لكن التقييم تقريبًا نفسه 4.09 مقابل 4.07. جزء من فرق السعر سببه إن التليفونات الأرضية والإكسسوارات رخيصة وأغلبها Prime. وعلاقة السعر بالتقييم ضعيفة (0.18).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رابع نتيجة: 44% من المنتجات عليها خصم بمتوسط 20.8% (الوسيط 15.5%)، لكن الكوبونات 22 بس، والـBest Seller منتجين بس، فمينفعش نبني عليه تحليل. المنتجات اللي عليها خصم عندها تقييمات أكتر، بس ده ارتباط مش سبب.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الخلاصة: كل استنتاج مربوط برقم وتوصية. التوصيات موجهة لبائع أو محلل بيدخل فئة الموبايلات على أمازون.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حدود التحليل: sales_volume مجرد نص معروض مش مبيعات حقيقية، لقطة واحدة في الزمن، عينة من نتايج البحث، وكل العلاقات ارتباط مش سببية. والخطوات الجاية لتحسين الجودة والتحليل.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ختام: كل الملفات في فولدر واحد مضغوط زي ما الدكتور طلب. افتح باب الأسئلة.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31A2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371600"/>
          </a:xfrm>
          <a:prstGeom prst="rect">
            <a:avLst/>
          </a:prstGeom>
          <a:noFill/>
          <a:ln/>
        </p:spPr>
        <p:txBody>
          <a:bodyPr wrap="square" rtlCol="0"/>
          <a:lstStyle>
            <a:lvl1pPr algn="l" indent="0" marL="0">
              <a:buNone/>
              <a:defRPr lang="en-US" sz="4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TOP">
    <p:bg>
      <p:bgPr>
        <a:solidFill>
          <a:srgbClr val="131A2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02920"/>
            <a:ext cx="10698480" cy="9144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rtlCol="0"/>
          <a:lstStyle>
            <a:lvl1pPr algn="l" indent="0" marL="0">
              <a:buNone/>
              <a:defRPr lang="en-US" sz="3000" b="1" dirty="0">
                <a:solidFill>
                  <a:srgbClr val="232F3E"/>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Amazon Phone Market Analysis  |  Data Analysis Diploma Final Project</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371600"/>
          </a:xfrm>
          <a:prstGeom prst="rect">
            <a:avLst/>
          </a:prstGeom>
          <a:noFill/>
          <a:ln/>
        </p:spPr>
        <p:txBody>
          <a:bodyPr wrap="square" lIns="0" tIns="0" rIns="0" bIns="0" rtlCol="0" anchor="t"/>
          <a:lstStyle/>
          <a:p>
            <a:pPr algn="l" indent="0" marL="0">
              <a:buNone/>
            </a:pPr>
            <a:r>
              <a:rPr lang="en-US" sz="4400" b="1" dirty="0">
                <a:solidFill>
                  <a:srgbClr val="FFFFFF"/>
                </a:solidFill>
                <a:latin typeface="Cambria" pitchFamily="34" charset="0"/>
                <a:ea typeface="Cambria" pitchFamily="34" charset="-122"/>
                <a:cs typeface="Cambria" pitchFamily="34" charset="-120"/>
              </a:rPr>
              <a:t>Amazon Phone Market Analysis</a:t>
            </a:r>
            <a:endParaRPr lang="en-US" sz="4400" dirty="0"/>
          </a:p>
        </p:txBody>
      </p:sp>
      <p:sp>
        <p:nvSpPr>
          <p:cNvPr id="3" name="glow circle large"/>
          <p:cNvSpPr/>
          <p:nvPr/>
        </p:nvSpPr>
        <p:spPr>
          <a:xfrm>
            <a:off x="9418320" y="1188720"/>
            <a:ext cx="4023360" cy="4023360"/>
          </a:xfrm>
          <a:prstGeom prst="ellipse">
            <a:avLst/>
          </a:prstGeom>
          <a:solidFill>
            <a:srgbClr val="FF9900">
              <a:alpha val="15000"/>
            </a:srgbClr>
          </a:solidFill>
          <a:ln w="12700">
            <a:solidFill>
              <a:srgbClr val="FF9900"/>
            </a:solidFill>
            <a:prstDash val="solid"/>
          </a:ln>
        </p:spPr>
      </p:sp>
      <p:sp>
        <p:nvSpPr>
          <p:cNvPr id="4" name="glow circle mid"/>
          <p:cNvSpPr/>
          <p:nvPr/>
        </p:nvSpPr>
        <p:spPr>
          <a:xfrm>
            <a:off x="10058400" y="1828800"/>
            <a:ext cx="2743200" cy="2743200"/>
          </a:xfrm>
          <a:prstGeom prst="ellipse">
            <a:avLst/>
          </a:prstGeom>
          <a:solidFill>
            <a:srgbClr val="FF9900">
              <a:alpha val="30000"/>
            </a:srgbClr>
          </a:solidFill>
          <a:ln w="12700">
            <a:solidFill>
              <a:srgbClr val="FF9900"/>
            </a:solidFill>
            <a:prstDash val="solid"/>
          </a:ln>
        </p:spPr>
      </p:sp>
      <p:sp>
        <p:nvSpPr>
          <p:cNvPr id="5" name="glow circle core"/>
          <p:cNvSpPr/>
          <p:nvPr/>
        </p:nvSpPr>
        <p:spPr>
          <a:xfrm>
            <a:off x="10607040" y="2377440"/>
            <a:ext cx="1645920" cy="1645920"/>
          </a:xfrm>
          <a:prstGeom prst="ellipse">
            <a:avLst/>
          </a:prstGeom>
          <a:solidFill>
            <a:srgbClr val="FF9900"/>
          </a:solidFill>
          <a:ln w="12700">
            <a:solidFill>
              <a:srgbClr val="FF9900"/>
            </a:solidFill>
            <a:prstDash val="solid"/>
          </a:ln>
        </p:spPr>
      </p:sp>
      <p:pic>
        <p:nvPicPr>
          <p:cNvPr id="6" name="Image 0" descr="chart icon">    </p:cNvPr>
          <p:cNvPicPr>
            <a:picLocks noChangeAspect="1"/>
          </p:cNvPicPr>
          <p:nvPr/>
        </p:nvPicPr>
        <p:blipFill>
          <a:blip r:embed="rId1"/>
          <a:stretch>
            <a:fillRect/>
          </a:stretch>
        </p:blipFill>
        <p:spPr>
          <a:xfrm>
            <a:off x="11109960" y="2880360"/>
            <a:ext cx="548640" cy="548640"/>
          </a:xfrm>
          <a:prstGeom prst="rect">
            <a:avLst/>
          </a:prstGeom>
        </p:spPr>
      </p:pic>
      <p:sp>
        <p:nvSpPr>
          <p:cNvPr id="7" name="Text 4"/>
          <p:cNvSpPr txBox="1"/>
          <p:nvPr/>
        </p:nvSpPr>
        <p:spPr>
          <a:xfrm>
            <a:off x="731520" y="3429000"/>
            <a:ext cx="10698480" cy="457200"/>
          </a:xfrm>
          <a:prstGeom prst="rect">
            <a:avLst/>
          </a:prstGeom>
          <a:noFill/>
          <a:ln/>
        </p:spPr>
        <p:txBody>
          <a:bodyPr wrap="square" lIns="0" tIns="0" rIns="0" bIns="0" rtlCol="0" anchor="t"/>
          <a:lstStyle/>
          <a:p>
            <a:pPr indent="0" marL="0">
              <a:buNone/>
            </a:pPr>
            <a:r>
              <a:rPr lang="en-US" sz="2200" dirty="0">
                <a:solidFill>
                  <a:srgbClr val="FF9900"/>
                </a:solidFill>
                <a:latin typeface="Calibri" pitchFamily="34" charset="0"/>
                <a:ea typeface="Calibri" pitchFamily="34" charset="-122"/>
                <a:cs typeface="Calibri" pitchFamily="34" charset="-120"/>
              </a:rPr>
              <a:t>Pricing  •  Customer Experience  •  Marketplace Performance</a:t>
            </a:r>
            <a:endParaRPr lang="en-US" sz="2200" dirty="0"/>
          </a:p>
        </p:txBody>
      </p:sp>
      <p:sp>
        <p:nvSpPr>
          <p:cNvPr id="8" name="Text 5"/>
          <p:cNvSpPr txBox="1"/>
          <p:nvPr/>
        </p:nvSpPr>
        <p:spPr>
          <a:xfrm>
            <a:off x="731520" y="4206240"/>
            <a:ext cx="10698480" cy="365760"/>
          </a:xfrm>
          <a:prstGeom prst="rect">
            <a:avLst/>
          </a:prstGeom>
          <a:noFill/>
          <a:ln/>
        </p:spPr>
        <p:txBody>
          <a:bodyPr wrap="square" lIns="0" tIns="0" rIns="0" bIns="0" rtlCol="0" anchor="t"/>
          <a:lstStyle/>
          <a:p>
            <a:pPr indent="0" marL="0">
              <a:buNone/>
            </a:pPr>
            <a:r>
              <a:rPr lang="en-US" sz="1800" dirty="0">
                <a:solidFill>
                  <a:srgbClr val="C9D3DE"/>
                </a:solidFill>
                <a:latin typeface="Calibri" pitchFamily="34" charset="0"/>
                <a:ea typeface="Calibri" pitchFamily="34" charset="-122"/>
                <a:cs typeface="Calibri" pitchFamily="34" charset="-120"/>
              </a:rPr>
              <a:t>Data Analysis Diploma  |  Final Group Project</a:t>
            </a:r>
            <a:endParaRPr lang="en-US" sz="1800" dirty="0"/>
          </a:p>
        </p:txBody>
      </p:sp>
      <p:sp>
        <p:nvSpPr>
          <p:cNvPr id="9" name="Text 6"/>
          <p:cNvSpPr txBox="1"/>
          <p:nvPr/>
        </p:nvSpPr>
        <p:spPr>
          <a:xfrm>
            <a:off x="731520" y="4617720"/>
            <a:ext cx="10698480" cy="365760"/>
          </a:xfrm>
          <a:prstGeom prst="rect">
            <a:avLst/>
          </a:prstGeom>
          <a:noFill/>
          <a:ln/>
        </p:spPr>
        <p:txBody>
          <a:bodyPr wrap="square" lIns="0" tIns="0" rIns="0" bIns="0" rtlCol="0" anchor="t"/>
          <a:lstStyle/>
          <a:p>
            <a:pPr indent="0" marL="0">
              <a:buNone/>
            </a:pPr>
            <a:r>
              <a:rPr lang="en-US" sz="1800" dirty="0">
                <a:solidFill>
                  <a:srgbClr val="C9D3DE"/>
                </a:solidFill>
                <a:latin typeface="Calibri" pitchFamily="34" charset="0"/>
                <a:ea typeface="Calibri" pitchFamily="34" charset="-122"/>
                <a:cs typeface="Calibri" pitchFamily="34" charset="-120"/>
              </a:rPr>
              <a:t>Power BI (main tool)   +   SQL   +   Python</a:t>
            </a:r>
            <a:endParaRPr lang="en-US" sz="1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42"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600"/>
                                        <p:tgtEl>
                                          <p:spTgt spid="2"/>
                                        </p:tgtEl>
                                      </p:cBhvr>
                                    </p:animEffect>
                                    <p:anim calcmode="lin" valueType="num">
                                      <p:cBhvr additive="base">
                                        <p:cTn id="13" dur="600" fill="hold"/>
                                        <p:tgtEl>
                                          <p:spTgt spid="2"/>
                                        </p:tgtEl>
                                        <p:attrNameLst>
                                          <p:attrName>ppt_y</p:attrName>
                                        </p:attrNameLst>
                                      </p:cBhvr>
                                      <p:tavLst>
                                        <p:tav tm="0">
                                          <p:val>
                                            <p:strVal val="#ppt_y+0.05"/>
                                          </p:val>
                                        </p:tav>
                                        <p:tav tm="100000">
                                          <p:val>
                                            <p:strVal val="#ppt_y"/>
                                          </p:val>
                                        </p:tav>
                                      </p:tavLst>
                                    </p:anim>
                                  </p:childTnLst>
                                </p:cTn>
                              </p:par>
                              <p:par>
                                <p:cTn id="16" presetID="42" presetClass="entr" presetSubtype="0" fill="hold" nodeType="withEffect">
                                  <p:stCondLst>
                                    <p:cond delay="13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600"/>
                                        <p:tgtEl>
                                          <p:spTgt spid="3"/>
                                        </p:tgtEl>
                                      </p:cBhvr>
                                    </p:animEffect>
                                    <p:anim calcmode="lin" valueType="num">
                                      <p:cBhvr additive="base">
                                        <p:cTn id="19" dur="600" fill="hold"/>
                                        <p:tgtEl>
                                          <p:spTgt spid="3"/>
                                        </p:tgtEl>
                                        <p:attrNameLst>
                                          <p:attrName>ppt_y</p:attrName>
                                        </p:attrNameLst>
                                      </p:cBhvr>
                                      <p:tavLst>
                                        <p:tav tm="0">
                                          <p:val>
                                            <p:strVal val="#ppt_y+0.05"/>
                                          </p:val>
                                        </p:tav>
                                        <p:tav tm="100000">
                                          <p:val>
                                            <p:strVal val="#ppt_y"/>
                                          </p:val>
                                        </p:tav>
                                      </p:tavLst>
                                    </p:anim>
                                  </p:childTnLst>
                                </p:cTn>
                              </p:par>
                              <p:par>
                                <p:cTn id="22" presetID="42" presetClass="entr" presetSubtype="0" fill="hold" nodeType="withEffect">
                                  <p:stCondLst>
                                    <p:cond delay="26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600"/>
                                        <p:tgtEl>
                                          <p:spTgt spid="4"/>
                                        </p:tgtEl>
                                      </p:cBhvr>
                                    </p:animEffect>
                                    <p:anim calcmode="lin" valueType="num">
                                      <p:cBhvr additive="base">
                                        <p:cTn id="25" dur="600" fill="hold"/>
                                        <p:tgtEl>
                                          <p:spTgt spid="4"/>
                                        </p:tgtEl>
                                        <p:attrNameLst>
                                          <p:attrName>ppt_y</p:attrName>
                                        </p:attrNameLst>
                                      </p:cBhvr>
                                      <p:tavLst>
                                        <p:tav tm="0">
                                          <p:val>
                                            <p:strVal val="#ppt_y+0.05"/>
                                          </p:val>
                                        </p:tav>
                                        <p:tav tm="100000">
                                          <p:val>
                                            <p:strVal val="#ppt_y"/>
                                          </p:val>
                                        </p:tav>
                                      </p:tavLst>
                                    </p:anim>
                                  </p:childTnLst>
                                </p:cTn>
                              </p:par>
                              <p:par>
                                <p:cTn id="28" presetID="42" presetClass="entr" presetSubtype="0" fill="hold" nodeType="withEffect">
                                  <p:stCondLst>
                                    <p:cond delay="39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600"/>
                                        <p:tgtEl>
                                          <p:spTgt spid="5"/>
                                        </p:tgtEl>
                                      </p:cBhvr>
                                    </p:animEffect>
                                    <p:anim calcmode="lin" valueType="num">
                                      <p:cBhvr additive="base">
                                        <p:cTn id="31" dur="600" fill="hold"/>
                                        <p:tgtEl>
                                          <p:spTgt spid="5"/>
                                        </p:tgtEl>
                                        <p:attrNameLst>
                                          <p:attrName>ppt_y</p:attrName>
                                        </p:attrNameLst>
                                      </p:cBhvr>
                                      <p:tavLst>
                                        <p:tav tm="0">
                                          <p:val>
                                            <p:strVal val="#ppt_y+0.05"/>
                                          </p:val>
                                        </p:tav>
                                        <p:tav tm="100000">
                                          <p:val>
                                            <p:strVal val="#ppt_y"/>
                                          </p:val>
                                        </p:tav>
                                      </p:tavLst>
                                    </p:anim>
                                  </p:childTnLst>
                                </p:cTn>
                              </p:par>
                              <p:par>
                                <p:cTn id="34" presetID="42" presetClass="entr" presetSubtype="0" fill="hold" nodeType="withEffect">
                                  <p:stCondLst>
                                    <p:cond delay="52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600"/>
                                        <p:tgtEl>
                                          <p:spTgt spid="6"/>
                                        </p:tgtEl>
                                      </p:cBhvr>
                                    </p:animEffect>
                                    <p:anim calcmode="lin" valueType="num">
                                      <p:cBhvr additive="base">
                                        <p:cTn id="37" dur="600" fill="hold"/>
                                        <p:tgtEl>
                                          <p:spTgt spid="6"/>
                                        </p:tgtEl>
                                        <p:attrNameLst>
                                          <p:attrName>ppt_y</p:attrName>
                                        </p:attrNameLst>
                                      </p:cBhvr>
                                      <p:tavLst>
                                        <p:tav tm="0">
                                          <p:val>
                                            <p:strVal val="#ppt_y+0.05"/>
                                          </p:val>
                                        </p:tav>
                                        <p:tav tm="100000">
                                          <p:val>
                                            <p:strVal val="#ppt_y"/>
                                          </p:val>
                                        </p:tav>
                                      </p:tavLst>
                                    </p:anim>
                                  </p:childTnLst>
                                </p:cTn>
                              </p:par>
                              <p:par>
                                <p:cTn id="40" presetID="42" presetClass="entr" presetSubtype="0" fill="hold" nodeType="withEffect">
                                  <p:stCondLst>
                                    <p:cond delay="65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600"/>
                                        <p:tgtEl>
                                          <p:spTgt spid="7"/>
                                        </p:tgtEl>
                                      </p:cBhvr>
                                    </p:animEffect>
                                    <p:anim calcmode="lin" valueType="num">
                                      <p:cBhvr additive="base">
                                        <p:cTn id="43" dur="600" fill="hold"/>
                                        <p:tgtEl>
                                          <p:spTgt spid="7"/>
                                        </p:tgtEl>
                                        <p:attrNameLst>
                                          <p:attrName>ppt_y</p:attrName>
                                        </p:attrNameLst>
                                      </p:cBhvr>
                                      <p:tavLst>
                                        <p:tav tm="0">
                                          <p:val>
                                            <p:strVal val="#ppt_y+0.05"/>
                                          </p:val>
                                        </p:tav>
                                        <p:tav tm="100000">
                                          <p:val>
                                            <p:strVal val="#ppt_y"/>
                                          </p:val>
                                        </p:tav>
                                      </p:tavLst>
                                    </p:anim>
                                  </p:childTnLst>
                                </p:cTn>
                              </p:par>
                              <p:par>
                                <p:cTn id="46" presetID="42" presetClass="entr" presetSubtype="0" fill="hold" nodeType="withEffect">
                                  <p:stCondLst>
                                    <p:cond delay="780"/>
                                  </p:stCondLst>
                                  <p:childTnLst>
                                    <p:set>
                                      <p:cBhvr>
                                        <p:cTn id="47" dur="1" fill="hold">
                                          <p:stCondLst>
                                            <p:cond delay="0"/>
                                          </p:stCondLst>
                                        </p:cTn>
                                        <p:tgtEl>
                                          <p:spTgt spid="8"/>
                                        </p:tgtEl>
                                        <p:attrNameLst>
                                          <p:attrName>style.visibility</p:attrName>
                                        </p:attrNameLst>
                                      </p:cBhvr>
                                      <p:to>
                                        <p:strVal val="visible"/>
                                      </p:to>
                                    </p:set>
                                    <p:animEffect transition="in" filter="fade">
                                      <p:cBhvr>
                                        <p:cTn id="48" dur="600"/>
                                        <p:tgtEl>
                                          <p:spTgt spid="8"/>
                                        </p:tgtEl>
                                      </p:cBhvr>
                                    </p:animEffect>
                                    <p:anim calcmode="lin" valueType="num">
                                      <p:cBhvr additive="base">
                                        <p:cTn id="49" dur="600" fill="hold"/>
                                        <p:tgtEl>
                                          <p:spTgt spid="8"/>
                                        </p:tgtEl>
                                        <p:attrNameLst>
                                          <p:attrName>ppt_y</p:attrName>
                                        </p:attrNameLst>
                                      </p:cBhvr>
                                      <p:tavLst>
                                        <p:tav tm="0">
                                          <p:val>
                                            <p:strVal val="#ppt_y+0.05"/>
                                          </p:val>
                                        </p:tav>
                                        <p:tav tm="100000">
                                          <p:val>
                                            <p:strVal val="#ppt_y"/>
                                          </p:val>
                                        </p:tav>
                                      </p:tavLst>
                                    </p:anim>
                                  </p:childTnLst>
                                </p:cTn>
                              </p:par>
                              <p:par>
                                <p:cTn id="52" presetID="42" presetClass="entr" presetSubtype="0" fill="hold" nodeType="withEffect">
                                  <p:stCondLst>
                                    <p:cond delay="910"/>
                                  </p:stCondLst>
                                  <p:childTnLst>
                                    <p:set>
                                      <p:cBhvr>
                                        <p:cTn id="53" dur="1" fill="hold">
                                          <p:stCondLst>
                                            <p:cond delay="0"/>
                                          </p:stCondLst>
                                        </p:cTn>
                                        <p:tgtEl>
                                          <p:spTgt spid="9"/>
                                        </p:tgtEl>
                                        <p:attrNameLst>
                                          <p:attrName>style.visibility</p:attrName>
                                        </p:attrNameLst>
                                      </p:cBhvr>
                                      <p:to>
                                        <p:strVal val="visible"/>
                                      </p:to>
                                    </p:set>
                                    <p:animEffect transition="in" filter="fade">
                                      <p:cBhvr>
                                        <p:cTn id="54" dur="600"/>
                                        <p:tgtEl>
                                          <p:spTgt spid="9"/>
                                        </p:tgtEl>
                                      </p:cBhvr>
                                    </p:animEffect>
                                    <p:anim calcmode="lin" valueType="num">
                                      <p:cBhvr additive="base">
                                        <p:cTn id="55" dur="600" fill="hold"/>
                                        <p:tgtEl>
                                          <p:spTgt spid="9"/>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Project at a glance</a:t>
            </a:r>
            <a:endParaRPr lang="en-US" sz="3000" dirty="0"/>
          </a:p>
        </p:txBody>
      </p:sp>
      <p:sp>
        <p:nvSpPr>
          <p:cNvPr id="4" name="Text 1"/>
          <p:cNvSpPr txBox="1"/>
          <p:nvPr/>
        </p:nvSpPr>
        <p:spPr>
          <a:xfrm>
            <a:off x="548640" y="1371600"/>
            <a:ext cx="11091672" cy="731520"/>
          </a:xfrm>
          <a:prstGeom prst="rect">
            <a:avLst/>
          </a:prstGeom>
          <a:noFill/>
          <a:ln/>
        </p:spPr>
        <p:txBody>
          <a:bodyPr wrap="square" lIns="0" tIns="0" rIns="0" bIns="0" rtlCol="0" anchor="t"/>
          <a:lstStyle/>
          <a:p>
            <a:pPr indent="0" marL="0">
              <a:buNone/>
            </a:pPr>
            <a:r>
              <a:rPr lang="en-US" sz="2000" b="1" dirty="0">
                <a:solidFill>
                  <a:srgbClr val="232F3E"/>
                </a:solidFill>
                <a:latin typeface="Calibri" pitchFamily="34" charset="0"/>
                <a:ea typeface="Calibri" pitchFamily="34" charset="-122"/>
                <a:cs typeface="Calibri" pitchFamily="34" charset="-120"/>
              </a:rPr>
              <a:t>Business question: what does the Amazon “phone” search market look like in terms of price, customer satisfaction and promotions?</a:t>
            </a:r>
            <a:endParaRPr lang="en-US" sz="2000" dirty="0"/>
          </a:p>
        </p:txBody>
      </p:sp>
      <p:sp>
        <p:nvSpPr>
          <p:cNvPr id="5" name="stat card"/>
          <p:cNvSpPr/>
          <p:nvPr/>
        </p:nvSpPr>
        <p:spPr>
          <a:xfrm>
            <a:off x="548640" y="2331720"/>
            <a:ext cx="2560320" cy="1325880"/>
          </a:xfrm>
          <a:prstGeom prst="roundRect">
            <a:avLst>
              <a:gd name="adj" fmla="val 8276"/>
            </a:avLst>
          </a:prstGeom>
          <a:solidFill>
            <a:srgbClr val="EEF2F6"/>
          </a:solidFill>
          <a:ln w="12700">
            <a:solidFill>
              <a:srgbClr val="EEF2F6"/>
            </a:solidFill>
            <a:prstDash val="solid"/>
          </a:ln>
        </p:spPr>
      </p:sp>
      <p:sp>
        <p:nvSpPr>
          <p:cNvPr id="6" name="Text 3"/>
          <p:cNvSpPr txBox="1"/>
          <p:nvPr/>
        </p:nvSpPr>
        <p:spPr>
          <a:xfrm>
            <a:off x="731520" y="2441448"/>
            <a:ext cx="2194560" cy="685800"/>
          </a:xfrm>
          <a:prstGeom prst="rect">
            <a:avLst/>
          </a:prstGeom>
          <a:noFill/>
          <a:ln/>
        </p:spPr>
        <p:txBody>
          <a:bodyPr wrap="square" lIns="0" tIns="0" rIns="0" bIns="0" rtlCol="0" anchor="ctr"/>
          <a:lstStyle/>
          <a:p>
            <a:pPr indent="0" marL="0">
              <a:buNone/>
            </a:pPr>
            <a:r>
              <a:rPr lang="en-US" sz="3600" b="1" dirty="0">
                <a:solidFill>
                  <a:srgbClr val="FF9900"/>
                </a:solidFill>
                <a:latin typeface="Cambria" pitchFamily="34" charset="0"/>
                <a:ea typeface="Cambria" pitchFamily="34" charset="-122"/>
                <a:cs typeface="Cambria" pitchFamily="34" charset="-120"/>
              </a:rPr>
              <a:t>340 → 315</a:t>
            </a:r>
            <a:endParaRPr lang="en-US" sz="3600" dirty="0"/>
          </a:p>
        </p:txBody>
      </p:sp>
      <p:sp>
        <p:nvSpPr>
          <p:cNvPr id="7" name="Text 4"/>
          <p:cNvSpPr txBox="1"/>
          <p:nvPr/>
        </p:nvSpPr>
        <p:spPr>
          <a:xfrm>
            <a:off x="731520" y="3136392"/>
            <a:ext cx="2194560" cy="457200"/>
          </a:xfrm>
          <a:prstGeom prst="rect">
            <a:avLst/>
          </a:prstGeom>
          <a:noFill/>
          <a:ln/>
        </p:spPr>
        <p:txBody>
          <a:bodyPr wrap="square" lIns="0" tIns="0" rIns="0" bIns="0" rtlCol="0" anchor="t"/>
          <a:lstStyle/>
          <a:p>
            <a:pPr indent="0" marL="0">
              <a:buNone/>
            </a:pPr>
            <a:r>
              <a:rPr lang="en-US" sz="1300" dirty="0">
                <a:solidFill>
                  <a:srgbClr val="5B6B7D"/>
                </a:solidFill>
                <a:latin typeface="Calibri" pitchFamily="34" charset="0"/>
                <a:ea typeface="Calibri" pitchFamily="34" charset="-122"/>
                <a:cs typeface="Calibri" pitchFamily="34" charset="-120"/>
              </a:rPr>
              <a:t>raw rows → unique products</a:t>
            </a:r>
            <a:endParaRPr lang="en-US" sz="1300" dirty="0"/>
          </a:p>
        </p:txBody>
      </p:sp>
      <p:sp>
        <p:nvSpPr>
          <p:cNvPr id="8" name="stat card"/>
          <p:cNvSpPr/>
          <p:nvPr/>
        </p:nvSpPr>
        <p:spPr>
          <a:xfrm>
            <a:off x="3383280" y="2331720"/>
            <a:ext cx="2560320" cy="1325880"/>
          </a:xfrm>
          <a:prstGeom prst="roundRect">
            <a:avLst>
              <a:gd name="adj" fmla="val 8276"/>
            </a:avLst>
          </a:prstGeom>
          <a:solidFill>
            <a:srgbClr val="EEF2F6"/>
          </a:solidFill>
          <a:ln w="12700">
            <a:solidFill>
              <a:srgbClr val="EEF2F6"/>
            </a:solidFill>
            <a:prstDash val="solid"/>
          </a:ln>
        </p:spPr>
      </p:sp>
      <p:sp>
        <p:nvSpPr>
          <p:cNvPr id="9" name="Text 6"/>
          <p:cNvSpPr txBox="1"/>
          <p:nvPr/>
        </p:nvSpPr>
        <p:spPr>
          <a:xfrm>
            <a:off x="3566160" y="2441448"/>
            <a:ext cx="2194560" cy="685800"/>
          </a:xfrm>
          <a:prstGeom prst="rect">
            <a:avLst/>
          </a:prstGeom>
          <a:noFill/>
          <a:ln/>
        </p:spPr>
        <p:txBody>
          <a:bodyPr wrap="square" lIns="0" tIns="0" rIns="0" bIns="0" rtlCol="0" anchor="ctr"/>
          <a:lstStyle/>
          <a:p>
            <a:pPr indent="0" marL="0">
              <a:buNone/>
            </a:pPr>
            <a:r>
              <a:rPr lang="en-US" sz="3600" b="1" dirty="0">
                <a:solidFill>
                  <a:srgbClr val="232F3E"/>
                </a:solidFill>
                <a:latin typeface="Cambria" pitchFamily="34" charset="0"/>
                <a:ea typeface="Cambria" pitchFamily="34" charset="-122"/>
                <a:cs typeface="Cambria" pitchFamily="34" charset="-120"/>
              </a:rPr>
              <a:t>20 → 31</a:t>
            </a:r>
            <a:endParaRPr lang="en-US" sz="3600" dirty="0"/>
          </a:p>
        </p:txBody>
      </p:sp>
      <p:sp>
        <p:nvSpPr>
          <p:cNvPr id="10" name="Text 7"/>
          <p:cNvSpPr txBox="1"/>
          <p:nvPr/>
        </p:nvSpPr>
        <p:spPr>
          <a:xfrm>
            <a:off x="3566160" y="3136392"/>
            <a:ext cx="2194560" cy="457200"/>
          </a:xfrm>
          <a:prstGeom prst="rect">
            <a:avLst/>
          </a:prstGeom>
          <a:noFill/>
          <a:ln/>
        </p:spPr>
        <p:txBody>
          <a:bodyPr wrap="square" lIns="0" tIns="0" rIns="0" bIns="0" rtlCol="0" anchor="t"/>
          <a:lstStyle/>
          <a:p>
            <a:pPr indent="0" marL="0">
              <a:buNone/>
            </a:pPr>
            <a:r>
              <a:rPr lang="en-US" sz="1300" dirty="0">
                <a:solidFill>
                  <a:srgbClr val="5B6B7D"/>
                </a:solidFill>
                <a:latin typeface="Calibri" pitchFamily="34" charset="0"/>
                <a:ea typeface="Calibri" pitchFamily="34" charset="-122"/>
                <a:cs typeface="Calibri" pitchFamily="34" charset="-120"/>
              </a:rPr>
              <a:t>columns: raw → after feature engineering</a:t>
            </a:r>
            <a:endParaRPr lang="en-US" sz="1300" dirty="0"/>
          </a:p>
        </p:txBody>
      </p:sp>
      <p:sp>
        <p:nvSpPr>
          <p:cNvPr id="11" name="stat card"/>
          <p:cNvSpPr/>
          <p:nvPr/>
        </p:nvSpPr>
        <p:spPr>
          <a:xfrm>
            <a:off x="6217920" y="2331720"/>
            <a:ext cx="2560320" cy="1325880"/>
          </a:xfrm>
          <a:prstGeom prst="roundRect">
            <a:avLst>
              <a:gd name="adj" fmla="val 8276"/>
            </a:avLst>
          </a:prstGeom>
          <a:solidFill>
            <a:srgbClr val="EEF2F6"/>
          </a:solidFill>
          <a:ln w="12700">
            <a:solidFill>
              <a:srgbClr val="EEF2F6"/>
            </a:solidFill>
            <a:prstDash val="solid"/>
          </a:ln>
        </p:spPr>
      </p:sp>
      <p:sp>
        <p:nvSpPr>
          <p:cNvPr id="12" name="Text 9"/>
          <p:cNvSpPr txBox="1"/>
          <p:nvPr/>
        </p:nvSpPr>
        <p:spPr>
          <a:xfrm>
            <a:off x="6400800" y="2441448"/>
            <a:ext cx="2194560" cy="685800"/>
          </a:xfrm>
          <a:prstGeom prst="rect">
            <a:avLst/>
          </a:prstGeom>
          <a:noFill/>
          <a:ln/>
        </p:spPr>
        <p:txBody>
          <a:bodyPr wrap="square" lIns="0" tIns="0" rIns="0" bIns="0" rtlCol="0" anchor="ctr"/>
          <a:lstStyle/>
          <a:p>
            <a:pPr indent="0" marL="0">
              <a:buNone/>
            </a:pPr>
            <a:r>
              <a:rPr lang="en-US" sz="3600" b="1" dirty="0">
                <a:solidFill>
                  <a:srgbClr val="FF9900"/>
                </a:solidFill>
                <a:latin typeface="Cambria" pitchFamily="34" charset="0"/>
                <a:ea typeface="Cambria" pitchFamily="34" charset="-122"/>
                <a:cs typeface="Cambria" pitchFamily="34" charset="-120"/>
              </a:rPr>
              <a:t>3</a:t>
            </a:r>
            <a:endParaRPr lang="en-US" sz="3600" dirty="0"/>
          </a:p>
        </p:txBody>
      </p:sp>
      <p:sp>
        <p:nvSpPr>
          <p:cNvPr id="13" name="Text 10"/>
          <p:cNvSpPr txBox="1"/>
          <p:nvPr/>
        </p:nvSpPr>
        <p:spPr>
          <a:xfrm>
            <a:off x="6400800" y="3136392"/>
            <a:ext cx="2194560" cy="457200"/>
          </a:xfrm>
          <a:prstGeom prst="rect">
            <a:avLst/>
          </a:prstGeom>
          <a:noFill/>
          <a:ln/>
        </p:spPr>
        <p:txBody>
          <a:bodyPr wrap="square" lIns="0" tIns="0" rIns="0" bIns="0" rtlCol="0" anchor="t"/>
          <a:lstStyle/>
          <a:p>
            <a:pPr indent="0" marL="0">
              <a:buNone/>
            </a:pPr>
            <a:r>
              <a:rPr lang="en-US" sz="1300" dirty="0">
                <a:solidFill>
                  <a:srgbClr val="5B6B7D"/>
                </a:solidFill>
                <a:latin typeface="Calibri" pitchFamily="34" charset="0"/>
                <a:ea typeface="Calibri" pitchFamily="34" charset="-122"/>
                <a:cs typeface="Calibri" pitchFamily="34" charset="-120"/>
              </a:rPr>
              <a:t>tools: Python, SQL, Power BI</a:t>
            </a:r>
            <a:endParaRPr lang="en-US" sz="1300" dirty="0"/>
          </a:p>
        </p:txBody>
      </p:sp>
      <p:sp>
        <p:nvSpPr>
          <p:cNvPr id="14" name="stat card"/>
          <p:cNvSpPr/>
          <p:nvPr/>
        </p:nvSpPr>
        <p:spPr>
          <a:xfrm>
            <a:off x="9052560" y="2331720"/>
            <a:ext cx="2560320" cy="1325880"/>
          </a:xfrm>
          <a:prstGeom prst="roundRect">
            <a:avLst>
              <a:gd name="adj" fmla="val 8276"/>
            </a:avLst>
          </a:prstGeom>
          <a:solidFill>
            <a:srgbClr val="EEF2F6"/>
          </a:solidFill>
          <a:ln w="12700">
            <a:solidFill>
              <a:srgbClr val="EEF2F6"/>
            </a:solidFill>
            <a:prstDash val="solid"/>
          </a:ln>
        </p:spPr>
      </p:sp>
      <p:sp>
        <p:nvSpPr>
          <p:cNvPr id="15" name="Text 12"/>
          <p:cNvSpPr txBox="1"/>
          <p:nvPr/>
        </p:nvSpPr>
        <p:spPr>
          <a:xfrm>
            <a:off x="9235440" y="2441448"/>
            <a:ext cx="2194560" cy="685800"/>
          </a:xfrm>
          <a:prstGeom prst="rect">
            <a:avLst/>
          </a:prstGeom>
          <a:noFill/>
          <a:ln/>
        </p:spPr>
        <p:txBody>
          <a:bodyPr wrap="square" lIns="0" tIns="0" rIns="0" bIns="0" rtlCol="0" anchor="ctr"/>
          <a:lstStyle/>
          <a:p>
            <a:pPr indent="0" marL="0">
              <a:buNone/>
            </a:pPr>
            <a:r>
              <a:rPr lang="en-US" sz="3600" b="1" dirty="0">
                <a:solidFill>
                  <a:srgbClr val="232F3E"/>
                </a:solidFill>
                <a:latin typeface="Cambria" pitchFamily="34" charset="0"/>
                <a:ea typeface="Cambria" pitchFamily="34" charset="-122"/>
                <a:cs typeface="Cambria" pitchFamily="34" charset="-120"/>
              </a:rPr>
              <a:t>3</a:t>
            </a:r>
            <a:endParaRPr lang="en-US" sz="3600" dirty="0"/>
          </a:p>
        </p:txBody>
      </p:sp>
      <p:sp>
        <p:nvSpPr>
          <p:cNvPr id="16" name="Text 13"/>
          <p:cNvSpPr txBox="1"/>
          <p:nvPr/>
        </p:nvSpPr>
        <p:spPr>
          <a:xfrm>
            <a:off x="9235440" y="3136392"/>
            <a:ext cx="2194560" cy="457200"/>
          </a:xfrm>
          <a:prstGeom prst="rect">
            <a:avLst/>
          </a:prstGeom>
          <a:noFill/>
          <a:ln/>
        </p:spPr>
        <p:txBody>
          <a:bodyPr wrap="square" lIns="0" tIns="0" rIns="0" bIns="0" rtlCol="0" anchor="t"/>
          <a:lstStyle/>
          <a:p>
            <a:pPr indent="0" marL="0">
              <a:buNone/>
            </a:pPr>
            <a:r>
              <a:rPr lang="en-US" sz="1300" dirty="0">
                <a:solidFill>
                  <a:srgbClr val="5B6B7D"/>
                </a:solidFill>
                <a:latin typeface="Calibri" pitchFamily="34" charset="0"/>
                <a:ea typeface="Calibri" pitchFamily="34" charset="-122"/>
                <a:cs typeface="Calibri" pitchFamily="34" charset="-120"/>
              </a:rPr>
              <a:t>dashboard pages</a:t>
            </a:r>
            <a:endParaRPr lang="en-US" sz="1300" dirty="0"/>
          </a:p>
        </p:txBody>
      </p:sp>
      <p:sp>
        <p:nvSpPr>
          <p:cNvPr id="17" name="flow step"/>
          <p:cNvSpPr/>
          <p:nvPr/>
        </p:nvSpPr>
        <p:spPr>
          <a:xfrm>
            <a:off x="548640" y="4114800"/>
            <a:ext cx="2377440" cy="1554480"/>
          </a:xfrm>
          <a:prstGeom prst="roundRect">
            <a:avLst>
              <a:gd name="adj" fmla="val 7059"/>
            </a:avLst>
          </a:prstGeom>
          <a:solidFill>
            <a:srgbClr val="232F3E"/>
          </a:solidFill>
          <a:ln w="12700">
            <a:solidFill>
              <a:srgbClr val="232F3E"/>
            </a:solidFill>
            <a:prstDash val="solid"/>
          </a:ln>
        </p:spPr>
      </p:sp>
      <p:sp>
        <p:nvSpPr>
          <p:cNvPr id="18" name="Text 15"/>
          <p:cNvSpPr txBox="1"/>
          <p:nvPr/>
        </p:nvSpPr>
        <p:spPr>
          <a:xfrm>
            <a:off x="731520" y="4297680"/>
            <a:ext cx="2011680" cy="457200"/>
          </a:xfrm>
          <a:prstGeom prst="rect">
            <a:avLst/>
          </a:prstGeom>
          <a:noFill/>
          <a:ln/>
        </p:spPr>
        <p:txBody>
          <a:bodyPr wrap="square" lIns="0" tIns="0" rIns="0" bIns="0" rtlCol="0" anchor="t"/>
          <a:lstStyle/>
          <a:p>
            <a:pPr indent="0" marL="0">
              <a:buNone/>
            </a:pPr>
            <a:r>
              <a:rPr lang="en-US" sz="2200" b="1" dirty="0">
                <a:solidFill>
                  <a:srgbClr val="FF9900"/>
                </a:solidFill>
                <a:latin typeface="Cambria" pitchFamily="34" charset="0"/>
                <a:ea typeface="Cambria" pitchFamily="34" charset="-122"/>
                <a:cs typeface="Cambria" pitchFamily="34" charset="-120"/>
              </a:rPr>
              <a:t>Python</a:t>
            </a:r>
            <a:endParaRPr lang="en-US" sz="2200" dirty="0"/>
          </a:p>
        </p:txBody>
      </p:sp>
      <p:sp>
        <p:nvSpPr>
          <p:cNvPr id="19" name="Text 16"/>
          <p:cNvSpPr txBox="1"/>
          <p:nvPr/>
        </p:nvSpPr>
        <p:spPr>
          <a:xfrm>
            <a:off x="731520" y="4846320"/>
            <a:ext cx="2011680" cy="68580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clean &amp; engineer features</a:t>
            </a:r>
            <a:endParaRPr lang="en-US" sz="1500" dirty="0"/>
          </a:p>
        </p:txBody>
      </p:sp>
      <p:sp>
        <p:nvSpPr>
          <p:cNvPr id="20" name="Text 17"/>
          <p:cNvSpPr txBox="1"/>
          <p:nvPr/>
        </p:nvSpPr>
        <p:spPr>
          <a:xfrm>
            <a:off x="2926080" y="4526280"/>
            <a:ext cx="457200" cy="548640"/>
          </a:xfrm>
          <a:prstGeom prst="rect">
            <a:avLst/>
          </a:prstGeom>
          <a:noFill/>
          <a:ln/>
        </p:spPr>
        <p:txBody>
          <a:bodyPr wrap="square" lIns="0" tIns="0" rIns="0" bIns="0" rtlCol="0" anchor="t"/>
          <a:lstStyle/>
          <a:p>
            <a:pPr algn="ctr" indent="0" marL="0">
              <a:buNone/>
            </a:pPr>
            <a:r>
              <a:rPr lang="en-US" sz="2800" b="1" dirty="0">
                <a:solidFill>
                  <a:srgbClr val="FF9900"/>
                </a:solidFill>
                <a:latin typeface="Calibri" pitchFamily="34" charset="0"/>
                <a:ea typeface="Calibri" pitchFamily="34" charset="-122"/>
                <a:cs typeface="Calibri" pitchFamily="34" charset="-120"/>
              </a:rPr>
              <a:t>→</a:t>
            </a:r>
            <a:endParaRPr lang="en-US" sz="2800" dirty="0"/>
          </a:p>
        </p:txBody>
      </p:sp>
      <p:sp>
        <p:nvSpPr>
          <p:cNvPr id="21" name="flow step"/>
          <p:cNvSpPr/>
          <p:nvPr/>
        </p:nvSpPr>
        <p:spPr>
          <a:xfrm>
            <a:off x="3383280" y="4114800"/>
            <a:ext cx="2377440" cy="1554480"/>
          </a:xfrm>
          <a:prstGeom prst="roundRect">
            <a:avLst>
              <a:gd name="adj" fmla="val 7059"/>
            </a:avLst>
          </a:prstGeom>
          <a:solidFill>
            <a:srgbClr val="232F3E"/>
          </a:solidFill>
          <a:ln w="12700">
            <a:solidFill>
              <a:srgbClr val="232F3E"/>
            </a:solidFill>
            <a:prstDash val="solid"/>
          </a:ln>
        </p:spPr>
      </p:sp>
      <p:sp>
        <p:nvSpPr>
          <p:cNvPr id="22" name="Text 19"/>
          <p:cNvSpPr txBox="1"/>
          <p:nvPr/>
        </p:nvSpPr>
        <p:spPr>
          <a:xfrm>
            <a:off x="3566160" y="4297680"/>
            <a:ext cx="2011680" cy="457200"/>
          </a:xfrm>
          <a:prstGeom prst="rect">
            <a:avLst/>
          </a:prstGeom>
          <a:noFill/>
          <a:ln/>
        </p:spPr>
        <p:txBody>
          <a:bodyPr wrap="square" lIns="0" tIns="0" rIns="0" bIns="0" rtlCol="0" anchor="t"/>
          <a:lstStyle/>
          <a:p>
            <a:pPr indent="0" marL="0">
              <a:buNone/>
            </a:pPr>
            <a:r>
              <a:rPr lang="en-US" sz="2200" b="1" dirty="0">
                <a:solidFill>
                  <a:srgbClr val="FF9900"/>
                </a:solidFill>
                <a:latin typeface="Cambria" pitchFamily="34" charset="0"/>
                <a:ea typeface="Cambria" pitchFamily="34" charset="-122"/>
                <a:cs typeface="Cambria" pitchFamily="34" charset="-120"/>
              </a:rPr>
              <a:t>SQL</a:t>
            </a:r>
            <a:endParaRPr lang="en-US" sz="2200" dirty="0"/>
          </a:p>
        </p:txBody>
      </p:sp>
      <p:sp>
        <p:nvSpPr>
          <p:cNvPr id="23" name="Text 20"/>
          <p:cNvSpPr txBox="1"/>
          <p:nvPr/>
        </p:nvSpPr>
        <p:spPr>
          <a:xfrm>
            <a:off x="3566160" y="4846320"/>
            <a:ext cx="2011680" cy="68580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validate &amp; analyse</a:t>
            </a:r>
            <a:endParaRPr lang="en-US" sz="1500" dirty="0"/>
          </a:p>
        </p:txBody>
      </p:sp>
      <p:sp>
        <p:nvSpPr>
          <p:cNvPr id="24" name="Text 21"/>
          <p:cNvSpPr txBox="1"/>
          <p:nvPr/>
        </p:nvSpPr>
        <p:spPr>
          <a:xfrm>
            <a:off x="5760720" y="4526280"/>
            <a:ext cx="457200" cy="548640"/>
          </a:xfrm>
          <a:prstGeom prst="rect">
            <a:avLst/>
          </a:prstGeom>
          <a:noFill/>
          <a:ln/>
        </p:spPr>
        <p:txBody>
          <a:bodyPr wrap="square" lIns="0" tIns="0" rIns="0" bIns="0" rtlCol="0" anchor="t"/>
          <a:lstStyle/>
          <a:p>
            <a:pPr algn="ctr" indent="0" marL="0">
              <a:buNone/>
            </a:pPr>
            <a:r>
              <a:rPr lang="en-US" sz="2800" b="1" dirty="0">
                <a:solidFill>
                  <a:srgbClr val="FF9900"/>
                </a:solidFill>
                <a:latin typeface="Calibri" pitchFamily="34" charset="0"/>
                <a:ea typeface="Calibri" pitchFamily="34" charset="-122"/>
                <a:cs typeface="Calibri" pitchFamily="34" charset="-120"/>
              </a:rPr>
              <a:t>→</a:t>
            </a:r>
            <a:endParaRPr lang="en-US" sz="2800" dirty="0"/>
          </a:p>
        </p:txBody>
      </p:sp>
      <p:sp>
        <p:nvSpPr>
          <p:cNvPr id="25" name="flow step"/>
          <p:cNvSpPr/>
          <p:nvPr/>
        </p:nvSpPr>
        <p:spPr>
          <a:xfrm>
            <a:off x="6217920" y="4114800"/>
            <a:ext cx="2377440" cy="1554480"/>
          </a:xfrm>
          <a:prstGeom prst="roundRect">
            <a:avLst>
              <a:gd name="adj" fmla="val 7059"/>
            </a:avLst>
          </a:prstGeom>
          <a:solidFill>
            <a:srgbClr val="232F3E"/>
          </a:solidFill>
          <a:ln w="12700">
            <a:solidFill>
              <a:srgbClr val="232F3E"/>
            </a:solidFill>
            <a:prstDash val="solid"/>
          </a:ln>
        </p:spPr>
      </p:sp>
      <p:sp>
        <p:nvSpPr>
          <p:cNvPr id="26" name="Text 23"/>
          <p:cNvSpPr txBox="1"/>
          <p:nvPr/>
        </p:nvSpPr>
        <p:spPr>
          <a:xfrm>
            <a:off x="6400800" y="4297680"/>
            <a:ext cx="2011680" cy="457200"/>
          </a:xfrm>
          <a:prstGeom prst="rect">
            <a:avLst/>
          </a:prstGeom>
          <a:noFill/>
          <a:ln/>
        </p:spPr>
        <p:txBody>
          <a:bodyPr wrap="square" lIns="0" tIns="0" rIns="0" bIns="0" rtlCol="0" anchor="t"/>
          <a:lstStyle/>
          <a:p>
            <a:pPr indent="0" marL="0">
              <a:buNone/>
            </a:pPr>
            <a:r>
              <a:rPr lang="en-US" sz="2200" b="1" dirty="0">
                <a:solidFill>
                  <a:srgbClr val="FF9900"/>
                </a:solidFill>
                <a:latin typeface="Cambria" pitchFamily="34" charset="0"/>
                <a:ea typeface="Cambria" pitchFamily="34" charset="-122"/>
                <a:cs typeface="Cambria" pitchFamily="34" charset="-120"/>
              </a:rPr>
              <a:t>Power BI</a:t>
            </a:r>
            <a:endParaRPr lang="en-US" sz="2200" dirty="0"/>
          </a:p>
        </p:txBody>
      </p:sp>
      <p:sp>
        <p:nvSpPr>
          <p:cNvPr id="27" name="Text 24"/>
          <p:cNvSpPr txBox="1"/>
          <p:nvPr/>
        </p:nvSpPr>
        <p:spPr>
          <a:xfrm>
            <a:off x="6400800" y="4846320"/>
            <a:ext cx="2011680" cy="68580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model &amp; visualise</a:t>
            </a:r>
            <a:endParaRPr lang="en-US" sz="1500" dirty="0"/>
          </a:p>
        </p:txBody>
      </p:sp>
      <p:sp>
        <p:nvSpPr>
          <p:cNvPr id="28" name="Text 25"/>
          <p:cNvSpPr txBox="1"/>
          <p:nvPr/>
        </p:nvSpPr>
        <p:spPr>
          <a:xfrm>
            <a:off x="8595360" y="4526280"/>
            <a:ext cx="457200" cy="548640"/>
          </a:xfrm>
          <a:prstGeom prst="rect">
            <a:avLst/>
          </a:prstGeom>
          <a:noFill/>
          <a:ln/>
        </p:spPr>
        <p:txBody>
          <a:bodyPr wrap="square" lIns="0" tIns="0" rIns="0" bIns="0" rtlCol="0" anchor="t"/>
          <a:lstStyle/>
          <a:p>
            <a:pPr algn="ctr" indent="0" marL="0">
              <a:buNone/>
            </a:pPr>
            <a:r>
              <a:rPr lang="en-US" sz="2800" b="1" dirty="0">
                <a:solidFill>
                  <a:srgbClr val="FF9900"/>
                </a:solidFill>
                <a:latin typeface="Calibri" pitchFamily="34" charset="0"/>
                <a:ea typeface="Calibri" pitchFamily="34" charset="-122"/>
                <a:cs typeface="Calibri" pitchFamily="34" charset="-120"/>
              </a:rPr>
              <a:t>→</a:t>
            </a:r>
            <a:endParaRPr lang="en-US" sz="2800" dirty="0"/>
          </a:p>
        </p:txBody>
      </p:sp>
      <p:sp>
        <p:nvSpPr>
          <p:cNvPr id="29" name="flow step"/>
          <p:cNvSpPr/>
          <p:nvPr/>
        </p:nvSpPr>
        <p:spPr>
          <a:xfrm>
            <a:off x="9052560" y="4114800"/>
            <a:ext cx="2377440" cy="1554480"/>
          </a:xfrm>
          <a:prstGeom prst="roundRect">
            <a:avLst>
              <a:gd name="adj" fmla="val 7059"/>
            </a:avLst>
          </a:prstGeom>
          <a:solidFill>
            <a:srgbClr val="232F3E"/>
          </a:solidFill>
          <a:ln w="12700">
            <a:solidFill>
              <a:srgbClr val="232F3E"/>
            </a:solidFill>
            <a:prstDash val="solid"/>
          </a:ln>
        </p:spPr>
      </p:sp>
      <p:sp>
        <p:nvSpPr>
          <p:cNvPr id="30" name="Text 27"/>
          <p:cNvSpPr txBox="1"/>
          <p:nvPr/>
        </p:nvSpPr>
        <p:spPr>
          <a:xfrm>
            <a:off x="9235440" y="4297680"/>
            <a:ext cx="2011680" cy="457200"/>
          </a:xfrm>
          <a:prstGeom prst="rect">
            <a:avLst/>
          </a:prstGeom>
          <a:noFill/>
          <a:ln/>
        </p:spPr>
        <p:txBody>
          <a:bodyPr wrap="square" lIns="0" tIns="0" rIns="0" bIns="0" rtlCol="0" anchor="t"/>
          <a:lstStyle/>
          <a:p>
            <a:pPr indent="0" marL="0">
              <a:buNone/>
            </a:pPr>
            <a:r>
              <a:rPr lang="en-US" sz="2200" b="1" dirty="0">
                <a:solidFill>
                  <a:srgbClr val="FF9900"/>
                </a:solidFill>
                <a:latin typeface="Cambria" pitchFamily="34" charset="0"/>
                <a:ea typeface="Cambria" pitchFamily="34" charset="-122"/>
                <a:cs typeface="Cambria" pitchFamily="34" charset="-120"/>
              </a:rPr>
              <a:t>PowerPoint</a:t>
            </a:r>
            <a:endParaRPr lang="en-US" sz="2200" dirty="0"/>
          </a:p>
        </p:txBody>
      </p:sp>
      <p:sp>
        <p:nvSpPr>
          <p:cNvPr id="31" name="Text 28"/>
          <p:cNvSpPr txBox="1"/>
          <p:nvPr/>
        </p:nvSpPr>
        <p:spPr>
          <a:xfrm>
            <a:off x="9235440" y="4846320"/>
            <a:ext cx="2011680" cy="68580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tell the story</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42"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600"/>
                                        <p:tgtEl>
                                          <p:spTgt spid="2"/>
                                        </p:tgtEl>
                                      </p:cBhvr>
                                    </p:animEffect>
                                    <p:anim calcmode="lin" valueType="num">
                                      <p:cBhvr additive="base">
                                        <p:cTn id="13" dur="600" fill="hold"/>
                                        <p:tgtEl>
                                          <p:spTgt spid="2"/>
                                        </p:tgtEl>
                                        <p:attrNameLst>
                                          <p:attrName>ppt_y</p:attrName>
                                        </p:attrNameLst>
                                      </p:cBhvr>
                                      <p:tavLst>
                                        <p:tav tm="0">
                                          <p:val>
                                            <p:strVal val="#ppt_y+0.05"/>
                                          </p:val>
                                        </p:tav>
                                        <p:tav tm="100000">
                                          <p:val>
                                            <p:strVal val="#ppt_y"/>
                                          </p:val>
                                        </p:tav>
                                      </p:tavLst>
                                    </p:anim>
                                  </p:childTnLst>
                                </p:cTn>
                              </p:par>
                              <p:par>
                                <p:cTn id="16" presetID="42" presetClass="entr" presetSubtype="0" fill="hold" nodeType="withEffect">
                                  <p:stCondLst>
                                    <p:cond delay="73"/>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600"/>
                                        <p:tgtEl>
                                          <p:spTgt spid="4"/>
                                        </p:tgtEl>
                                      </p:cBhvr>
                                    </p:animEffect>
                                    <p:anim calcmode="lin" valueType="num">
                                      <p:cBhvr additive="base">
                                        <p:cTn id="19" dur="600" fill="hold"/>
                                        <p:tgtEl>
                                          <p:spTgt spid="4"/>
                                        </p:tgtEl>
                                        <p:attrNameLst>
                                          <p:attrName>ppt_y</p:attrName>
                                        </p:attrNameLst>
                                      </p:cBhvr>
                                      <p:tavLst>
                                        <p:tav tm="0">
                                          <p:val>
                                            <p:strVal val="#ppt_y+0.05"/>
                                          </p:val>
                                        </p:tav>
                                        <p:tav tm="100000">
                                          <p:val>
                                            <p:strVal val="#ppt_y"/>
                                          </p:val>
                                        </p:tav>
                                      </p:tavLst>
                                    </p:anim>
                                  </p:childTnLst>
                                </p:cTn>
                              </p:par>
                              <p:par>
                                <p:cTn id="22" presetID="42" presetClass="entr" presetSubtype="0" fill="hold" nodeType="withEffect">
                                  <p:stCondLst>
                                    <p:cond delay="146"/>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600"/>
                                        <p:tgtEl>
                                          <p:spTgt spid="5"/>
                                        </p:tgtEl>
                                      </p:cBhvr>
                                    </p:animEffect>
                                    <p:anim calcmode="lin" valueType="num">
                                      <p:cBhvr additive="base">
                                        <p:cTn id="25" dur="600" fill="hold"/>
                                        <p:tgtEl>
                                          <p:spTgt spid="5"/>
                                        </p:tgtEl>
                                        <p:attrNameLst>
                                          <p:attrName>ppt_y</p:attrName>
                                        </p:attrNameLst>
                                      </p:cBhvr>
                                      <p:tavLst>
                                        <p:tav tm="0">
                                          <p:val>
                                            <p:strVal val="#ppt_y+0.05"/>
                                          </p:val>
                                        </p:tav>
                                        <p:tav tm="100000">
                                          <p:val>
                                            <p:strVal val="#ppt_y"/>
                                          </p:val>
                                        </p:tav>
                                      </p:tavLst>
                                    </p:anim>
                                  </p:childTnLst>
                                </p:cTn>
                              </p:par>
                              <p:par>
                                <p:cTn id="28" presetID="42" presetClass="entr" presetSubtype="0" fill="hold" nodeType="withEffect">
                                  <p:stCondLst>
                                    <p:cond delay="219"/>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600"/>
                                        <p:tgtEl>
                                          <p:spTgt spid="6"/>
                                        </p:tgtEl>
                                      </p:cBhvr>
                                    </p:animEffect>
                                    <p:anim calcmode="lin" valueType="num">
                                      <p:cBhvr additive="base">
                                        <p:cTn id="31" dur="600" fill="hold"/>
                                        <p:tgtEl>
                                          <p:spTgt spid="6"/>
                                        </p:tgtEl>
                                        <p:attrNameLst>
                                          <p:attrName>ppt_y</p:attrName>
                                        </p:attrNameLst>
                                      </p:cBhvr>
                                      <p:tavLst>
                                        <p:tav tm="0">
                                          <p:val>
                                            <p:strVal val="#ppt_y+0.05"/>
                                          </p:val>
                                        </p:tav>
                                        <p:tav tm="100000">
                                          <p:val>
                                            <p:strVal val="#ppt_y"/>
                                          </p:val>
                                        </p:tav>
                                      </p:tavLst>
                                    </p:anim>
                                  </p:childTnLst>
                                </p:cTn>
                              </p:par>
                              <p:par>
                                <p:cTn id="34" presetID="42" presetClass="entr" presetSubtype="0" fill="hold" nodeType="withEffect">
                                  <p:stCondLst>
                                    <p:cond delay="292"/>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600"/>
                                        <p:tgtEl>
                                          <p:spTgt spid="7"/>
                                        </p:tgtEl>
                                      </p:cBhvr>
                                    </p:animEffect>
                                    <p:anim calcmode="lin" valueType="num">
                                      <p:cBhvr additive="base">
                                        <p:cTn id="37" dur="600" fill="hold"/>
                                        <p:tgtEl>
                                          <p:spTgt spid="7"/>
                                        </p:tgtEl>
                                        <p:attrNameLst>
                                          <p:attrName>ppt_y</p:attrName>
                                        </p:attrNameLst>
                                      </p:cBhvr>
                                      <p:tavLst>
                                        <p:tav tm="0">
                                          <p:val>
                                            <p:strVal val="#ppt_y+0.05"/>
                                          </p:val>
                                        </p:tav>
                                        <p:tav tm="100000">
                                          <p:val>
                                            <p:strVal val="#ppt_y"/>
                                          </p:val>
                                        </p:tav>
                                      </p:tavLst>
                                    </p:anim>
                                  </p:childTnLst>
                                </p:cTn>
                              </p:par>
                              <p:par>
                                <p:cTn id="40" presetID="42" presetClass="entr" presetSubtype="0" fill="hold" nodeType="withEffect">
                                  <p:stCondLst>
                                    <p:cond delay="365"/>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600"/>
                                        <p:tgtEl>
                                          <p:spTgt spid="8"/>
                                        </p:tgtEl>
                                      </p:cBhvr>
                                    </p:animEffect>
                                    <p:anim calcmode="lin" valueType="num">
                                      <p:cBhvr additive="base">
                                        <p:cTn id="43" dur="600" fill="hold"/>
                                        <p:tgtEl>
                                          <p:spTgt spid="8"/>
                                        </p:tgtEl>
                                        <p:attrNameLst>
                                          <p:attrName>ppt_y</p:attrName>
                                        </p:attrNameLst>
                                      </p:cBhvr>
                                      <p:tavLst>
                                        <p:tav tm="0">
                                          <p:val>
                                            <p:strVal val="#ppt_y+0.05"/>
                                          </p:val>
                                        </p:tav>
                                        <p:tav tm="100000">
                                          <p:val>
                                            <p:strVal val="#ppt_y"/>
                                          </p:val>
                                        </p:tav>
                                      </p:tavLst>
                                    </p:anim>
                                  </p:childTnLst>
                                </p:cTn>
                              </p:par>
                              <p:par>
                                <p:cTn id="46" presetID="42" presetClass="entr" presetSubtype="0" fill="hold" nodeType="withEffect">
                                  <p:stCondLst>
                                    <p:cond delay="438"/>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600"/>
                                        <p:tgtEl>
                                          <p:spTgt spid="9"/>
                                        </p:tgtEl>
                                      </p:cBhvr>
                                    </p:animEffect>
                                    <p:anim calcmode="lin" valueType="num">
                                      <p:cBhvr additive="base">
                                        <p:cTn id="49" dur="600" fill="hold"/>
                                        <p:tgtEl>
                                          <p:spTgt spid="9"/>
                                        </p:tgtEl>
                                        <p:attrNameLst>
                                          <p:attrName>ppt_y</p:attrName>
                                        </p:attrNameLst>
                                      </p:cBhvr>
                                      <p:tavLst>
                                        <p:tav tm="0">
                                          <p:val>
                                            <p:strVal val="#ppt_y+0.05"/>
                                          </p:val>
                                        </p:tav>
                                        <p:tav tm="100000">
                                          <p:val>
                                            <p:strVal val="#ppt_y"/>
                                          </p:val>
                                        </p:tav>
                                      </p:tavLst>
                                    </p:anim>
                                  </p:childTnLst>
                                </p:cTn>
                              </p:par>
                              <p:par>
                                <p:cTn id="52" presetID="42" presetClass="entr" presetSubtype="0" fill="hold" nodeType="withEffect">
                                  <p:stCondLst>
                                    <p:cond delay="511"/>
                                  </p:stCondLst>
                                  <p:childTnLst>
                                    <p:set>
                                      <p:cBhvr>
                                        <p:cTn id="53" dur="1" fill="hold">
                                          <p:stCondLst>
                                            <p:cond delay="0"/>
                                          </p:stCondLst>
                                        </p:cTn>
                                        <p:tgtEl>
                                          <p:spTgt spid="10"/>
                                        </p:tgtEl>
                                        <p:attrNameLst>
                                          <p:attrName>style.visibility</p:attrName>
                                        </p:attrNameLst>
                                      </p:cBhvr>
                                      <p:to>
                                        <p:strVal val="visible"/>
                                      </p:to>
                                    </p:set>
                                    <p:animEffect transition="in" filter="fade">
                                      <p:cBhvr>
                                        <p:cTn id="54" dur="600"/>
                                        <p:tgtEl>
                                          <p:spTgt spid="10"/>
                                        </p:tgtEl>
                                      </p:cBhvr>
                                    </p:animEffect>
                                    <p:anim calcmode="lin" valueType="num">
                                      <p:cBhvr additive="base">
                                        <p:cTn id="55" dur="600" fill="hold"/>
                                        <p:tgtEl>
                                          <p:spTgt spid="10"/>
                                        </p:tgtEl>
                                        <p:attrNameLst>
                                          <p:attrName>ppt_y</p:attrName>
                                        </p:attrNameLst>
                                      </p:cBhvr>
                                      <p:tavLst>
                                        <p:tav tm="0">
                                          <p:val>
                                            <p:strVal val="#ppt_y+0.05"/>
                                          </p:val>
                                        </p:tav>
                                        <p:tav tm="100000">
                                          <p:val>
                                            <p:strVal val="#ppt_y"/>
                                          </p:val>
                                        </p:tav>
                                      </p:tavLst>
                                    </p:anim>
                                  </p:childTnLst>
                                </p:cTn>
                              </p:par>
                              <p:par>
                                <p:cTn id="58" presetID="42" presetClass="entr" presetSubtype="0" fill="hold" nodeType="withEffect">
                                  <p:stCondLst>
                                    <p:cond delay="584"/>
                                  </p:stCondLst>
                                  <p:childTnLst>
                                    <p:set>
                                      <p:cBhvr>
                                        <p:cTn id="59" dur="1" fill="hold">
                                          <p:stCondLst>
                                            <p:cond delay="0"/>
                                          </p:stCondLst>
                                        </p:cTn>
                                        <p:tgtEl>
                                          <p:spTgt spid="11"/>
                                        </p:tgtEl>
                                        <p:attrNameLst>
                                          <p:attrName>style.visibility</p:attrName>
                                        </p:attrNameLst>
                                      </p:cBhvr>
                                      <p:to>
                                        <p:strVal val="visible"/>
                                      </p:to>
                                    </p:set>
                                    <p:animEffect transition="in" filter="fade">
                                      <p:cBhvr>
                                        <p:cTn id="60" dur="600"/>
                                        <p:tgtEl>
                                          <p:spTgt spid="11"/>
                                        </p:tgtEl>
                                      </p:cBhvr>
                                    </p:animEffect>
                                    <p:anim calcmode="lin" valueType="num">
                                      <p:cBhvr additive="base">
                                        <p:cTn id="61" dur="600" fill="hold"/>
                                        <p:tgtEl>
                                          <p:spTgt spid="11"/>
                                        </p:tgtEl>
                                        <p:attrNameLst>
                                          <p:attrName>ppt_y</p:attrName>
                                        </p:attrNameLst>
                                      </p:cBhvr>
                                      <p:tavLst>
                                        <p:tav tm="0">
                                          <p:val>
                                            <p:strVal val="#ppt_y+0.05"/>
                                          </p:val>
                                        </p:tav>
                                        <p:tav tm="100000">
                                          <p:val>
                                            <p:strVal val="#ppt_y"/>
                                          </p:val>
                                        </p:tav>
                                      </p:tavLst>
                                    </p:anim>
                                  </p:childTnLst>
                                </p:cTn>
                              </p:par>
                              <p:par>
                                <p:cTn id="64" presetID="42" presetClass="entr" presetSubtype="0" fill="hold" nodeType="withEffect">
                                  <p:stCondLst>
                                    <p:cond delay="657"/>
                                  </p:stCondLst>
                                  <p:childTnLst>
                                    <p:set>
                                      <p:cBhvr>
                                        <p:cTn id="65" dur="1" fill="hold">
                                          <p:stCondLst>
                                            <p:cond delay="0"/>
                                          </p:stCondLst>
                                        </p:cTn>
                                        <p:tgtEl>
                                          <p:spTgt spid="12"/>
                                        </p:tgtEl>
                                        <p:attrNameLst>
                                          <p:attrName>style.visibility</p:attrName>
                                        </p:attrNameLst>
                                      </p:cBhvr>
                                      <p:to>
                                        <p:strVal val="visible"/>
                                      </p:to>
                                    </p:set>
                                    <p:animEffect transition="in" filter="fade">
                                      <p:cBhvr>
                                        <p:cTn id="66" dur="600"/>
                                        <p:tgtEl>
                                          <p:spTgt spid="12"/>
                                        </p:tgtEl>
                                      </p:cBhvr>
                                    </p:animEffect>
                                    <p:anim calcmode="lin" valueType="num">
                                      <p:cBhvr additive="base">
                                        <p:cTn id="67" dur="600" fill="hold"/>
                                        <p:tgtEl>
                                          <p:spTgt spid="12"/>
                                        </p:tgtEl>
                                        <p:attrNameLst>
                                          <p:attrName>ppt_y</p:attrName>
                                        </p:attrNameLst>
                                      </p:cBhvr>
                                      <p:tavLst>
                                        <p:tav tm="0">
                                          <p:val>
                                            <p:strVal val="#ppt_y+0.05"/>
                                          </p:val>
                                        </p:tav>
                                        <p:tav tm="100000">
                                          <p:val>
                                            <p:strVal val="#ppt_y"/>
                                          </p:val>
                                        </p:tav>
                                      </p:tavLst>
                                    </p:anim>
                                  </p:childTnLst>
                                </p:cTn>
                              </p:par>
                              <p:par>
                                <p:cTn id="70" presetID="42" presetClass="entr" presetSubtype="0" fill="hold" nodeType="withEffect">
                                  <p:stCondLst>
                                    <p:cond delay="730"/>
                                  </p:stCondLst>
                                  <p:childTnLst>
                                    <p:set>
                                      <p:cBhvr>
                                        <p:cTn id="71" dur="1" fill="hold">
                                          <p:stCondLst>
                                            <p:cond delay="0"/>
                                          </p:stCondLst>
                                        </p:cTn>
                                        <p:tgtEl>
                                          <p:spTgt spid="13"/>
                                        </p:tgtEl>
                                        <p:attrNameLst>
                                          <p:attrName>style.visibility</p:attrName>
                                        </p:attrNameLst>
                                      </p:cBhvr>
                                      <p:to>
                                        <p:strVal val="visible"/>
                                      </p:to>
                                    </p:set>
                                    <p:animEffect transition="in" filter="fade">
                                      <p:cBhvr>
                                        <p:cTn id="72" dur="600"/>
                                        <p:tgtEl>
                                          <p:spTgt spid="13"/>
                                        </p:tgtEl>
                                      </p:cBhvr>
                                    </p:animEffect>
                                    <p:anim calcmode="lin" valueType="num">
                                      <p:cBhvr additive="base">
                                        <p:cTn id="73" dur="600" fill="hold"/>
                                        <p:tgtEl>
                                          <p:spTgt spid="13"/>
                                        </p:tgtEl>
                                        <p:attrNameLst>
                                          <p:attrName>ppt_y</p:attrName>
                                        </p:attrNameLst>
                                      </p:cBhvr>
                                      <p:tavLst>
                                        <p:tav tm="0">
                                          <p:val>
                                            <p:strVal val="#ppt_y+0.05"/>
                                          </p:val>
                                        </p:tav>
                                        <p:tav tm="100000">
                                          <p:val>
                                            <p:strVal val="#ppt_y"/>
                                          </p:val>
                                        </p:tav>
                                      </p:tavLst>
                                    </p:anim>
                                  </p:childTnLst>
                                </p:cTn>
                              </p:par>
                              <p:par>
                                <p:cTn id="76" presetID="42" presetClass="entr" presetSubtype="0" fill="hold" nodeType="withEffect">
                                  <p:stCondLst>
                                    <p:cond delay="803"/>
                                  </p:stCondLst>
                                  <p:childTnLst>
                                    <p:set>
                                      <p:cBhvr>
                                        <p:cTn id="77" dur="1" fill="hold">
                                          <p:stCondLst>
                                            <p:cond delay="0"/>
                                          </p:stCondLst>
                                        </p:cTn>
                                        <p:tgtEl>
                                          <p:spTgt spid="14"/>
                                        </p:tgtEl>
                                        <p:attrNameLst>
                                          <p:attrName>style.visibility</p:attrName>
                                        </p:attrNameLst>
                                      </p:cBhvr>
                                      <p:to>
                                        <p:strVal val="visible"/>
                                      </p:to>
                                    </p:set>
                                    <p:animEffect transition="in" filter="fade">
                                      <p:cBhvr>
                                        <p:cTn id="78" dur="600"/>
                                        <p:tgtEl>
                                          <p:spTgt spid="14"/>
                                        </p:tgtEl>
                                      </p:cBhvr>
                                    </p:animEffect>
                                    <p:anim calcmode="lin" valueType="num">
                                      <p:cBhvr additive="base">
                                        <p:cTn id="79" dur="600" fill="hold"/>
                                        <p:tgtEl>
                                          <p:spTgt spid="14"/>
                                        </p:tgtEl>
                                        <p:attrNameLst>
                                          <p:attrName>ppt_y</p:attrName>
                                        </p:attrNameLst>
                                      </p:cBhvr>
                                      <p:tavLst>
                                        <p:tav tm="0">
                                          <p:val>
                                            <p:strVal val="#ppt_y+0.05"/>
                                          </p:val>
                                        </p:tav>
                                        <p:tav tm="100000">
                                          <p:val>
                                            <p:strVal val="#ppt_y"/>
                                          </p:val>
                                        </p:tav>
                                      </p:tavLst>
                                    </p:anim>
                                  </p:childTnLst>
                                </p:cTn>
                              </p:par>
                              <p:par>
                                <p:cTn id="82" presetID="42" presetClass="entr" presetSubtype="0" fill="hold" nodeType="withEffect">
                                  <p:stCondLst>
                                    <p:cond delay="876"/>
                                  </p:stCondLst>
                                  <p:childTnLst>
                                    <p:set>
                                      <p:cBhvr>
                                        <p:cTn id="83" dur="1" fill="hold">
                                          <p:stCondLst>
                                            <p:cond delay="0"/>
                                          </p:stCondLst>
                                        </p:cTn>
                                        <p:tgtEl>
                                          <p:spTgt spid="15"/>
                                        </p:tgtEl>
                                        <p:attrNameLst>
                                          <p:attrName>style.visibility</p:attrName>
                                        </p:attrNameLst>
                                      </p:cBhvr>
                                      <p:to>
                                        <p:strVal val="visible"/>
                                      </p:to>
                                    </p:set>
                                    <p:animEffect transition="in" filter="fade">
                                      <p:cBhvr>
                                        <p:cTn id="84" dur="600"/>
                                        <p:tgtEl>
                                          <p:spTgt spid="15"/>
                                        </p:tgtEl>
                                      </p:cBhvr>
                                    </p:animEffect>
                                    <p:anim calcmode="lin" valueType="num">
                                      <p:cBhvr additive="base">
                                        <p:cTn id="85" dur="600" fill="hold"/>
                                        <p:tgtEl>
                                          <p:spTgt spid="15"/>
                                        </p:tgtEl>
                                        <p:attrNameLst>
                                          <p:attrName>ppt_y</p:attrName>
                                        </p:attrNameLst>
                                      </p:cBhvr>
                                      <p:tavLst>
                                        <p:tav tm="0">
                                          <p:val>
                                            <p:strVal val="#ppt_y+0.05"/>
                                          </p:val>
                                        </p:tav>
                                        <p:tav tm="100000">
                                          <p:val>
                                            <p:strVal val="#ppt_y"/>
                                          </p:val>
                                        </p:tav>
                                      </p:tavLst>
                                    </p:anim>
                                  </p:childTnLst>
                                </p:cTn>
                              </p:par>
                              <p:par>
                                <p:cTn id="88" presetID="42" presetClass="entr" presetSubtype="0" fill="hold" nodeType="withEffect">
                                  <p:stCondLst>
                                    <p:cond delay="949"/>
                                  </p:stCondLst>
                                  <p:childTnLst>
                                    <p:set>
                                      <p:cBhvr>
                                        <p:cTn id="89" dur="1" fill="hold">
                                          <p:stCondLst>
                                            <p:cond delay="0"/>
                                          </p:stCondLst>
                                        </p:cTn>
                                        <p:tgtEl>
                                          <p:spTgt spid="16"/>
                                        </p:tgtEl>
                                        <p:attrNameLst>
                                          <p:attrName>style.visibility</p:attrName>
                                        </p:attrNameLst>
                                      </p:cBhvr>
                                      <p:to>
                                        <p:strVal val="visible"/>
                                      </p:to>
                                    </p:set>
                                    <p:animEffect transition="in" filter="fade">
                                      <p:cBhvr>
                                        <p:cTn id="90" dur="600"/>
                                        <p:tgtEl>
                                          <p:spTgt spid="16"/>
                                        </p:tgtEl>
                                      </p:cBhvr>
                                    </p:animEffect>
                                    <p:anim calcmode="lin" valueType="num">
                                      <p:cBhvr additive="base">
                                        <p:cTn id="91" dur="600" fill="hold"/>
                                        <p:tgtEl>
                                          <p:spTgt spid="16"/>
                                        </p:tgtEl>
                                        <p:attrNameLst>
                                          <p:attrName>ppt_y</p:attrName>
                                        </p:attrNameLst>
                                      </p:cBhvr>
                                      <p:tavLst>
                                        <p:tav tm="0">
                                          <p:val>
                                            <p:strVal val="#ppt_y+0.05"/>
                                          </p:val>
                                        </p:tav>
                                        <p:tav tm="100000">
                                          <p:val>
                                            <p:strVal val="#ppt_y"/>
                                          </p:val>
                                        </p:tav>
                                      </p:tavLst>
                                    </p:anim>
                                  </p:childTnLst>
                                </p:cTn>
                              </p:par>
                              <p:par>
                                <p:cTn id="94" presetID="42" presetClass="entr" presetSubtype="0" fill="hold" nodeType="withEffect">
                                  <p:stCondLst>
                                    <p:cond delay="1022"/>
                                  </p:stCondLst>
                                  <p:childTnLst>
                                    <p:set>
                                      <p:cBhvr>
                                        <p:cTn id="95" dur="1" fill="hold">
                                          <p:stCondLst>
                                            <p:cond delay="0"/>
                                          </p:stCondLst>
                                        </p:cTn>
                                        <p:tgtEl>
                                          <p:spTgt spid="17"/>
                                        </p:tgtEl>
                                        <p:attrNameLst>
                                          <p:attrName>style.visibility</p:attrName>
                                        </p:attrNameLst>
                                      </p:cBhvr>
                                      <p:to>
                                        <p:strVal val="visible"/>
                                      </p:to>
                                    </p:set>
                                    <p:animEffect transition="in" filter="fade">
                                      <p:cBhvr>
                                        <p:cTn id="96" dur="600"/>
                                        <p:tgtEl>
                                          <p:spTgt spid="17"/>
                                        </p:tgtEl>
                                      </p:cBhvr>
                                    </p:animEffect>
                                    <p:anim calcmode="lin" valueType="num">
                                      <p:cBhvr additive="base">
                                        <p:cTn id="97" dur="600" fill="hold"/>
                                        <p:tgtEl>
                                          <p:spTgt spid="17"/>
                                        </p:tgtEl>
                                        <p:attrNameLst>
                                          <p:attrName>ppt_y</p:attrName>
                                        </p:attrNameLst>
                                      </p:cBhvr>
                                      <p:tavLst>
                                        <p:tav tm="0">
                                          <p:val>
                                            <p:strVal val="#ppt_y+0.05"/>
                                          </p:val>
                                        </p:tav>
                                        <p:tav tm="100000">
                                          <p:val>
                                            <p:strVal val="#ppt_y"/>
                                          </p:val>
                                        </p:tav>
                                      </p:tavLst>
                                    </p:anim>
                                  </p:childTnLst>
                                </p:cTn>
                              </p:par>
                              <p:par>
                                <p:cTn id="100" presetID="42" presetClass="entr" presetSubtype="0" fill="hold" nodeType="withEffect">
                                  <p:stCondLst>
                                    <p:cond delay="1095"/>
                                  </p:stCondLst>
                                  <p:childTnLst>
                                    <p:set>
                                      <p:cBhvr>
                                        <p:cTn id="101" dur="1" fill="hold">
                                          <p:stCondLst>
                                            <p:cond delay="0"/>
                                          </p:stCondLst>
                                        </p:cTn>
                                        <p:tgtEl>
                                          <p:spTgt spid="18"/>
                                        </p:tgtEl>
                                        <p:attrNameLst>
                                          <p:attrName>style.visibility</p:attrName>
                                        </p:attrNameLst>
                                      </p:cBhvr>
                                      <p:to>
                                        <p:strVal val="visible"/>
                                      </p:to>
                                    </p:set>
                                    <p:animEffect transition="in" filter="fade">
                                      <p:cBhvr>
                                        <p:cTn id="102" dur="600"/>
                                        <p:tgtEl>
                                          <p:spTgt spid="18"/>
                                        </p:tgtEl>
                                      </p:cBhvr>
                                    </p:animEffect>
                                    <p:anim calcmode="lin" valueType="num">
                                      <p:cBhvr additive="base">
                                        <p:cTn id="103" dur="600" fill="hold"/>
                                        <p:tgtEl>
                                          <p:spTgt spid="18"/>
                                        </p:tgtEl>
                                        <p:attrNameLst>
                                          <p:attrName>ppt_y</p:attrName>
                                        </p:attrNameLst>
                                      </p:cBhvr>
                                      <p:tavLst>
                                        <p:tav tm="0">
                                          <p:val>
                                            <p:strVal val="#ppt_y+0.05"/>
                                          </p:val>
                                        </p:tav>
                                        <p:tav tm="100000">
                                          <p:val>
                                            <p:strVal val="#ppt_y"/>
                                          </p:val>
                                        </p:tav>
                                      </p:tavLst>
                                    </p:anim>
                                  </p:childTnLst>
                                </p:cTn>
                              </p:par>
                              <p:par>
                                <p:cTn id="106" presetID="42" presetClass="entr" presetSubtype="0" fill="hold" nodeType="withEffect">
                                  <p:stCondLst>
                                    <p:cond delay="1168"/>
                                  </p:stCondLst>
                                  <p:childTnLst>
                                    <p:set>
                                      <p:cBhvr>
                                        <p:cTn id="107" dur="1" fill="hold">
                                          <p:stCondLst>
                                            <p:cond delay="0"/>
                                          </p:stCondLst>
                                        </p:cTn>
                                        <p:tgtEl>
                                          <p:spTgt spid="19"/>
                                        </p:tgtEl>
                                        <p:attrNameLst>
                                          <p:attrName>style.visibility</p:attrName>
                                        </p:attrNameLst>
                                      </p:cBhvr>
                                      <p:to>
                                        <p:strVal val="visible"/>
                                      </p:to>
                                    </p:set>
                                    <p:animEffect transition="in" filter="fade">
                                      <p:cBhvr>
                                        <p:cTn id="108" dur="600"/>
                                        <p:tgtEl>
                                          <p:spTgt spid="19"/>
                                        </p:tgtEl>
                                      </p:cBhvr>
                                    </p:animEffect>
                                    <p:anim calcmode="lin" valueType="num">
                                      <p:cBhvr additive="base">
                                        <p:cTn id="109" dur="600" fill="hold"/>
                                        <p:tgtEl>
                                          <p:spTgt spid="19"/>
                                        </p:tgtEl>
                                        <p:attrNameLst>
                                          <p:attrName>ppt_y</p:attrName>
                                        </p:attrNameLst>
                                      </p:cBhvr>
                                      <p:tavLst>
                                        <p:tav tm="0">
                                          <p:val>
                                            <p:strVal val="#ppt_y+0.05"/>
                                          </p:val>
                                        </p:tav>
                                        <p:tav tm="100000">
                                          <p:val>
                                            <p:strVal val="#ppt_y"/>
                                          </p:val>
                                        </p:tav>
                                      </p:tavLst>
                                    </p:anim>
                                  </p:childTnLst>
                                </p:cTn>
                              </p:par>
                              <p:par>
                                <p:cTn id="112" presetID="42" presetClass="entr" presetSubtype="0" fill="hold" nodeType="withEffect">
                                  <p:stCondLst>
                                    <p:cond delay="1241"/>
                                  </p:stCondLst>
                                  <p:childTnLst>
                                    <p:set>
                                      <p:cBhvr>
                                        <p:cTn id="113" dur="1" fill="hold">
                                          <p:stCondLst>
                                            <p:cond delay="0"/>
                                          </p:stCondLst>
                                        </p:cTn>
                                        <p:tgtEl>
                                          <p:spTgt spid="20"/>
                                        </p:tgtEl>
                                        <p:attrNameLst>
                                          <p:attrName>style.visibility</p:attrName>
                                        </p:attrNameLst>
                                      </p:cBhvr>
                                      <p:to>
                                        <p:strVal val="visible"/>
                                      </p:to>
                                    </p:set>
                                    <p:animEffect transition="in" filter="fade">
                                      <p:cBhvr>
                                        <p:cTn id="114" dur="600"/>
                                        <p:tgtEl>
                                          <p:spTgt spid="20"/>
                                        </p:tgtEl>
                                      </p:cBhvr>
                                    </p:animEffect>
                                    <p:anim calcmode="lin" valueType="num">
                                      <p:cBhvr additive="base">
                                        <p:cTn id="115" dur="600" fill="hold"/>
                                        <p:tgtEl>
                                          <p:spTgt spid="20"/>
                                        </p:tgtEl>
                                        <p:attrNameLst>
                                          <p:attrName>ppt_y</p:attrName>
                                        </p:attrNameLst>
                                      </p:cBhvr>
                                      <p:tavLst>
                                        <p:tav tm="0">
                                          <p:val>
                                            <p:strVal val="#ppt_y+0.05"/>
                                          </p:val>
                                        </p:tav>
                                        <p:tav tm="100000">
                                          <p:val>
                                            <p:strVal val="#ppt_y"/>
                                          </p:val>
                                        </p:tav>
                                      </p:tavLst>
                                    </p:anim>
                                  </p:childTnLst>
                                </p:cTn>
                              </p:par>
                              <p:par>
                                <p:cTn id="118" presetID="42" presetClass="entr" presetSubtype="0" fill="hold" nodeType="withEffect">
                                  <p:stCondLst>
                                    <p:cond delay="1314"/>
                                  </p:stCondLst>
                                  <p:childTnLst>
                                    <p:set>
                                      <p:cBhvr>
                                        <p:cTn id="119" dur="1" fill="hold">
                                          <p:stCondLst>
                                            <p:cond delay="0"/>
                                          </p:stCondLst>
                                        </p:cTn>
                                        <p:tgtEl>
                                          <p:spTgt spid="21"/>
                                        </p:tgtEl>
                                        <p:attrNameLst>
                                          <p:attrName>style.visibility</p:attrName>
                                        </p:attrNameLst>
                                      </p:cBhvr>
                                      <p:to>
                                        <p:strVal val="visible"/>
                                      </p:to>
                                    </p:set>
                                    <p:animEffect transition="in" filter="fade">
                                      <p:cBhvr>
                                        <p:cTn id="120" dur="600"/>
                                        <p:tgtEl>
                                          <p:spTgt spid="21"/>
                                        </p:tgtEl>
                                      </p:cBhvr>
                                    </p:animEffect>
                                    <p:anim calcmode="lin" valueType="num">
                                      <p:cBhvr additive="base">
                                        <p:cTn id="121" dur="600" fill="hold"/>
                                        <p:tgtEl>
                                          <p:spTgt spid="21"/>
                                        </p:tgtEl>
                                        <p:attrNameLst>
                                          <p:attrName>ppt_y</p:attrName>
                                        </p:attrNameLst>
                                      </p:cBhvr>
                                      <p:tavLst>
                                        <p:tav tm="0">
                                          <p:val>
                                            <p:strVal val="#ppt_y+0.05"/>
                                          </p:val>
                                        </p:tav>
                                        <p:tav tm="100000">
                                          <p:val>
                                            <p:strVal val="#ppt_y"/>
                                          </p:val>
                                        </p:tav>
                                      </p:tavLst>
                                    </p:anim>
                                  </p:childTnLst>
                                </p:cTn>
                              </p:par>
                              <p:par>
                                <p:cTn id="124" presetID="42" presetClass="entr" presetSubtype="0" fill="hold" nodeType="withEffect">
                                  <p:stCondLst>
                                    <p:cond delay="1387"/>
                                  </p:stCondLst>
                                  <p:childTnLst>
                                    <p:set>
                                      <p:cBhvr>
                                        <p:cTn id="125" dur="1" fill="hold">
                                          <p:stCondLst>
                                            <p:cond delay="0"/>
                                          </p:stCondLst>
                                        </p:cTn>
                                        <p:tgtEl>
                                          <p:spTgt spid="22"/>
                                        </p:tgtEl>
                                        <p:attrNameLst>
                                          <p:attrName>style.visibility</p:attrName>
                                        </p:attrNameLst>
                                      </p:cBhvr>
                                      <p:to>
                                        <p:strVal val="visible"/>
                                      </p:to>
                                    </p:set>
                                    <p:animEffect transition="in" filter="fade">
                                      <p:cBhvr>
                                        <p:cTn id="126" dur="600"/>
                                        <p:tgtEl>
                                          <p:spTgt spid="22"/>
                                        </p:tgtEl>
                                      </p:cBhvr>
                                    </p:animEffect>
                                    <p:anim calcmode="lin" valueType="num">
                                      <p:cBhvr additive="base">
                                        <p:cTn id="127" dur="600" fill="hold"/>
                                        <p:tgtEl>
                                          <p:spTgt spid="22"/>
                                        </p:tgtEl>
                                        <p:attrNameLst>
                                          <p:attrName>ppt_y</p:attrName>
                                        </p:attrNameLst>
                                      </p:cBhvr>
                                      <p:tavLst>
                                        <p:tav tm="0">
                                          <p:val>
                                            <p:strVal val="#ppt_y+0.05"/>
                                          </p:val>
                                        </p:tav>
                                        <p:tav tm="100000">
                                          <p:val>
                                            <p:strVal val="#ppt_y"/>
                                          </p:val>
                                        </p:tav>
                                      </p:tavLst>
                                    </p:anim>
                                  </p:childTnLst>
                                </p:cTn>
                              </p:par>
                              <p:par>
                                <p:cTn id="130" presetID="42" presetClass="entr" presetSubtype="0" fill="hold" nodeType="withEffect">
                                  <p:stCondLst>
                                    <p:cond delay="1460"/>
                                  </p:stCondLst>
                                  <p:childTnLst>
                                    <p:set>
                                      <p:cBhvr>
                                        <p:cTn id="131" dur="1" fill="hold">
                                          <p:stCondLst>
                                            <p:cond delay="0"/>
                                          </p:stCondLst>
                                        </p:cTn>
                                        <p:tgtEl>
                                          <p:spTgt spid="23"/>
                                        </p:tgtEl>
                                        <p:attrNameLst>
                                          <p:attrName>style.visibility</p:attrName>
                                        </p:attrNameLst>
                                      </p:cBhvr>
                                      <p:to>
                                        <p:strVal val="visible"/>
                                      </p:to>
                                    </p:set>
                                    <p:animEffect transition="in" filter="fade">
                                      <p:cBhvr>
                                        <p:cTn id="132" dur="600"/>
                                        <p:tgtEl>
                                          <p:spTgt spid="23"/>
                                        </p:tgtEl>
                                      </p:cBhvr>
                                    </p:animEffect>
                                    <p:anim calcmode="lin" valueType="num">
                                      <p:cBhvr additive="base">
                                        <p:cTn id="133" dur="600" fill="hold"/>
                                        <p:tgtEl>
                                          <p:spTgt spid="23"/>
                                        </p:tgtEl>
                                        <p:attrNameLst>
                                          <p:attrName>ppt_y</p:attrName>
                                        </p:attrNameLst>
                                      </p:cBhvr>
                                      <p:tavLst>
                                        <p:tav tm="0">
                                          <p:val>
                                            <p:strVal val="#ppt_y+0.05"/>
                                          </p:val>
                                        </p:tav>
                                        <p:tav tm="100000">
                                          <p:val>
                                            <p:strVal val="#ppt_y"/>
                                          </p:val>
                                        </p:tav>
                                      </p:tavLst>
                                    </p:anim>
                                  </p:childTnLst>
                                </p:cTn>
                              </p:par>
                              <p:par>
                                <p:cTn id="136" presetID="42" presetClass="entr" presetSubtype="0" fill="hold" nodeType="withEffect">
                                  <p:stCondLst>
                                    <p:cond delay="1533"/>
                                  </p:stCondLst>
                                  <p:childTnLst>
                                    <p:set>
                                      <p:cBhvr>
                                        <p:cTn id="137" dur="1" fill="hold">
                                          <p:stCondLst>
                                            <p:cond delay="0"/>
                                          </p:stCondLst>
                                        </p:cTn>
                                        <p:tgtEl>
                                          <p:spTgt spid="24"/>
                                        </p:tgtEl>
                                        <p:attrNameLst>
                                          <p:attrName>style.visibility</p:attrName>
                                        </p:attrNameLst>
                                      </p:cBhvr>
                                      <p:to>
                                        <p:strVal val="visible"/>
                                      </p:to>
                                    </p:set>
                                    <p:animEffect transition="in" filter="fade">
                                      <p:cBhvr>
                                        <p:cTn id="138" dur="600"/>
                                        <p:tgtEl>
                                          <p:spTgt spid="24"/>
                                        </p:tgtEl>
                                      </p:cBhvr>
                                    </p:animEffect>
                                    <p:anim calcmode="lin" valueType="num">
                                      <p:cBhvr additive="base">
                                        <p:cTn id="139" dur="600" fill="hold"/>
                                        <p:tgtEl>
                                          <p:spTgt spid="24"/>
                                        </p:tgtEl>
                                        <p:attrNameLst>
                                          <p:attrName>ppt_y</p:attrName>
                                        </p:attrNameLst>
                                      </p:cBhvr>
                                      <p:tavLst>
                                        <p:tav tm="0">
                                          <p:val>
                                            <p:strVal val="#ppt_y+0.05"/>
                                          </p:val>
                                        </p:tav>
                                        <p:tav tm="100000">
                                          <p:val>
                                            <p:strVal val="#ppt_y"/>
                                          </p:val>
                                        </p:tav>
                                      </p:tavLst>
                                    </p:anim>
                                  </p:childTnLst>
                                </p:cTn>
                              </p:par>
                              <p:par>
                                <p:cTn id="142" presetID="42" presetClass="entr" presetSubtype="0" fill="hold" nodeType="withEffect">
                                  <p:stCondLst>
                                    <p:cond delay="1606"/>
                                  </p:stCondLst>
                                  <p:childTnLst>
                                    <p:set>
                                      <p:cBhvr>
                                        <p:cTn id="143" dur="1" fill="hold">
                                          <p:stCondLst>
                                            <p:cond delay="0"/>
                                          </p:stCondLst>
                                        </p:cTn>
                                        <p:tgtEl>
                                          <p:spTgt spid="25"/>
                                        </p:tgtEl>
                                        <p:attrNameLst>
                                          <p:attrName>style.visibility</p:attrName>
                                        </p:attrNameLst>
                                      </p:cBhvr>
                                      <p:to>
                                        <p:strVal val="visible"/>
                                      </p:to>
                                    </p:set>
                                    <p:animEffect transition="in" filter="fade">
                                      <p:cBhvr>
                                        <p:cTn id="144" dur="600"/>
                                        <p:tgtEl>
                                          <p:spTgt spid="25"/>
                                        </p:tgtEl>
                                      </p:cBhvr>
                                    </p:animEffect>
                                    <p:anim calcmode="lin" valueType="num">
                                      <p:cBhvr additive="base">
                                        <p:cTn id="145" dur="600" fill="hold"/>
                                        <p:tgtEl>
                                          <p:spTgt spid="25"/>
                                        </p:tgtEl>
                                        <p:attrNameLst>
                                          <p:attrName>ppt_y</p:attrName>
                                        </p:attrNameLst>
                                      </p:cBhvr>
                                      <p:tavLst>
                                        <p:tav tm="0">
                                          <p:val>
                                            <p:strVal val="#ppt_y+0.05"/>
                                          </p:val>
                                        </p:tav>
                                        <p:tav tm="100000">
                                          <p:val>
                                            <p:strVal val="#ppt_y"/>
                                          </p:val>
                                        </p:tav>
                                      </p:tavLst>
                                    </p:anim>
                                  </p:childTnLst>
                                </p:cTn>
                              </p:par>
                              <p:par>
                                <p:cTn id="148" presetID="42" presetClass="entr" presetSubtype="0" fill="hold" nodeType="withEffect">
                                  <p:stCondLst>
                                    <p:cond delay="1679"/>
                                  </p:stCondLst>
                                  <p:childTnLst>
                                    <p:set>
                                      <p:cBhvr>
                                        <p:cTn id="149" dur="1" fill="hold">
                                          <p:stCondLst>
                                            <p:cond delay="0"/>
                                          </p:stCondLst>
                                        </p:cTn>
                                        <p:tgtEl>
                                          <p:spTgt spid="26"/>
                                        </p:tgtEl>
                                        <p:attrNameLst>
                                          <p:attrName>style.visibility</p:attrName>
                                        </p:attrNameLst>
                                      </p:cBhvr>
                                      <p:to>
                                        <p:strVal val="visible"/>
                                      </p:to>
                                    </p:set>
                                    <p:animEffect transition="in" filter="fade">
                                      <p:cBhvr>
                                        <p:cTn id="150" dur="600"/>
                                        <p:tgtEl>
                                          <p:spTgt spid="26"/>
                                        </p:tgtEl>
                                      </p:cBhvr>
                                    </p:animEffect>
                                    <p:anim calcmode="lin" valueType="num">
                                      <p:cBhvr additive="base">
                                        <p:cTn id="151" dur="600" fill="hold"/>
                                        <p:tgtEl>
                                          <p:spTgt spid="26"/>
                                        </p:tgtEl>
                                        <p:attrNameLst>
                                          <p:attrName>ppt_y</p:attrName>
                                        </p:attrNameLst>
                                      </p:cBhvr>
                                      <p:tavLst>
                                        <p:tav tm="0">
                                          <p:val>
                                            <p:strVal val="#ppt_y+0.05"/>
                                          </p:val>
                                        </p:tav>
                                        <p:tav tm="100000">
                                          <p:val>
                                            <p:strVal val="#ppt_y"/>
                                          </p:val>
                                        </p:tav>
                                      </p:tavLst>
                                    </p:anim>
                                  </p:childTnLst>
                                </p:cTn>
                              </p:par>
                              <p:par>
                                <p:cTn id="154" presetID="42" presetClass="entr" presetSubtype="0" fill="hold" nodeType="withEffect">
                                  <p:stCondLst>
                                    <p:cond delay="1752"/>
                                  </p:stCondLst>
                                  <p:childTnLst>
                                    <p:set>
                                      <p:cBhvr>
                                        <p:cTn id="155" dur="1" fill="hold">
                                          <p:stCondLst>
                                            <p:cond delay="0"/>
                                          </p:stCondLst>
                                        </p:cTn>
                                        <p:tgtEl>
                                          <p:spTgt spid="27"/>
                                        </p:tgtEl>
                                        <p:attrNameLst>
                                          <p:attrName>style.visibility</p:attrName>
                                        </p:attrNameLst>
                                      </p:cBhvr>
                                      <p:to>
                                        <p:strVal val="visible"/>
                                      </p:to>
                                    </p:set>
                                    <p:animEffect transition="in" filter="fade">
                                      <p:cBhvr>
                                        <p:cTn id="156" dur="600"/>
                                        <p:tgtEl>
                                          <p:spTgt spid="27"/>
                                        </p:tgtEl>
                                      </p:cBhvr>
                                    </p:animEffect>
                                    <p:anim calcmode="lin" valueType="num">
                                      <p:cBhvr additive="base">
                                        <p:cTn id="157" dur="600" fill="hold"/>
                                        <p:tgtEl>
                                          <p:spTgt spid="27"/>
                                        </p:tgtEl>
                                        <p:attrNameLst>
                                          <p:attrName>ppt_y</p:attrName>
                                        </p:attrNameLst>
                                      </p:cBhvr>
                                      <p:tavLst>
                                        <p:tav tm="0">
                                          <p:val>
                                            <p:strVal val="#ppt_y+0.05"/>
                                          </p:val>
                                        </p:tav>
                                        <p:tav tm="100000">
                                          <p:val>
                                            <p:strVal val="#ppt_y"/>
                                          </p:val>
                                        </p:tav>
                                      </p:tavLst>
                                    </p:anim>
                                  </p:childTnLst>
                                </p:cTn>
                              </p:par>
                              <p:par>
                                <p:cTn id="160" presetID="42" presetClass="entr" presetSubtype="0" fill="hold" nodeType="withEffect">
                                  <p:stCondLst>
                                    <p:cond delay="1825"/>
                                  </p:stCondLst>
                                  <p:childTnLst>
                                    <p:set>
                                      <p:cBhvr>
                                        <p:cTn id="161" dur="1" fill="hold">
                                          <p:stCondLst>
                                            <p:cond delay="0"/>
                                          </p:stCondLst>
                                        </p:cTn>
                                        <p:tgtEl>
                                          <p:spTgt spid="28"/>
                                        </p:tgtEl>
                                        <p:attrNameLst>
                                          <p:attrName>style.visibility</p:attrName>
                                        </p:attrNameLst>
                                      </p:cBhvr>
                                      <p:to>
                                        <p:strVal val="visible"/>
                                      </p:to>
                                    </p:set>
                                    <p:animEffect transition="in" filter="fade">
                                      <p:cBhvr>
                                        <p:cTn id="162" dur="600"/>
                                        <p:tgtEl>
                                          <p:spTgt spid="28"/>
                                        </p:tgtEl>
                                      </p:cBhvr>
                                    </p:animEffect>
                                    <p:anim calcmode="lin" valueType="num">
                                      <p:cBhvr additive="base">
                                        <p:cTn id="163" dur="600" fill="hold"/>
                                        <p:tgtEl>
                                          <p:spTgt spid="28"/>
                                        </p:tgtEl>
                                        <p:attrNameLst>
                                          <p:attrName>ppt_y</p:attrName>
                                        </p:attrNameLst>
                                      </p:cBhvr>
                                      <p:tavLst>
                                        <p:tav tm="0">
                                          <p:val>
                                            <p:strVal val="#ppt_y+0.05"/>
                                          </p:val>
                                        </p:tav>
                                        <p:tav tm="100000">
                                          <p:val>
                                            <p:strVal val="#ppt_y"/>
                                          </p:val>
                                        </p:tav>
                                      </p:tavLst>
                                    </p:anim>
                                  </p:childTnLst>
                                </p:cTn>
                              </p:par>
                              <p:par>
                                <p:cTn id="166" presetID="42" presetClass="entr" presetSubtype="0" fill="hold" nodeType="withEffect">
                                  <p:stCondLst>
                                    <p:cond delay="1898"/>
                                  </p:stCondLst>
                                  <p:childTnLst>
                                    <p:set>
                                      <p:cBhvr>
                                        <p:cTn id="167" dur="1" fill="hold">
                                          <p:stCondLst>
                                            <p:cond delay="0"/>
                                          </p:stCondLst>
                                        </p:cTn>
                                        <p:tgtEl>
                                          <p:spTgt spid="29"/>
                                        </p:tgtEl>
                                        <p:attrNameLst>
                                          <p:attrName>style.visibility</p:attrName>
                                        </p:attrNameLst>
                                      </p:cBhvr>
                                      <p:to>
                                        <p:strVal val="visible"/>
                                      </p:to>
                                    </p:set>
                                    <p:animEffect transition="in" filter="fade">
                                      <p:cBhvr>
                                        <p:cTn id="168" dur="600"/>
                                        <p:tgtEl>
                                          <p:spTgt spid="29"/>
                                        </p:tgtEl>
                                      </p:cBhvr>
                                    </p:animEffect>
                                    <p:anim calcmode="lin" valueType="num">
                                      <p:cBhvr additive="base">
                                        <p:cTn id="169" dur="600" fill="hold"/>
                                        <p:tgtEl>
                                          <p:spTgt spid="29"/>
                                        </p:tgtEl>
                                        <p:attrNameLst>
                                          <p:attrName>ppt_y</p:attrName>
                                        </p:attrNameLst>
                                      </p:cBhvr>
                                      <p:tavLst>
                                        <p:tav tm="0">
                                          <p:val>
                                            <p:strVal val="#ppt_y+0.05"/>
                                          </p:val>
                                        </p:tav>
                                        <p:tav tm="100000">
                                          <p:val>
                                            <p:strVal val="#ppt_y"/>
                                          </p:val>
                                        </p:tav>
                                      </p:tavLst>
                                    </p:anim>
                                  </p:childTnLst>
                                </p:cTn>
                              </p:par>
                              <p:par>
                                <p:cTn id="172" presetID="42" presetClass="entr" presetSubtype="0" fill="hold" nodeType="withEffect">
                                  <p:stCondLst>
                                    <p:cond delay="1971"/>
                                  </p:stCondLst>
                                  <p:childTnLst>
                                    <p:set>
                                      <p:cBhvr>
                                        <p:cTn id="173" dur="1" fill="hold">
                                          <p:stCondLst>
                                            <p:cond delay="0"/>
                                          </p:stCondLst>
                                        </p:cTn>
                                        <p:tgtEl>
                                          <p:spTgt spid="30"/>
                                        </p:tgtEl>
                                        <p:attrNameLst>
                                          <p:attrName>style.visibility</p:attrName>
                                        </p:attrNameLst>
                                      </p:cBhvr>
                                      <p:to>
                                        <p:strVal val="visible"/>
                                      </p:to>
                                    </p:set>
                                    <p:animEffect transition="in" filter="fade">
                                      <p:cBhvr>
                                        <p:cTn id="174" dur="600"/>
                                        <p:tgtEl>
                                          <p:spTgt spid="30"/>
                                        </p:tgtEl>
                                      </p:cBhvr>
                                    </p:animEffect>
                                    <p:anim calcmode="lin" valueType="num">
                                      <p:cBhvr additive="base">
                                        <p:cTn id="175" dur="600" fill="hold"/>
                                        <p:tgtEl>
                                          <p:spTgt spid="30"/>
                                        </p:tgtEl>
                                        <p:attrNameLst>
                                          <p:attrName>ppt_y</p:attrName>
                                        </p:attrNameLst>
                                      </p:cBhvr>
                                      <p:tavLst>
                                        <p:tav tm="0">
                                          <p:val>
                                            <p:strVal val="#ppt_y+0.05"/>
                                          </p:val>
                                        </p:tav>
                                        <p:tav tm="100000">
                                          <p:val>
                                            <p:strVal val="#ppt_y"/>
                                          </p:val>
                                        </p:tav>
                                      </p:tavLst>
                                    </p:anim>
                                  </p:childTnLst>
                                </p:cTn>
                              </p:par>
                              <p:par>
                                <p:cTn id="178" presetID="42" presetClass="entr" presetSubtype="0" fill="hold" nodeType="withEffect">
                                  <p:stCondLst>
                                    <p:cond delay="2044"/>
                                  </p:stCondLst>
                                  <p:childTnLst>
                                    <p:set>
                                      <p:cBhvr>
                                        <p:cTn id="179" dur="1" fill="hold">
                                          <p:stCondLst>
                                            <p:cond delay="0"/>
                                          </p:stCondLst>
                                        </p:cTn>
                                        <p:tgtEl>
                                          <p:spTgt spid="31"/>
                                        </p:tgtEl>
                                        <p:attrNameLst>
                                          <p:attrName>style.visibility</p:attrName>
                                        </p:attrNameLst>
                                      </p:cBhvr>
                                      <p:to>
                                        <p:strVal val="visible"/>
                                      </p:to>
                                    </p:set>
                                    <p:animEffect transition="in" filter="fade">
                                      <p:cBhvr>
                                        <p:cTn id="180" dur="600"/>
                                        <p:tgtEl>
                                          <p:spTgt spid="31"/>
                                        </p:tgtEl>
                                      </p:cBhvr>
                                    </p:animEffect>
                                    <p:anim calcmode="lin" valueType="num">
                                      <p:cBhvr additive="base">
                                        <p:cTn id="181" dur="600" fill="hold"/>
                                        <p:tgtEl>
                                          <p:spTgt spid="31"/>
                                        </p:tgtEl>
                                        <p:attrNameLst>
                                          <p:attrName>ppt_y</p:attrName>
                                        </p:attrNameLst>
                                      </p:cBhvr>
                                      <p:tavLst>
                                        <p:tav tm="0">
                                          <p:val>
                                            <p:strVal val="#ppt_y+0.05"/>
                                          </p:val>
                                        </p:tav>
                                        <p:tav tm="100000">
                                          <p:val>
                                            <p:strVal val="#ppt_y"/>
                                          </p:val>
                                        </p:tav>
                                      </p:tavLst>
                                    </p:anim>
                                  </p:childTnLst>
                                </p:cTn>
                              </p:par>
                              <p:par>
                                <p:cTn id="184" presetID="42" presetClass="entr" presetSubtype="0" fill="hold" nodeType="withEffect">
                                  <p:stCondLst>
                                    <p:cond delay="2117"/>
                                  </p:stCondLst>
                                  <p:childTnLst>
                                    <p:set>
                                      <p:cBhvr>
                                        <p:cTn id="185" dur="1" fill="hold">
                                          <p:stCondLst>
                                            <p:cond delay="0"/>
                                          </p:stCondLst>
                                        </p:cTn>
                                        <p:tgtEl>
                                          <p:spTgt spid="25"/>
                                        </p:tgtEl>
                                        <p:attrNameLst>
                                          <p:attrName>style.visibility</p:attrName>
                                        </p:attrNameLst>
                                      </p:cBhvr>
                                      <p:to>
                                        <p:strVal val="visible"/>
                                      </p:to>
                                    </p:set>
                                    <p:animEffect transition="in" filter="fade">
                                      <p:cBhvr>
                                        <p:cTn id="186" dur="600"/>
                                        <p:tgtEl>
                                          <p:spTgt spid="25"/>
                                        </p:tgtEl>
                                      </p:cBhvr>
                                    </p:animEffect>
                                    <p:anim calcmode="lin" valueType="num">
                                      <p:cBhvr additive="base">
                                        <p:cTn id="187" dur="600" fill="hold"/>
                                        <p:tgtEl>
                                          <p:spTgt spid="25"/>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The dataset: what it is and where it comes from</a:t>
            </a:r>
            <a:endParaRPr lang="en-US" sz="3000" dirty="0"/>
          </a:p>
        </p:txBody>
      </p:sp>
      <p:sp>
        <p:nvSpPr>
          <p:cNvPr id="4" name="info card"/>
          <p:cNvSpPr/>
          <p:nvPr/>
        </p:nvSpPr>
        <p:spPr>
          <a:xfrm>
            <a:off x="548640" y="1417320"/>
            <a:ext cx="3593592" cy="3154680"/>
          </a:xfrm>
          <a:prstGeom prst="roundRect">
            <a:avLst>
              <a:gd name="adj" fmla="val 3478"/>
            </a:avLst>
          </a:prstGeom>
          <a:solidFill>
            <a:srgbClr val="EEF2F6"/>
          </a:solidFill>
          <a:ln w="12700">
            <a:solidFill>
              <a:srgbClr val="EEF2F6"/>
            </a:solidFill>
            <a:prstDash val="solid"/>
          </a:ln>
        </p:spPr>
      </p:sp>
      <p:sp>
        <p:nvSpPr>
          <p:cNvPr id="5" name="icon circle"/>
          <p:cNvSpPr/>
          <p:nvPr/>
        </p:nvSpPr>
        <p:spPr>
          <a:xfrm>
            <a:off x="777240" y="1645920"/>
            <a:ext cx="640080" cy="640080"/>
          </a:xfrm>
          <a:prstGeom prst="ellipse">
            <a:avLst/>
          </a:prstGeom>
          <a:solidFill>
            <a:srgbClr val="232F3E"/>
          </a:solidFill>
          <a:ln w="12700">
            <a:solidFill>
              <a:srgbClr val="232F3E"/>
            </a:solidFill>
            <a:prstDash val="solid"/>
          </a:ln>
        </p:spPr>
      </p:sp>
      <p:pic>
        <p:nvPicPr>
          <p:cNvPr id="6" name="Image 0" descr="What it is icon">    </p:cNvPr>
          <p:cNvPicPr>
            <a:picLocks noChangeAspect="1"/>
          </p:cNvPicPr>
          <p:nvPr/>
        </p:nvPicPr>
        <p:blipFill>
          <a:blip r:embed="rId1"/>
          <a:stretch>
            <a:fillRect/>
          </a:stretch>
        </p:blipFill>
        <p:spPr>
          <a:xfrm>
            <a:off x="932688" y="1801368"/>
            <a:ext cx="329184" cy="329184"/>
          </a:xfrm>
          <a:prstGeom prst="rect">
            <a:avLst/>
          </a:prstGeom>
        </p:spPr>
      </p:pic>
      <p:sp>
        <p:nvSpPr>
          <p:cNvPr id="7" name="Text 3"/>
          <p:cNvSpPr txBox="1"/>
          <p:nvPr/>
        </p:nvSpPr>
        <p:spPr>
          <a:xfrm>
            <a:off x="777240" y="2468880"/>
            <a:ext cx="3154680" cy="365760"/>
          </a:xfrm>
          <a:prstGeom prst="rect">
            <a:avLst/>
          </a:prstGeom>
          <a:noFill/>
          <a:ln/>
        </p:spPr>
        <p:txBody>
          <a:bodyPr wrap="square" lIns="0" tIns="0" rIns="0" bIns="0" rtlCol="0" anchor="t"/>
          <a:lstStyle/>
          <a:p>
            <a:pPr indent="0" marL="0">
              <a:buNone/>
            </a:pPr>
            <a:r>
              <a:rPr lang="en-US" sz="2000" b="1" dirty="0">
                <a:solidFill>
                  <a:srgbClr val="232F3E"/>
                </a:solidFill>
                <a:latin typeface="Cambria" pitchFamily="34" charset="0"/>
                <a:ea typeface="Cambria" pitchFamily="34" charset="-122"/>
                <a:cs typeface="Cambria" pitchFamily="34" charset="-120"/>
              </a:rPr>
              <a:t>What it is</a:t>
            </a:r>
            <a:endParaRPr lang="en-US" sz="2000" dirty="0"/>
          </a:p>
        </p:txBody>
      </p:sp>
      <p:sp>
        <p:nvSpPr>
          <p:cNvPr id="8" name="Text 4"/>
          <p:cNvSpPr txBox="1"/>
          <p:nvPr/>
        </p:nvSpPr>
        <p:spPr>
          <a:xfrm>
            <a:off x="777240" y="2926080"/>
            <a:ext cx="3154680" cy="1600200"/>
          </a:xfrm>
          <a:prstGeom prst="rect">
            <a:avLst/>
          </a:prstGeom>
          <a:noFill/>
          <a:ln/>
        </p:spPr>
        <p:txBody>
          <a:bodyPr wrap="square" lIns="0" tIns="0" rIns="0" bIns="0" rtlCol="0" anchor="t"/>
          <a:lstStyle/>
          <a:p>
            <a:pPr indent="0" marL="0">
              <a:buNone/>
            </a:pPr>
            <a:r>
              <a:rPr lang="en-US" sz="1500" dirty="0">
                <a:solidFill>
                  <a:srgbClr val="131A22"/>
                </a:solidFill>
                <a:latin typeface="Calibri" pitchFamily="34" charset="0"/>
                <a:ea typeface="Calibri" pitchFamily="34" charset="-122"/>
                <a:cs typeface="Calibri" pitchFamily="34" charset="-120"/>
              </a:rPr>
              <a:t>Amazon search-result listings for the keyword “phone”. Each row is one product listing, identified by its ASIN, with price, ratings, badges, number of offers and promotion details.</a:t>
            </a:r>
            <a:endParaRPr lang="en-US" sz="1500" dirty="0"/>
          </a:p>
        </p:txBody>
      </p:sp>
      <p:sp>
        <p:nvSpPr>
          <p:cNvPr id="9" name="info card"/>
          <p:cNvSpPr/>
          <p:nvPr/>
        </p:nvSpPr>
        <p:spPr>
          <a:xfrm>
            <a:off x="4297680" y="1417320"/>
            <a:ext cx="3593592" cy="3154680"/>
          </a:xfrm>
          <a:prstGeom prst="roundRect">
            <a:avLst>
              <a:gd name="adj" fmla="val 3478"/>
            </a:avLst>
          </a:prstGeom>
          <a:solidFill>
            <a:srgbClr val="EEF2F6"/>
          </a:solidFill>
          <a:ln w="12700">
            <a:solidFill>
              <a:srgbClr val="EEF2F6"/>
            </a:solidFill>
            <a:prstDash val="solid"/>
          </a:ln>
        </p:spPr>
      </p:sp>
      <p:sp>
        <p:nvSpPr>
          <p:cNvPr id="10" name="icon circle"/>
          <p:cNvSpPr/>
          <p:nvPr/>
        </p:nvSpPr>
        <p:spPr>
          <a:xfrm>
            <a:off x="4526280" y="1645920"/>
            <a:ext cx="640080" cy="640080"/>
          </a:xfrm>
          <a:prstGeom prst="ellipse">
            <a:avLst/>
          </a:prstGeom>
          <a:solidFill>
            <a:srgbClr val="232F3E"/>
          </a:solidFill>
          <a:ln w="12700">
            <a:solidFill>
              <a:srgbClr val="232F3E"/>
            </a:solidFill>
            <a:prstDash val="solid"/>
          </a:ln>
        </p:spPr>
      </p:sp>
      <p:pic>
        <p:nvPicPr>
          <p:cNvPr id="11" name="Image 1" descr="Where it comes from icon">    </p:cNvPr>
          <p:cNvPicPr>
            <a:picLocks noChangeAspect="1"/>
          </p:cNvPicPr>
          <p:nvPr/>
        </p:nvPicPr>
        <p:blipFill>
          <a:blip r:embed="rId2"/>
          <a:stretch>
            <a:fillRect/>
          </a:stretch>
        </p:blipFill>
        <p:spPr>
          <a:xfrm>
            <a:off x="4681728" y="1801368"/>
            <a:ext cx="329184" cy="329184"/>
          </a:xfrm>
          <a:prstGeom prst="rect">
            <a:avLst/>
          </a:prstGeom>
        </p:spPr>
      </p:pic>
      <p:sp>
        <p:nvSpPr>
          <p:cNvPr id="12" name="Text 7"/>
          <p:cNvSpPr txBox="1"/>
          <p:nvPr/>
        </p:nvSpPr>
        <p:spPr>
          <a:xfrm>
            <a:off x="4526280" y="2468880"/>
            <a:ext cx="3154680" cy="365760"/>
          </a:xfrm>
          <a:prstGeom prst="rect">
            <a:avLst/>
          </a:prstGeom>
          <a:noFill/>
          <a:ln/>
        </p:spPr>
        <p:txBody>
          <a:bodyPr wrap="square" lIns="0" tIns="0" rIns="0" bIns="0" rtlCol="0" anchor="t"/>
          <a:lstStyle/>
          <a:p>
            <a:pPr indent="0" marL="0">
              <a:buNone/>
            </a:pPr>
            <a:r>
              <a:rPr lang="en-US" sz="2000" b="1" dirty="0">
                <a:solidFill>
                  <a:srgbClr val="232F3E"/>
                </a:solidFill>
                <a:latin typeface="Cambria" pitchFamily="34" charset="0"/>
                <a:ea typeface="Cambria" pitchFamily="34" charset="-122"/>
                <a:cs typeface="Cambria" pitchFamily="34" charset="-120"/>
              </a:rPr>
              <a:t>Where it comes from</a:t>
            </a:r>
            <a:endParaRPr lang="en-US" sz="2000" dirty="0"/>
          </a:p>
        </p:txBody>
      </p:sp>
      <p:sp>
        <p:nvSpPr>
          <p:cNvPr id="13" name="Text 8"/>
          <p:cNvSpPr txBox="1"/>
          <p:nvPr/>
        </p:nvSpPr>
        <p:spPr>
          <a:xfrm>
            <a:off x="4526280" y="2926080"/>
            <a:ext cx="3154680" cy="1600200"/>
          </a:xfrm>
          <a:prstGeom prst="rect">
            <a:avLst/>
          </a:prstGeom>
          <a:noFill/>
          <a:ln/>
        </p:spPr>
        <p:txBody>
          <a:bodyPr wrap="square" lIns="0" tIns="0" rIns="0" bIns="0" rtlCol="0" anchor="t"/>
          <a:lstStyle/>
          <a:p>
            <a:pPr indent="0" marL="0">
              <a:buNone/>
            </a:pPr>
            <a:r>
              <a:rPr lang="en-US" sz="1500" dirty="0">
                <a:solidFill>
                  <a:srgbClr val="131A22"/>
                </a:solidFill>
                <a:latin typeface="Calibri" pitchFamily="34" charset="0"/>
                <a:ea typeface="Calibri" pitchFamily="34" charset="-122"/>
                <a:cs typeface="Calibri" pitchFamily="34" charset="-120"/>
              </a:rPr>
              <a:t>A CSV file (“phone search (1).csv”) provided for this diploma project. The file itself carries no source URL, so we cite it as the project-provided dataset instead of inventing a link.</a:t>
            </a:r>
            <a:endParaRPr lang="en-US" sz="1500" dirty="0"/>
          </a:p>
        </p:txBody>
      </p:sp>
      <p:sp>
        <p:nvSpPr>
          <p:cNvPr id="14" name="info card"/>
          <p:cNvSpPr/>
          <p:nvPr/>
        </p:nvSpPr>
        <p:spPr>
          <a:xfrm>
            <a:off x="8046720" y="1417320"/>
            <a:ext cx="3593592" cy="3154680"/>
          </a:xfrm>
          <a:prstGeom prst="roundRect">
            <a:avLst>
              <a:gd name="adj" fmla="val 3478"/>
            </a:avLst>
          </a:prstGeom>
          <a:solidFill>
            <a:srgbClr val="EEF2F6"/>
          </a:solidFill>
          <a:ln w="12700">
            <a:solidFill>
              <a:srgbClr val="EEF2F6"/>
            </a:solidFill>
            <a:prstDash val="solid"/>
          </a:ln>
        </p:spPr>
      </p:sp>
      <p:sp>
        <p:nvSpPr>
          <p:cNvPr id="15" name="icon circle"/>
          <p:cNvSpPr/>
          <p:nvPr/>
        </p:nvSpPr>
        <p:spPr>
          <a:xfrm>
            <a:off x="8275320" y="1645920"/>
            <a:ext cx="640080" cy="640080"/>
          </a:xfrm>
          <a:prstGeom prst="ellipse">
            <a:avLst/>
          </a:prstGeom>
          <a:solidFill>
            <a:srgbClr val="232F3E"/>
          </a:solidFill>
          <a:ln w="12700">
            <a:solidFill>
              <a:srgbClr val="232F3E"/>
            </a:solidFill>
            <a:prstDash val="solid"/>
          </a:ln>
        </p:spPr>
      </p:sp>
      <p:pic>
        <p:nvPicPr>
          <p:cNvPr id="16" name="Image 2" descr="Snapshot &amp; scope icon">    </p:cNvPr>
          <p:cNvPicPr>
            <a:picLocks noChangeAspect="1"/>
          </p:cNvPicPr>
          <p:nvPr/>
        </p:nvPicPr>
        <p:blipFill>
          <a:blip r:embed="rId3"/>
          <a:stretch>
            <a:fillRect/>
          </a:stretch>
        </p:blipFill>
        <p:spPr>
          <a:xfrm>
            <a:off x="8430768" y="1801368"/>
            <a:ext cx="329184" cy="329184"/>
          </a:xfrm>
          <a:prstGeom prst="rect">
            <a:avLst/>
          </a:prstGeom>
        </p:spPr>
      </p:pic>
      <p:sp>
        <p:nvSpPr>
          <p:cNvPr id="17" name="Text 11"/>
          <p:cNvSpPr txBox="1"/>
          <p:nvPr/>
        </p:nvSpPr>
        <p:spPr>
          <a:xfrm>
            <a:off x="8275320" y="2468880"/>
            <a:ext cx="3154680" cy="365760"/>
          </a:xfrm>
          <a:prstGeom prst="rect">
            <a:avLst/>
          </a:prstGeom>
          <a:noFill/>
          <a:ln/>
        </p:spPr>
        <p:txBody>
          <a:bodyPr wrap="square" lIns="0" tIns="0" rIns="0" bIns="0" rtlCol="0" anchor="t"/>
          <a:lstStyle/>
          <a:p>
            <a:pPr indent="0" marL="0">
              <a:buNone/>
            </a:pPr>
            <a:r>
              <a:rPr lang="en-US" sz="2000" b="1" dirty="0">
                <a:solidFill>
                  <a:srgbClr val="232F3E"/>
                </a:solidFill>
                <a:latin typeface="Cambria" pitchFamily="34" charset="0"/>
                <a:ea typeface="Cambria" pitchFamily="34" charset="-122"/>
                <a:cs typeface="Cambria" pitchFamily="34" charset="-120"/>
              </a:rPr>
              <a:t>Snapshot &amp; scope</a:t>
            </a:r>
            <a:endParaRPr lang="en-US" sz="2000" dirty="0"/>
          </a:p>
        </p:txBody>
      </p:sp>
      <p:sp>
        <p:nvSpPr>
          <p:cNvPr id="18" name="Text 12"/>
          <p:cNvSpPr txBox="1"/>
          <p:nvPr/>
        </p:nvSpPr>
        <p:spPr>
          <a:xfrm>
            <a:off x="8275320" y="2926080"/>
            <a:ext cx="3154680" cy="1600200"/>
          </a:xfrm>
          <a:prstGeom prst="rect">
            <a:avLst/>
          </a:prstGeom>
          <a:noFill/>
          <a:ln/>
        </p:spPr>
        <p:txBody>
          <a:bodyPr wrap="square" lIns="0" tIns="0" rIns="0" bIns="0" rtlCol="0" anchor="t"/>
          <a:lstStyle/>
          <a:p>
            <a:pPr indent="0" marL="0">
              <a:buNone/>
            </a:pPr>
            <a:r>
              <a:rPr lang="en-US" sz="1500" dirty="0">
                <a:solidFill>
                  <a:srgbClr val="131A22"/>
                </a:solidFill>
                <a:latin typeface="Calibri" pitchFamily="34" charset="0"/>
                <a:ea typeface="Calibri" pitchFamily="34" charset="-122"/>
                <a:cs typeface="Calibri" pitchFamily="34" charset="-120"/>
              </a:rPr>
              <a:t>Delivery dates such as “Tue, Sep 24” suggest one snapshot taken around September 2024. All prices are in USD. It is a sample of search results, not the full Amazon market.</a:t>
            </a:r>
            <a:endParaRPr lang="en-US" sz="1500" dirty="0"/>
          </a:p>
        </p:txBody>
      </p:sp>
      <p:sp>
        <p:nvSpPr>
          <p:cNvPr id="19" name="Text 13"/>
          <p:cNvSpPr txBox="1"/>
          <p:nvPr/>
        </p:nvSpPr>
        <p:spPr>
          <a:xfrm>
            <a:off x="548640" y="5029200"/>
            <a:ext cx="1188720" cy="822960"/>
          </a:xfrm>
          <a:prstGeom prst="rect">
            <a:avLst/>
          </a:prstGeom>
          <a:noFill/>
          <a:ln/>
        </p:spPr>
        <p:txBody>
          <a:bodyPr wrap="square" lIns="0" tIns="0" rIns="0" bIns="0" rtlCol="0" anchor="ctr"/>
          <a:lstStyle/>
          <a:p>
            <a:pPr indent="0" marL="0">
              <a:buNone/>
            </a:pPr>
            <a:r>
              <a:rPr lang="en-US" sz="3600" b="1" dirty="0">
                <a:solidFill>
                  <a:srgbClr val="FF9900"/>
                </a:solidFill>
                <a:latin typeface="Cambria" pitchFamily="34" charset="0"/>
                <a:ea typeface="Cambria" pitchFamily="34" charset="-122"/>
                <a:cs typeface="Cambria" pitchFamily="34" charset="-120"/>
              </a:rPr>
              <a:t>340</a:t>
            </a:r>
            <a:endParaRPr lang="en-US" sz="3600" dirty="0"/>
          </a:p>
        </p:txBody>
      </p:sp>
      <p:sp>
        <p:nvSpPr>
          <p:cNvPr id="20" name="Text 14"/>
          <p:cNvSpPr txBox="1"/>
          <p:nvPr/>
        </p:nvSpPr>
        <p:spPr>
          <a:xfrm>
            <a:off x="1737360" y="5029200"/>
            <a:ext cx="1463040" cy="822960"/>
          </a:xfrm>
          <a:prstGeom prst="rect">
            <a:avLst/>
          </a:prstGeom>
          <a:noFill/>
          <a:ln/>
        </p:spPr>
        <p:txBody>
          <a:bodyPr wrap="square" lIns="0" tIns="0" rIns="0" bIns="0" rtlCol="0" anchor="ctr"/>
          <a:lstStyle/>
          <a:p>
            <a:pPr indent="0" marL="0">
              <a:buNone/>
            </a:pPr>
            <a:r>
              <a:rPr lang="en-US" sz="1400" dirty="0">
                <a:solidFill>
                  <a:srgbClr val="5B6B7D"/>
                </a:solidFill>
                <a:latin typeface="Calibri" pitchFamily="34" charset="0"/>
                <a:ea typeface="Calibri" pitchFamily="34" charset="-122"/>
                <a:cs typeface="Calibri" pitchFamily="34" charset="-120"/>
              </a:rPr>
              <a:t>rows</a:t>
            </a:r>
            <a:endParaRPr lang="en-US" sz="1400" dirty="0"/>
          </a:p>
        </p:txBody>
      </p:sp>
      <p:sp>
        <p:nvSpPr>
          <p:cNvPr id="21" name="Text 15"/>
          <p:cNvSpPr txBox="1"/>
          <p:nvPr/>
        </p:nvSpPr>
        <p:spPr>
          <a:xfrm>
            <a:off x="3383280" y="5029200"/>
            <a:ext cx="1188720" cy="822960"/>
          </a:xfrm>
          <a:prstGeom prst="rect">
            <a:avLst/>
          </a:prstGeom>
          <a:noFill/>
          <a:ln/>
        </p:spPr>
        <p:txBody>
          <a:bodyPr wrap="square" lIns="0" tIns="0" rIns="0" bIns="0" rtlCol="0" anchor="ctr"/>
          <a:lstStyle/>
          <a:p>
            <a:pPr indent="0" marL="0">
              <a:buNone/>
            </a:pPr>
            <a:r>
              <a:rPr lang="en-US" sz="3600" b="1" dirty="0">
                <a:solidFill>
                  <a:srgbClr val="FF9900"/>
                </a:solidFill>
                <a:latin typeface="Cambria" pitchFamily="34" charset="0"/>
                <a:ea typeface="Cambria" pitchFamily="34" charset="-122"/>
                <a:cs typeface="Cambria" pitchFamily="34" charset="-120"/>
              </a:rPr>
              <a:t>20</a:t>
            </a:r>
            <a:endParaRPr lang="en-US" sz="3600" dirty="0"/>
          </a:p>
        </p:txBody>
      </p:sp>
      <p:sp>
        <p:nvSpPr>
          <p:cNvPr id="22" name="Text 16"/>
          <p:cNvSpPr txBox="1"/>
          <p:nvPr/>
        </p:nvSpPr>
        <p:spPr>
          <a:xfrm>
            <a:off x="4572000" y="5029200"/>
            <a:ext cx="1463040" cy="822960"/>
          </a:xfrm>
          <a:prstGeom prst="rect">
            <a:avLst/>
          </a:prstGeom>
          <a:noFill/>
          <a:ln/>
        </p:spPr>
        <p:txBody>
          <a:bodyPr wrap="square" lIns="0" tIns="0" rIns="0" bIns="0" rtlCol="0" anchor="ctr"/>
          <a:lstStyle/>
          <a:p>
            <a:pPr indent="0" marL="0">
              <a:buNone/>
            </a:pPr>
            <a:r>
              <a:rPr lang="en-US" sz="1400" dirty="0">
                <a:solidFill>
                  <a:srgbClr val="5B6B7D"/>
                </a:solidFill>
                <a:latin typeface="Calibri" pitchFamily="34" charset="0"/>
                <a:ea typeface="Calibri" pitchFamily="34" charset="-122"/>
                <a:cs typeface="Calibri" pitchFamily="34" charset="-120"/>
              </a:rPr>
              <a:t>columns</a:t>
            </a:r>
            <a:endParaRPr lang="en-US" sz="1400" dirty="0"/>
          </a:p>
        </p:txBody>
      </p:sp>
      <p:sp>
        <p:nvSpPr>
          <p:cNvPr id="23" name="Text 17"/>
          <p:cNvSpPr txBox="1"/>
          <p:nvPr/>
        </p:nvSpPr>
        <p:spPr>
          <a:xfrm>
            <a:off x="6217920" y="5029200"/>
            <a:ext cx="1188720" cy="822960"/>
          </a:xfrm>
          <a:prstGeom prst="rect">
            <a:avLst/>
          </a:prstGeom>
          <a:noFill/>
          <a:ln/>
        </p:spPr>
        <p:txBody>
          <a:bodyPr wrap="square" lIns="0" tIns="0" rIns="0" bIns="0" rtlCol="0" anchor="ctr"/>
          <a:lstStyle/>
          <a:p>
            <a:pPr indent="0" marL="0">
              <a:buNone/>
            </a:pPr>
            <a:r>
              <a:rPr lang="en-US" sz="3600" b="1" dirty="0">
                <a:solidFill>
                  <a:srgbClr val="FF9900"/>
                </a:solidFill>
                <a:latin typeface="Cambria" pitchFamily="34" charset="0"/>
                <a:ea typeface="Cambria" pitchFamily="34" charset="-122"/>
                <a:cs typeface="Cambria" pitchFamily="34" charset="-120"/>
              </a:rPr>
              <a:t>315</a:t>
            </a:r>
            <a:endParaRPr lang="en-US" sz="3600" dirty="0"/>
          </a:p>
        </p:txBody>
      </p:sp>
      <p:sp>
        <p:nvSpPr>
          <p:cNvPr id="24" name="Text 18"/>
          <p:cNvSpPr txBox="1"/>
          <p:nvPr/>
        </p:nvSpPr>
        <p:spPr>
          <a:xfrm>
            <a:off x="7406640" y="5029200"/>
            <a:ext cx="1463040" cy="822960"/>
          </a:xfrm>
          <a:prstGeom prst="rect">
            <a:avLst/>
          </a:prstGeom>
          <a:noFill/>
          <a:ln/>
        </p:spPr>
        <p:txBody>
          <a:bodyPr wrap="square" lIns="0" tIns="0" rIns="0" bIns="0" rtlCol="0" anchor="ctr"/>
          <a:lstStyle/>
          <a:p>
            <a:pPr indent="0" marL="0">
              <a:buNone/>
            </a:pPr>
            <a:r>
              <a:rPr lang="en-US" sz="1400" dirty="0">
                <a:solidFill>
                  <a:srgbClr val="5B6B7D"/>
                </a:solidFill>
                <a:latin typeface="Calibri" pitchFamily="34" charset="0"/>
                <a:ea typeface="Calibri" pitchFamily="34" charset="-122"/>
                <a:cs typeface="Calibri" pitchFamily="34" charset="-120"/>
              </a:rPr>
              <a:t>unique ASINs</a:t>
            </a:r>
            <a:endParaRPr lang="en-US" sz="1400" dirty="0"/>
          </a:p>
        </p:txBody>
      </p:sp>
      <p:sp>
        <p:nvSpPr>
          <p:cNvPr id="25" name="Text 19"/>
          <p:cNvSpPr txBox="1"/>
          <p:nvPr/>
        </p:nvSpPr>
        <p:spPr>
          <a:xfrm>
            <a:off x="9052560" y="5029200"/>
            <a:ext cx="1188720" cy="822960"/>
          </a:xfrm>
          <a:prstGeom prst="rect">
            <a:avLst/>
          </a:prstGeom>
          <a:noFill/>
          <a:ln/>
        </p:spPr>
        <p:txBody>
          <a:bodyPr wrap="square" lIns="0" tIns="0" rIns="0" bIns="0" rtlCol="0" anchor="ctr"/>
          <a:lstStyle/>
          <a:p>
            <a:pPr indent="0" marL="0">
              <a:buNone/>
            </a:pPr>
            <a:r>
              <a:rPr lang="en-US" sz="3600" b="1" dirty="0">
                <a:solidFill>
                  <a:srgbClr val="FF9900"/>
                </a:solidFill>
                <a:latin typeface="Cambria" pitchFamily="34" charset="0"/>
                <a:ea typeface="Cambria" pitchFamily="34" charset="-122"/>
                <a:cs typeface="Cambria" pitchFamily="34" charset="-120"/>
              </a:rPr>
              <a:t>USD</a:t>
            </a:r>
            <a:endParaRPr lang="en-US" sz="3600" dirty="0"/>
          </a:p>
        </p:txBody>
      </p:sp>
      <p:sp>
        <p:nvSpPr>
          <p:cNvPr id="26" name="Text 20"/>
          <p:cNvSpPr txBox="1"/>
          <p:nvPr/>
        </p:nvSpPr>
        <p:spPr>
          <a:xfrm>
            <a:off x="10241280" y="5029200"/>
            <a:ext cx="1463040" cy="822960"/>
          </a:xfrm>
          <a:prstGeom prst="rect">
            <a:avLst/>
          </a:prstGeom>
          <a:noFill/>
          <a:ln/>
        </p:spPr>
        <p:txBody>
          <a:bodyPr wrap="square" lIns="0" tIns="0" rIns="0" bIns="0" rtlCol="0" anchor="ctr"/>
          <a:lstStyle/>
          <a:p>
            <a:pPr indent="0" marL="0">
              <a:buNone/>
            </a:pPr>
            <a:r>
              <a:rPr lang="en-US" sz="1400" dirty="0">
                <a:solidFill>
                  <a:srgbClr val="5B6B7D"/>
                </a:solidFill>
                <a:latin typeface="Calibri" pitchFamily="34" charset="0"/>
                <a:ea typeface="Calibri" pitchFamily="34" charset="-122"/>
                <a:cs typeface="Calibri" pitchFamily="34" charset="-120"/>
              </a:rPr>
              <a:t>only currency</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42"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600"/>
                                        <p:tgtEl>
                                          <p:spTgt spid="2"/>
                                        </p:tgtEl>
                                      </p:cBhvr>
                                    </p:animEffect>
                                    <p:anim calcmode="lin" valueType="num">
                                      <p:cBhvr additive="base">
                                        <p:cTn id="13" dur="600" fill="hold"/>
                                        <p:tgtEl>
                                          <p:spTgt spid="2"/>
                                        </p:tgtEl>
                                        <p:attrNameLst>
                                          <p:attrName>ppt_y</p:attrName>
                                        </p:attrNameLst>
                                      </p:cBhvr>
                                      <p:tavLst>
                                        <p:tav tm="0">
                                          <p:val>
                                            <p:strVal val="#ppt_y+0.05"/>
                                          </p:val>
                                        </p:tav>
                                        <p:tav tm="100000">
                                          <p:val>
                                            <p:strVal val="#ppt_y"/>
                                          </p:val>
                                        </p:tav>
                                      </p:tavLst>
                                    </p:anim>
                                  </p:childTnLst>
                                </p:cTn>
                              </p:par>
                              <p:par>
                                <p:cTn id="16" presetID="42" presetClass="entr" presetSubtype="0" fill="hold" nodeType="withEffect">
                                  <p:stCondLst>
                                    <p:cond delay="88"/>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600"/>
                                        <p:tgtEl>
                                          <p:spTgt spid="4"/>
                                        </p:tgtEl>
                                      </p:cBhvr>
                                    </p:animEffect>
                                    <p:anim calcmode="lin" valueType="num">
                                      <p:cBhvr additive="base">
                                        <p:cTn id="19" dur="600" fill="hold"/>
                                        <p:tgtEl>
                                          <p:spTgt spid="4"/>
                                        </p:tgtEl>
                                        <p:attrNameLst>
                                          <p:attrName>ppt_y</p:attrName>
                                        </p:attrNameLst>
                                      </p:cBhvr>
                                      <p:tavLst>
                                        <p:tav tm="0">
                                          <p:val>
                                            <p:strVal val="#ppt_y+0.05"/>
                                          </p:val>
                                        </p:tav>
                                        <p:tav tm="100000">
                                          <p:val>
                                            <p:strVal val="#ppt_y"/>
                                          </p:val>
                                        </p:tav>
                                      </p:tavLst>
                                    </p:anim>
                                  </p:childTnLst>
                                </p:cTn>
                              </p:par>
                              <p:par>
                                <p:cTn id="22" presetID="42" presetClass="entr" presetSubtype="0" fill="hold" nodeType="withEffect">
                                  <p:stCondLst>
                                    <p:cond delay="176"/>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600"/>
                                        <p:tgtEl>
                                          <p:spTgt spid="5"/>
                                        </p:tgtEl>
                                      </p:cBhvr>
                                    </p:animEffect>
                                    <p:anim calcmode="lin" valueType="num">
                                      <p:cBhvr additive="base">
                                        <p:cTn id="25" dur="600" fill="hold"/>
                                        <p:tgtEl>
                                          <p:spTgt spid="5"/>
                                        </p:tgtEl>
                                        <p:attrNameLst>
                                          <p:attrName>ppt_y</p:attrName>
                                        </p:attrNameLst>
                                      </p:cBhvr>
                                      <p:tavLst>
                                        <p:tav tm="0">
                                          <p:val>
                                            <p:strVal val="#ppt_y+0.05"/>
                                          </p:val>
                                        </p:tav>
                                        <p:tav tm="100000">
                                          <p:val>
                                            <p:strVal val="#ppt_y"/>
                                          </p:val>
                                        </p:tav>
                                      </p:tavLst>
                                    </p:anim>
                                  </p:childTnLst>
                                </p:cTn>
                              </p:par>
                              <p:par>
                                <p:cTn id="28" presetID="42" presetClass="entr" presetSubtype="0" fill="hold" nodeType="withEffect">
                                  <p:stCondLst>
                                    <p:cond delay="264"/>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600"/>
                                        <p:tgtEl>
                                          <p:spTgt spid="6"/>
                                        </p:tgtEl>
                                      </p:cBhvr>
                                    </p:animEffect>
                                    <p:anim calcmode="lin" valueType="num">
                                      <p:cBhvr additive="base">
                                        <p:cTn id="31" dur="600" fill="hold"/>
                                        <p:tgtEl>
                                          <p:spTgt spid="6"/>
                                        </p:tgtEl>
                                        <p:attrNameLst>
                                          <p:attrName>ppt_y</p:attrName>
                                        </p:attrNameLst>
                                      </p:cBhvr>
                                      <p:tavLst>
                                        <p:tav tm="0">
                                          <p:val>
                                            <p:strVal val="#ppt_y+0.05"/>
                                          </p:val>
                                        </p:tav>
                                        <p:tav tm="100000">
                                          <p:val>
                                            <p:strVal val="#ppt_y"/>
                                          </p:val>
                                        </p:tav>
                                      </p:tavLst>
                                    </p:anim>
                                  </p:childTnLst>
                                </p:cTn>
                              </p:par>
                              <p:par>
                                <p:cTn id="34" presetID="42" presetClass="entr" presetSubtype="0" fill="hold" nodeType="withEffect">
                                  <p:stCondLst>
                                    <p:cond delay="352"/>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600"/>
                                        <p:tgtEl>
                                          <p:spTgt spid="7"/>
                                        </p:tgtEl>
                                      </p:cBhvr>
                                    </p:animEffect>
                                    <p:anim calcmode="lin" valueType="num">
                                      <p:cBhvr additive="base">
                                        <p:cTn id="37" dur="600" fill="hold"/>
                                        <p:tgtEl>
                                          <p:spTgt spid="7"/>
                                        </p:tgtEl>
                                        <p:attrNameLst>
                                          <p:attrName>ppt_y</p:attrName>
                                        </p:attrNameLst>
                                      </p:cBhvr>
                                      <p:tavLst>
                                        <p:tav tm="0">
                                          <p:val>
                                            <p:strVal val="#ppt_y+0.05"/>
                                          </p:val>
                                        </p:tav>
                                        <p:tav tm="100000">
                                          <p:val>
                                            <p:strVal val="#ppt_y"/>
                                          </p:val>
                                        </p:tav>
                                      </p:tavLst>
                                    </p:anim>
                                  </p:childTnLst>
                                </p:cTn>
                              </p:par>
                              <p:par>
                                <p:cTn id="40" presetID="42" presetClass="entr" presetSubtype="0" fill="hold" nodeType="withEffect">
                                  <p:stCondLst>
                                    <p:cond delay="44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600"/>
                                        <p:tgtEl>
                                          <p:spTgt spid="8"/>
                                        </p:tgtEl>
                                      </p:cBhvr>
                                    </p:animEffect>
                                    <p:anim calcmode="lin" valueType="num">
                                      <p:cBhvr additive="base">
                                        <p:cTn id="43" dur="600" fill="hold"/>
                                        <p:tgtEl>
                                          <p:spTgt spid="8"/>
                                        </p:tgtEl>
                                        <p:attrNameLst>
                                          <p:attrName>ppt_y</p:attrName>
                                        </p:attrNameLst>
                                      </p:cBhvr>
                                      <p:tavLst>
                                        <p:tav tm="0">
                                          <p:val>
                                            <p:strVal val="#ppt_y+0.05"/>
                                          </p:val>
                                        </p:tav>
                                        <p:tav tm="100000">
                                          <p:val>
                                            <p:strVal val="#ppt_y"/>
                                          </p:val>
                                        </p:tav>
                                      </p:tavLst>
                                    </p:anim>
                                  </p:childTnLst>
                                </p:cTn>
                              </p:par>
                              <p:par>
                                <p:cTn id="46" presetID="42" presetClass="entr" presetSubtype="0" fill="hold" nodeType="withEffect">
                                  <p:stCondLst>
                                    <p:cond delay="528"/>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600"/>
                                        <p:tgtEl>
                                          <p:spTgt spid="9"/>
                                        </p:tgtEl>
                                      </p:cBhvr>
                                    </p:animEffect>
                                    <p:anim calcmode="lin" valueType="num">
                                      <p:cBhvr additive="base">
                                        <p:cTn id="49" dur="600" fill="hold"/>
                                        <p:tgtEl>
                                          <p:spTgt spid="9"/>
                                        </p:tgtEl>
                                        <p:attrNameLst>
                                          <p:attrName>ppt_y</p:attrName>
                                        </p:attrNameLst>
                                      </p:cBhvr>
                                      <p:tavLst>
                                        <p:tav tm="0">
                                          <p:val>
                                            <p:strVal val="#ppt_y+0.05"/>
                                          </p:val>
                                        </p:tav>
                                        <p:tav tm="100000">
                                          <p:val>
                                            <p:strVal val="#ppt_y"/>
                                          </p:val>
                                        </p:tav>
                                      </p:tavLst>
                                    </p:anim>
                                  </p:childTnLst>
                                </p:cTn>
                              </p:par>
                              <p:par>
                                <p:cTn id="52" presetID="42" presetClass="entr" presetSubtype="0" fill="hold" nodeType="withEffect">
                                  <p:stCondLst>
                                    <p:cond delay="616"/>
                                  </p:stCondLst>
                                  <p:childTnLst>
                                    <p:set>
                                      <p:cBhvr>
                                        <p:cTn id="53" dur="1" fill="hold">
                                          <p:stCondLst>
                                            <p:cond delay="0"/>
                                          </p:stCondLst>
                                        </p:cTn>
                                        <p:tgtEl>
                                          <p:spTgt spid="10"/>
                                        </p:tgtEl>
                                        <p:attrNameLst>
                                          <p:attrName>style.visibility</p:attrName>
                                        </p:attrNameLst>
                                      </p:cBhvr>
                                      <p:to>
                                        <p:strVal val="visible"/>
                                      </p:to>
                                    </p:set>
                                    <p:animEffect transition="in" filter="fade">
                                      <p:cBhvr>
                                        <p:cTn id="54" dur="600"/>
                                        <p:tgtEl>
                                          <p:spTgt spid="10"/>
                                        </p:tgtEl>
                                      </p:cBhvr>
                                    </p:animEffect>
                                    <p:anim calcmode="lin" valueType="num">
                                      <p:cBhvr additive="base">
                                        <p:cTn id="55" dur="600" fill="hold"/>
                                        <p:tgtEl>
                                          <p:spTgt spid="10"/>
                                        </p:tgtEl>
                                        <p:attrNameLst>
                                          <p:attrName>ppt_y</p:attrName>
                                        </p:attrNameLst>
                                      </p:cBhvr>
                                      <p:tavLst>
                                        <p:tav tm="0">
                                          <p:val>
                                            <p:strVal val="#ppt_y+0.05"/>
                                          </p:val>
                                        </p:tav>
                                        <p:tav tm="100000">
                                          <p:val>
                                            <p:strVal val="#ppt_y"/>
                                          </p:val>
                                        </p:tav>
                                      </p:tavLst>
                                    </p:anim>
                                  </p:childTnLst>
                                </p:cTn>
                              </p:par>
                              <p:par>
                                <p:cTn id="58" presetID="42" presetClass="entr" presetSubtype="0" fill="hold" nodeType="withEffect">
                                  <p:stCondLst>
                                    <p:cond delay="704"/>
                                  </p:stCondLst>
                                  <p:childTnLst>
                                    <p:set>
                                      <p:cBhvr>
                                        <p:cTn id="59" dur="1" fill="hold">
                                          <p:stCondLst>
                                            <p:cond delay="0"/>
                                          </p:stCondLst>
                                        </p:cTn>
                                        <p:tgtEl>
                                          <p:spTgt spid="11"/>
                                        </p:tgtEl>
                                        <p:attrNameLst>
                                          <p:attrName>style.visibility</p:attrName>
                                        </p:attrNameLst>
                                      </p:cBhvr>
                                      <p:to>
                                        <p:strVal val="visible"/>
                                      </p:to>
                                    </p:set>
                                    <p:animEffect transition="in" filter="fade">
                                      <p:cBhvr>
                                        <p:cTn id="60" dur="600"/>
                                        <p:tgtEl>
                                          <p:spTgt spid="11"/>
                                        </p:tgtEl>
                                      </p:cBhvr>
                                    </p:animEffect>
                                    <p:anim calcmode="lin" valueType="num">
                                      <p:cBhvr additive="base">
                                        <p:cTn id="61" dur="600" fill="hold"/>
                                        <p:tgtEl>
                                          <p:spTgt spid="11"/>
                                        </p:tgtEl>
                                        <p:attrNameLst>
                                          <p:attrName>ppt_y</p:attrName>
                                        </p:attrNameLst>
                                      </p:cBhvr>
                                      <p:tavLst>
                                        <p:tav tm="0">
                                          <p:val>
                                            <p:strVal val="#ppt_y+0.05"/>
                                          </p:val>
                                        </p:tav>
                                        <p:tav tm="100000">
                                          <p:val>
                                            <p:strVal val="#ppt_y"/>
                                          </p:val>
                                        </p:tav>
                                      </p:tavLst>
                                    </p:anim>
                                  </p:childTnLst>
                                </p:cTn>
                              </p:par>
                              <p:par>
                                <p:cTn id="64" presetID="42" presetClass="entr" presetSubtype="0" fill="hold" nodeType="withEffect">
                                  <p:stCondLst>
                                    <p:cond delay="792"/>
                                  </p:stCondLst>
                                  <p:childTnLst>
                                    <p:set>
                                      <p:cBhvr>
                                        <p:cTn id="65" dur="1" fill="hold">
                                          <p:stCondLst>
                                            <p:cond delay="0"/>
                                          </p:stCondLst>
                                        </p:cTn>
                                        <p:tgtEl>
                                          <p:spTgt spid="12"/>
                                        </p:tgtEl>
                                        <p:attrNameLst>
                                          <p:attrName>style.visibility</p:attrName>
                                        </p:attrNameLst>
                                      </p:cBhvr>
                                      <p:to>
                                        <p:strVal val="visible"/>
                                      </p:to>
                                    </p:set>
                                    <p:animEffect transition="in" filter="fade">
                                      <p:cBhvr>
                                        <p:cTn id="66" dur="600"/>
                                        <p:tgtEl>
                                          <p:spTgt spid="12"/>
                                        </p:tgtEl>
                                      </p:cBhvr>
                                    </p:animEffect>
                                    <p:anim calcmode="lin" valueType="num">
                                      <p:cBhvr additive="base">
                                        <p:cTn id="67" dur="600" fill="hold"/>
                                        <p:tgtEl>
                                          <p:spTgt spid="12"/>
                                        </p:tgtEl>
                                        <p:attrNameLst>
                                          <p:attrName>ppt_y</p:attrName>
                                        </p:attrNameLst>
                                      </p:cBhvr>
                                      <p:tavLst>
                                        <p:tav tm="0">
                                          <p:val>
                                            <p:strVal val="#ppt_y+0.05"/>
                                          </p:val>
                                        </p:tav>
                                        <p:tav tm="100000">
                                          <p:val>
                                            <p:strVal val="#ppt_y"/>
                                          </p:val>
                                        </p:tav>
                                      </p:tavLst>
                                    </p:anim>
                                  </p:childTnLst>
                                </p:cTn>
                              </p:par>
                              <p:par>
                                <p:cTn id="70" presetID="42" presetClass="entr" presetSubtype="0" fill="hold" nodeType="withEffect">
                                  <p:stCondLst>
                                    <p:cond delay="880"/>
                                  </p:stCondLst>
                                  <p:childTnLst>
                                    <p:set>
                                      <p:cBhvr>
                                        <p:cTn id="71" dur="1" fill="hold">
                                          <p:stCondLst>
                                            <p:cond delay="0"/>
                                          </p:stCondLst>
                                        </p:cTn>
                                        <p:tgtEl>
                                          <p:spTgt spid="13"/>
                                        </p:tgtEl>
                                        <p:attrNameLst>
                                          <p:attrName>style.visibility</p:attrName>
                                        </p:attrNameLst>
                                      </p:cBhvr>
                                      <p:to>
                                        <p:strVal val="visible"/>
                                      </p:to>
                                    </p:set>
                                    <p:animEffect transition="in" filter="fade">
                                      <p:cBhvr>
                                        <p:cTn id="72" dur="600"/>
                                        <p:tgtEl>
                                          <p:spTgt spid="13"/>
                                        </p:tgtEl>
                                      </p:cBhvr>
                                    </p:animEffect>
                                    <p:anim calcmode="lin" valueType="num">
                                      <p:cBhvr additive="base">
                                        <p:cTn id="73" dur="600" fill="hold"/>
                                        <p:tgtEl>
                                          <p:spTgt spid="13"/>
                                        </p:tgtEl>
                                        <p:attrNameLst>
                                          <p:attrName>ppt_y</p:attrName>
                                        </p:attrNameLst>
                                      </p:cBhvr>
                                      <p:tavLst>
                                        <p:tav tm="0">
                                          <p:val>
                                            <p:strVal val="#ppt_y+0.05"/>
                                          </p:val>
                                        </p:tav>
                                        <p:tav tm="100000">
                                          <p:val>
                                            <p:strVal val="#ppt_y"/>
                                          </p:val>
                                        </p:tav>
                                      </p:tavLst>
                                    </p:anim>
                                  </p:childTnLst>
                                </p:cTn>
                              </p:par>
                              <p:par>
                                <p:cTn id="76" presetID="42" presetClass="entr" presetSubtype="0" fill="hold" nodeType="withEffect">
                                  <p:stCondLst>
                                    <p:cond delay="968"/>
                                  </p:stCondLst>
                                  <p:childTnLst>
                                    <p:set>
                                      <p:cBhvr>
                                        <p:cTn id="77" dur="1" fill="hold">
                                          <p:stCondLst>
                                            <p:cond delay="0"/>
                                          </p:stCondLst>
                                        </p:cTn>
                                        <p:tgtEl>
                                          <p:spTgt spid="14"/>
                                        </p:tgtEl>
                                        <p:attrNameLst>
                                          <p:attrName>style.visibility</p:attrName>
                                        </p:attrNameLst>
                                      </p:cBhvr>
                                      <p:to>
                                        <p:strVal val="visible"/>
                                      </p:to>
                                    </p:set>
                                    <p:animEffect transition="in" filter="fade">
                                      <p:cBhvr>
                                        <p:cTn id="78" dur="600"/>
                                        <p:tgtEl>
                                          <p:spTgt spid="14"/>
                                        </p:tgtEl>
                                      </p:cBhvr>
                                    </p:animEffect>
                                    <p:anim calcmode="lin" valueType="num">
                                      <p:cBhvr additive="base">
                                        <p:cTn id="79" dur="600" fill="hold"/>
                                        <p:tgtEl>
                                          <p:spTgt spid="14"/>
                                        </p:tgtEl>
                                        <p:attrNameLst>
                                          <p:attrName>ppt_y</p:attrName>
                                        </p:attrNameLst>
                                      </p:cBhvr>
                                      <p:tavLst>
                                        <p:tav tm="0">
                                          <p:val>
                                            <p:strVal val="#ppt_y+0.05"/>
                                          </p:val>
                                        </p:tav>
                                        <p:tav tm="100000">
                                          <p:val>
                                            <p:strVal val="#ppt_y"/>
                                          </p:val>
                                        </p:tav>
                                      </p:tavLst>
                                    </p:anim>
                                  </p:childTnLst>
                                </p:cTn>
                              </p:par>
                              <p:par>
                                <p:cTn id="82" presetID="42" presetClass="entr" presetSubtype="0" fill="hold" nodeType="withEffect">
                                  <p:stCondLst>
                                    <p:cond delay="1056"/>
                                  </p:stCondLst>
                                  <p:childTnLst>
                                    <p:set>
                                      <p:cBhvr>
                                        <p:cTn id="83" dur="1" fill="hold">
                                          <p:stCondLst>
                                            <p:cond delay="0"/>
                                          </p:stCondLst>
                                        </p:cTn>
                                        <p:tgtEl>
                                          <p:spTgt spid="15"/>
                                        </p:tgtEl>
                                        <p:attrNameLst>
                                          <p:attrName>style.visibility</p:attrName>
                                        </p:attrNameLst>
                                      </p:cBhvr>
                                      <p:to>
                                        <p:strVal val="visible"/>
                                      </p:to>
                                    </p:set>
                                    <p:animEffect transition="in" filter="fade">
                                      <p:cBhvr>
                                        <p:cTn id="84" dur="600"/>
                                        <p:tgtEl>
                                          <p:spTgt spid="15"/>
                                        </p:tgtEl>
                                      </p:cBhvr>
                                    </p:animEffect>
                                    <p:anim calcmode="lin" valueType="num">
                                      <p:cBhvr additive="base">
                                        <p:cTn id="85" dur="600" fill="hold"/>
                                        <p:tgtEl>
                                          <p:spTgt spid="15"/>
                                        </p:tgtEl>
                                        <p:attrNameLst>
                                          <p:attrName>ppt_y</p:attrName>
                                        </p:attrNameLst>
                                      </p:cBhvr>
                                      <p:tavLst>
                                        <p:tav tm="0">
                                          <p:val>
                                            <p:strVal val="#ppt_y+0.05"/>
                                          </p:val>
                                        </p:tav>
                                        <p:tav tm="100000">
                                          <p:val>
                                            <p:strVal val="#ppt_y"/>
                                          </p:val>
                                        </p:tav>
                                      </p:tavLst>
                                    </p:anim>
                                  </p:childTnLst>
                                </p:cTn>
                              </p:par>
                              <p:par>
                                <p:cTn id="88" presetID="42" presetClass="entr" presetSubtype="0" fill="hold" nodeType="withEffect">
                                  <p:stCondLst>
                                    <p:cond delay="1144"/>
                                  </p:stCondLst>
                                  <p:childTnLst>
                                    <p:set>
                                      <p:cBhvr>
                                        <p:cTn id="89" dur="1" fill="hold">
                                          <p:stCondLst>
                                            <p:cond delay="0"/>
                                          </p:stCondLst>
                                        </p:cTn>
                                        <p:tgtEl>
                                          <p:spTgt spid="16"/>
                                        </p:tgtEl>
                                        <p:attrNameLst>
                                          <p:attrName>style.visibility</p:attrName>
                                        </p:attrNameLst>
                                      </p:cBhvr>
                                      <p:to>
                                        <p:strVal val="visible"/>
                                      </p:to>
                                    </p:set>
                                    <p:animEffect transition="in" filter="fade">
                                      <p:cBhvr>
                                        <p:cTn id="90" dur="600"/>
                                        <p:tgtEl>
                                          <p:spTgt spid="16"/>
                                        </p:tgtEl>
                                      </p:cBhvr>
                                    </p:animEffect>
                                    <p:anim calcmode="lin" valueType="num">
                                      <p:cBhvr additive="base">
                                        <p:cTn id="91" dur="600" fill="hold"/>
                                        <p:tgtEl>
                                          <p:spTgt spid="16"/>
                                        </p:tgtEl>
                                        <p:attrNameLst>
                                          <p:attrName>ppt_y</p:attrName>
                                        </p:attrNameLst>
                                      </p:cBhvr>
                                      <p:tavLst>
                                        <p:tav tm="0">
                                          <p:val>
                                            <p:strVal val="#ppt_y+0.05"/>
                                          </p:val>
                                        </p:tav>
                                        <p:tav tm="100000">
                                          <p:val>
                                            <p:strVal val="#ppt_y"/>
                                          </p:val>
                                        </p:tav>
                                      </p:tavLst>
                                    </p:anim>
                                  </p:childTnLst>
                                </p:cTn>
                              </p:par>
                              <p:par>
                                <p:cTn id="94" presetID="42" presetClass="entr" presetSubtype="0" fill="hold" nodeType="withEffect">
                                  <p:stCondLst>
                                    <p:cond delay="1232"/>
                                  </p:stCondLst>
                                  <p:childTnLst>
                                    <p:set>
                                      <p:cBhvr>
                                        <p:cTn id="95" dur="1" fill="hold">
                                          <p:stCondLst>
                                            <p:cond delay="0"/>
                                          </p:stCondLst>
                                        </p:cTn>
                                        <p:tgtEl>
                                          <p:spTgt spid="17"/>
                                        </p:tgtEl>
                                        <p:attrNameLst>
                                          <p:attrName>style.visibility</p:attrName>
                                        </p:attrNameLst>
                                      </p:cBhvr>
                                      <p:to>
                                        <p:strVal val="visible"/>
                                      </p:to>
                                    </p:set>
                                    <p:animEffect transition="in" filter="fade">
                                      <p:cBhvr>
                                        <p:cTn id="96" dur="600"/>
                                        <p:tgtEl>
                                          <p:spTgt spid="17"/>
                                        </p:tgtEl>
                                      </p:cBhvr>
                                    </p:animEffect>
                                    <p:anim calcmode="lin" valueType="num">
                                      <p:cBhvr additive="base">
                                        <p:cTn id="97" dur="600" fill="hold"/>
                                        <p:tgtEl>
                                          <p:spTgt spid="17"/>
                                        </p:tgtEl>
                                        <p:attrNameLst>
                                          <p:attrName>ppt_y</p:attrName>
                                        </p:attrNameLst>
                                      </p:cBhvr>
                                      <p:tavLst>
                                        <p:tav tm="0">
                                          <p:val>
                                            <p:strVal val="#ppt_y+0.05"/>
                                          </p:val>
                                        </p:tav>
                                        <p:tav tm="100000">
                                          <p:val>
                                            <p:strVal val="#ppt_y"/>
                                          </p:val>
                                        </p:tav>
                                      </p:tavLst>
                                    </p:anim>
                                  </p:childTnLst>
                                </p:cTn>
                              </p:par>
                              <p:par>
                                <p:cTn id="100" presetID="42" presetClass="entr" presetSubtype="0" fill="hold" nodeType="withEffect">
                                  <p:stCondLst>
                                    <p:cond delay="1320"/>
                                  </p:stCondLst>
                                  <p:childTnLst>
                                    <p:set>
                                      <p:cBhvr>
                                        <p:cTn id="101" dur="1" fill="hold">
                                          <p:stCondLst>
                                            <p:cond delay="0"/>
                                          </p:stCondLst>
                                        </p:cTn>
                                        <p:tgtEl>
                                          <p:spTgt spid="18"/>
                                        </p:tgtEl>
                                        <p:attrNameLst>
                                          <p:attrName>style.visibility</p:attrName>
                                        </p:attrNameLst>
                                      </p:cBhvr>
                                      <p:to>
                                        <p:strVal val="visible"/>
                                      </p:to>
                                    </p:set>
                                    <p:animEffect transition="in" filter="fade">
                                      <p:cBhvr>
                                        <p:cTn id="102" dur="600"/>
                                        <p:tgtEl>
                                          <p:spTgt spid="18"/>
                                        </p:tgtEl>
                                      </p:cBhvr>
                                    </p:animEffect>
                                    <p:anim calcmode="lin" valueType="num">
                                      <p:cBhvr additive="base">
                                        <p:cTn id="103" dur="600" fill="hold"/>
                                        <p:tgtEl>
                                          <p:spTgt spid="18"/>
                                        </p:tgtEl>
                                        <p:attrNameLst>
                                          <p:attrName>ppt_y</p:attrName>
                                        </p:attrNameLst>
                                      </p:cBhvr>
                                      <p:tavLst>
                                        <p:tav tm="0">
                                          <p:val>
                                            <p:strVal val="#ppt_y+0.05"/>
                                          </p:val>
                                        </p:tav>
                                        <p:tav tm="100000">
                                          <p:val>
                                            <p:strVal val="#ppt_y"/>
                                          </p:val>
                                        </p:tav>
                                      </p:tavLst>
                                    </p:anim>
                                  </p:childTnLst>
                                </p:cTn>
                              </p:par>
                              <p:par>
                                <p:cTn id="106" presetID="42" presetClass="entr" presetSubtype="0" fill="hold" nodeType="withEffect">
                                  <p:stCondLst>
                                    <p:cond delay="1408"/>
                                  </p:stCondLst>
                                  <p:childTnLst>
                                    <p:set>
                                      <p:cBhvr>
                                        <p:cTn id="107" dur="1" fill="hold">
                                          <p:stCondLst>
                                            <p:cond delay="0"/>
                                          </p:stCondLst>
                                        </p:cTn>
                                        <p:tgtEl>
                                          <p:spTgt spid="19"/>
                                        </p:tgtEl>
                                        <p:attrNameLst>
                                          <p:attrName>style.visibility</p:attrName>
                                        </p:attrNameLst>
                                      </p:cBhvr>
                                      <p:to>
                                        <p:strVal val="visible"/>
                                      </p:to>
                                    </p:set>
                                    <p:animEffect transition="in" filter="fade">
                                      <p:cBhvr>
                                        <p:cTn id="108" dur="600"/>
                                        <p:tgtEl>
                                          <p:spTgt spid="19"/>
                                        </p:tgtEl>
                                      </p:cBhvr>
                                    </p:animEffect>
                                    <p:anim calcmode="lin" valueType="num">
                                      <p:cBhvr additive="base">
                                        <p:cTn id="109" dur="600" fill="hold"/>
                                        <p:tgtEl>
                                          <p:spTgt spid="19"/>
                                        </p:tgtEl>
                                        <p:attrNameLst>
                                          <p:attrName>ppt_y</p:attrName>
                                        </p:attrNameLst>
                                      </p:cBhvr>
                                      <p:tavLst>
                                        <p:tav tm="0">
                                          <p:val>
                                            <p:strVal val="#ppt_y+0.05"/>
                                          </p:val>
                                        </p:tav>
                                        <p:tav tm="100000">
                                          <p:val>
                                            <p:strVal val="#ppt_y"/>
                                          </p:val>
                                        </p:tav>
                                      </p:tavLst>
                                    </p:anim>
                                  </p:childTnLst>
                                </p:cTn>
                              </p:par>
                              <p:par>
                                <p:cTn id="112" presetID="42" presetClass="entr" presetSubtype="0" fill="hold" nodeType="withEffect">
                                  <p:stCondLst>
                                    <p:cond delay="1496"/>
                                  </p:stCondLst>
                                  <p:childTnLst>
                                    <p:set>
                                      <p:cBhvr>
                                        <p:cTn id="113" dur="1" fill="hold">
                                          <p:stCondLst>
                                            <p:cond delay="0"/>
                                          </p:stCondLst>
                                        </p:cTn>
                                        <p:tgtEl>
                                          <p:spTgt spid="20"/>
                                        </p:tgtEl>
                                        <p:attrNameLst>
                                          <p:attrName>style.visibility</p:attrName>
                                        </p:attrNameLst>
                                      </p:cBhvr>
                                      <p:to>
                                        <p:strVal val="visible"/>
                                      </p:to>
                                    </p:set>
                                    <p:animEffect transition="in" filter="fade">
                                      <p:cBhvr>
                                        <p:cTn id="114" dur="600"/>
                                        <p:tgtEl>
                                          <p:spTgt spid="20"/>
                                        </p:tgtEl>
                                      </p:cBhvr>
                                    </p:animEffect>
                                    <p:anim calcmode="lin" valueType="num">
                                      <p:cBhvr additive="base">
                                        <p:cTn id="115" dur="600" fill="hold"/>
                                        <p:tgtEl>
                                          <p:spTgt spid="20"/>
                                        </p:tgtEl>
                                        <p:attrNameLst>
                                          <p:attrName>ppt_y</p:attrName>
                                        </p:attrNameLst>
                                      </p:cBhvr>
                                      <p:tavLst>
                                        <p:tav tm="0">
                                          <p:val>
                                            <p:strVal val="#ppt_y+0.05"/>
                                          </p:val>
                                        </p:tav>
                                        <p:tav tm="100000">
                                          <p:val>
                                            <p:strVal val="#ppt_y"/>
                                          </p:val>
                                        </p:tav>
                                      </p:tavLst>
                                    </p:anim>
                                  </p:childTnLst>
                                </p:cTn>
                              </p:par>
                              <p:par>
                                <p:cTn id="118" presetID="42" presetClass="entr" presetSubtype="0" fill="hold" nodeType="withEffect">
                                  <p:stCondLst>
                                    <p:cond delay="1584"/>
                                  </p:stCondLst>
                                  <p:childTnLst>
                                    <p:set>
                                      <p:cBhvr>
                                        <p:cTn id="119" dur="1" fill="hold">
                                          <p:stCondLst>
                                            <p:cond delay="0"/>
                                          </p:stCondLst>
                                        </p:cTn>
                                        <p:tgtEl>
                                          <p:spTgt spid="21"/>
                                        </p:tgtEl>
                                        <p:attrNameLst>
                                          <p:attrName>style.visibility</p:attrName>
                                        </p:attrNameLst>
                                      </p:cBhvr>
                                      <p:to>
                                        <p:strVal val="visible"/>
                                      </p:to>
                                    </p:set>
                                    <p:animEffect transition="in" filter="fade">
                                      <p:cBhvr>
                                        <p:cTn id="120" dur="600"/>
                                        <p:tgtEl>
                                          <p:spTgt spid="21"/>
                                        </p:tgtEl>
                                      </p:cBhvr>
                                    </p:animEffect>
                                    <p:anim calcmode="lin" valueType="num">
                                      <p:cBhvr additive="base">
                                        <p:cTn id="121" dur="600" fill="hold"/>
                                        <p:tgtEl>
                                          <p:spTgt spid="21"/>
                                        </p:tgtEl>
                                        <p:attrNameLst>
                                          <p:attrName>ppt_y</p:attrName>
                                        </p:attrNameLst>
                                      </p:cBhvr>
                                      <p:tavLst>
                                        <p:tav tm="0">
                                          <p:val>
                                            <p:strVal val="#ppt_y+0.05"/>
                                          </p:val>
                                        </p:tav>
                                        <p:tav tm="100000">
                                          <p:val>
                                            <p:strVal val="#ppt_y"/>
                                          </p:val>
                                        </p:tav>
                                      </p:tavLst>
                                    </p:anim>
                                  </p:childTnLst>
                                </p:cTn>
                              </p:par>
                              <p:par>
                                <p:cTn id="124" presetID="42" presetClass="entr" presetSubtype="0" fill="hold" nodeType="withEffect">
                                  <p:stCondLst>
                                    <p:cond delay="1672"/>
                                  </p:stCondLst>
                                  <p:childTnLst>
                                    <p:set>
                                      <p:cBhvr>
                                        <p:cTn id="125" dur="1" fill="hold">
                                          <p:stCondLst>
                                            <p:cond delay="0"/>
                                          </p:stCondLst>
                                        </p:cTn>
                                        <p:tgtEl>
                                          <p:spTgt spid="22"/>
                                        </p:tgtEl>
                                        <p:attrNameLst>
                                          <p:attrName>style.visibility</p:attrName>
                                        </p:attrNameLst>
                                      </p:cBhvr>
                                      <p:to>
                                        <p:strVal val="visible"/>
                                      </p:to>
                                    </p:set>
                                    <p:animEffect transition="in" filter="fade">
                                      <p:cBhvr>
                                        <p:cTn id="126" dur="600"/>
                                        <p:tgtEl>
                                          <p:spTgt spid="22"/>
                                        </p:tgtEl>
                                      </p:cBhvr>
                                    </p:animEffect>
                                    <p:anim calcmode="lin" valueType="num">
                                      <p:cBhvr additive="base">
                                        <p:cTn id="127" dur="600" fill="hold"/>
                                        <p:tgtEl>
                                          <p:spTgt spid="22"/>
                                        </p:tgtEl>
                                        <p:attrNameLst>
                                          <p:attrName>ppt_y</p:attrName>
                                        </p:attrNameLst>
                                      </p:cBhvr>
                                      <p:tavLst>
                                        <p:tav tm="0">
                                          <p:val>
                                            <p:strVal val="#ppt_y+0.05"/>
                                          </p:val>
                                        </p:tav>
                                        <p:tav tm="100000">
                                          <p:val>
                                            <p:strVal val="#ppt_y"/>
                                          </p:val>
                                        </p:tav>
                                      </p:tavLst>
                                    </p:anim>
                                  </p:childTnLst>
                                </p:cTn>
                              </p:par>
                              <p:par>
                                <p:cTn id="130" presetID="42" presetClass="entr" presetSubtype="0" fill="hold" nodeType="withEffect">
                                  <p:stCondLst>
                                    <p:cond delay="1760"/>
                                  </p:stCondLst>
                                  <p:childTnLst>
                                    <p:set>
                                      <p:cBhvr>
                                        <p:cTn id="131" dur="1" fill="hold">
                                          <p:stCondLst>
                                            <p:cond delay="0"/>
                                          </p:stCondLst>
                                        </p:cTn>
                                        <p:tgtEl>
                                          <p:spTgt spid="23"/>
                                        </p:tgtEl>
                                        <p:attrNameLst>
                                          <p:attrName>style.visibility</p:attrName>
                                        </p:attrNameLst>
                                      </p:cBhvr>
                                      <p:to>
                                        <p:strVal val="visible"/>
                                      </p:to>
                                    </p:set>
                                    <p:animEffect transition="in" filter="fade">
                                      <p:cBhvr>
                                        <p:cTn id="132" dur="600"/>
                                        <p:tgtEl>
                                          <p:spTgt spid="23"/>
                                        </p:tgtEl>
                                      </p:cBhvr>
                                    </p:animEffect>
                                    <p:anim calcmode="lin" valueType="num">
                                      <p:cBhvr additive="base">
                                        <p:cTn id="133" dur="600" fill="hold"/>
                                        <p:tgtEl>
                                          <p:spTgt spid="23"/>
                                        </p:tgtEl>
                                        <p:attrNameLst>
                                          <p:attrName>ppt_y</p:attrName>
                                        </p:attrNameLst>
                                      </p:cBhvr>
                                      <p:tavLst>
                                        <p:tav tm="0">
                                          <p:val>
                                            <p:strVal val="#ppt_y+0.05"/>
                                          </p:val>
                                        </p:tav>
                                        <p:tav tm="100000">
                                          <p:val>
                                            <p:strVal val="#ppt_y"/>
                                          </p:val>
                                        </p:tav>
                                      </p:tavLst>
                                    </p:anim>
                                  </p:childTnLst>
                                </p:cTn>
                              </p:par>
                              <p:par>
                                <p:cTn id="136" presetID="42" presetClass="entr" presetSubtype="0" fill="hold" nodeType="withEffect">
                                  <p:stCondLst>
                                    <p:cond delay="1848"/>
                                  </p:stCondLst>
                                  <p:childTnLst>
                                    <p:set>
                                      <p:cBhvr>
                                        <p:cTn id="137" dur="1" fill="hold">
                                          <p:stCondLst>
                                            <p:cond delay="0"/>
                                          </p:stCondLst>
                                        </p:cTn>
                                        <p:tgtEl>
                                          <p:spTgt spid="24"/>
                                        </p:tgtEl>
                                        <p:attrNameLst>
                                          <p:attrName>style.visibility</p:attrName>
                                        </p:attrNameLst>
                                      </p:cBhvr>
                                      <p:to>
                                        <p:strVal val="visible"/>
                                      </p:to>
                                    </p:set>
                                    <p:animEffect transition="in" filter="fade">
                                      <p:cBhvr>
                                        <p:cTn id="138" dur="600"/>
                                        <p:tgtEl>
                                          <p:spTgt spid="24"/>
                                        </p:tgtEl>
                                      </p:cBhvr>
                                    </p:animEffect>
                                    <p:anim calcmode="lin" valueType="num">
                                      <p:cBhvr additive="base">
                                        <p:cTn id="139" dur="600" fill="hold"/>
                                        <p:tgtEl>
                                          <p:spTgt spid="24"/>
                                        </p:tgtEl>
                                        <p:attrNameLst>
                                          <p:attrName>ppt_y</p:attrName>
                                        </p:attrNameLst>
                                      </p:cBhvr>
                                      <p:tavLst>
                                        <p:tav tm="0">
                                          <p:val>
                                            <p:strVal val="#ppt_y+0.05"/>
                                          </p:val>
                                        </p:tav>
                                        <p:tav tm="100000">
                                          <p:val>
                                            <p:strVal val="#ppt_y"/>
                                          </p:val>
                                        </p:tav>
                                      </p:tavLst>
                                    </p:anim>
                                  </p:childTnLst>
                                </p:cTn>
                              </p:par>
                              <p:par>
                                <p:cTn id="142" presetID="42" presetClass="entr" presetSubtype="0" fill="hold" nodeType="withEffect">
                                  <p:stCondLst>
                                    <p:cond delay="1936"/>
                                  </p:stCondLst>
                                  <p:childTnLst>
                                    <p:set>
                                      <p:cBhvr>
                                        <p:cTn id="143" dur="1" fill="hold">
                                          <p:stCondLst>
                                            <p:cond delay="0"/>
                                          </p:stCondLst>
                                        </p:cTn>
                                        <p:tgtEl>
                                          <p:spTgt spid="25"/>
                                        </p:tgtEl>
                                        <p:attrNameLst>
                                          <p:attrName>style.visibility</p:attrName>
                                        </p:attrNameLst>
                                      </p:cBhvr>
                                      <p:to>
                                        <p:strVal val="visible"/>
                                      </p:to>
                                    </p:set>
                                    <p:animEffect transition="in" filter="fade">
                                      <p:cBhvr>
                                        <p:cTn id="144" dur="600"/>
                                        <p:tgtEl>
                                          <p:spTgt spid="25"/>
                                        </p:tgtEl>
                                      </p:cBhvr>
                                    </p:animEffect>
                                    <p:anim calcmode="lin" valueType="num">
                                      <p:cBhvr additive="base">
                                        <p:cTn id="145" dur="600" fill="hold"/>
                                        <p:tgtEl>
                                          <p:spTgt spid="25"/>
                                        </p:tgtEl>
                                        <p:attrNameLst>
                                          <p:attrName>ppt_y</p:attrName>
                                        </p:attrNameLst>
                                      </p:cBhvr>
                                      <p:tavLst>
                                        <p:tav tm="0">
                                          <p:val>
                                            <p:strVal val="#ppt_y+0.05"/>
                                          </p:val>
                                        </p:tav>
                                        <p:tav tm="100000">
                                          <p:val>
                                            <p:strVal val="#ppt_y"/>
                                          </p:val>
                                        </p:tav>
                                      </p:tavLst>
                                    </p:anim>
                                  </p:childTnLst>
                                </p:cTn>
                              </p:par>
                              <p:par>
                                <p:cTn id="148" presetID="42" presetClass="entr" presetSubtype="0" fill="hold" nodeType="withEffect">
                                  <p:stCondLst>
                                    <p:cond delay="2024"/>
                                  </p:stCondLst>
                                  <p:childTnLst>
                                    <p:set>
                                      <p:cBhvr>
                                        <p:cTn id="149" dur="1" fill="hold">
                                          <p:stCondLst>
                                            <p:cond delay="0"/>
                                          </p:stCondLst>
                                        </p:cTn>
                                        <p:tgtEl>
                                          <p:spTgt spid="26"/>
                                        </p:tgtEl>
                                        <p:attrNameLst>
                                          <p:attrName>style.visibility</p:attrName>
                                        </p:attrNameLst>
                                      </p:cBhvr>
                                      <p:to>
                                        <p:strVal val="visible"/>
                                      </p:to>
                                    </p:set>
                                    <p:animEffect transition="in" filter="fade">
                                      <p:cBhvr>
                                        <p:cTn id="150" dur="600"/>
                                        <p:tgtEl>
                                          <p:spTgt spid="26"/>
                                        </p:tgtEl>
                                      </p:cBhvr>
                                    </p:animEffect>
                                    <p:anim calcmode="lin" valueType="num">
                                      <p:cBhvr additive="base">
                                        <p:cTn id="151" dur="600" fill="hold"/>
                                        <p:tgtEl>
                                          <p:spTgt spid="26"/>
                                        </p:tgtEl>
                                        <p:attrNameLst>
                                          <p:attrName>ppt_y</p:attrName>
                                        </p:attrNameLst>
                                      </p:cBhvr>
                                      <p:tavLst>
                                        <p:tav tm="0">
                                          <p:val>
                                            <p:strVal val="#ppt_y+0.05"/>
                                          </p:val>
                                        </p:tav>
                                        <p:tav tm="100000">
                                          <p:val>
                                            <p:strVal val="#ppt_y"/>
                                          </p:val>
                                        </p:tav>
                                      </p:tavLst>
                                    </p:anim>
                                  </p:childTnLst>
                                </p:cTn>
                              </p:par>
                              <p:par>
                                <p:cTn id="154" presetID="42" presetClass="entr" presetSubtype="0" fill="hold" nodeType="withEffect">
                                  <p:stCondLst>
                                    <p:cond delay="2112"/>
                                  </p:stCondLst>
                                  <p:childTnLst>
                                    <p:set>
                                      <p:cBhvr>
                                        <p:cTn id="155" dur="1" fill="hold">
                                          <p:stCondLst>
                                            <p:cond delay="0"/>
                                          </p:stCondLst>
                                        </p:cTn>
                                        <p:tgtEl>
                                          <p:spTgt spid="25"/>
                                        </p:tgtEl>
                                        <p:attrNameLst>
                                          <p:attrName>style.visibility</p:attrName>
                                        </p:attrNameLst>
                                      </p:cBhvr>
                                      <p:to>
                                        <p:strVal val="visible"/>
                                      </p:to>
                                    </p:set>
                                    <p:animEffect transition="in" filter="fade">
                                      <p:cBhvr>
                                        <p:cTn id="156" dur="600"/>
                                        <p:tgtEl>
                                          <p:spTgt spid="25"/>
                                        </p:tgtEl>
                                      </p:cBhvr>
                                    </p:animEffect>
                                    <p:anim calcmode="lin" valueType="num">
                                      <p:cBhvr additive="base">
                                        <p:cTn id="157" dur="600" fill="hold"/>
                                        <p:tgtEl>
                                          <p:spTgt spid="25"/>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Meaning of each column (20 raw columns)</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103120"/>
                <a:gridCol w="4480560"/>
                <a:gridCol w="4507992"/>
              </a:tblGrid>
              <a:tr h="4572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Group</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232F3E"/>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Columns</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232F3E"/>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Meaning</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232F3E"/>
                    </a:solidFill>
                  </a:tcPr>
                </a:tc>
              </a:tr>
              <a:tr h="640080">
                <a:tc>
                  <a:txBody>
                    <a:bodyPr/>
                    <a:lstStyle/>
                    <a:p>
                      <a:pPr indent="0" marL="0">
                        <a:buNone/>
                      </a:pPr>
                      <a:r>
                        <a:rPr lang="en-US" sz="1500" b="1" dirty="0">
                          <a:solidFill>
                            <a:srgbClr val="232F3E"/>
                          </a:solidFill>
                          <a:latin typeface="Calibri" pitchFamily="34" charset="0"/>
                          <a:ea typeface="Calibri" pitchFamily="34" charset="-122"/>
                          <a:cs typeface="Calibri" pitchFamily="34" charset="-120"/>
                        </a:rPr>
                        <a:t>Identity (2)</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2F6"/>
                    </a:solidFill>
                  </a:tcPr>
                </a:tc>
                <a:tc>
                  <a:txBody>
                    <a:bodyPr/>
                    <a:lstStyle/>
                    <a:p>
                      <a:pPr indent="0" marL="0">
                        <a:buNone/>
                      </a:pPr>
                      <a:r>
                        <a:rPr lang="en-US" sz="1400" dirty="0">
                          <a:solidFill>
                            <a:srgbClr val="131A22"/>
                          </a:solidFill>
                          <a:latin typeface="Courier New" pitchFamily="34" charset="0"/>
                          <a:ea typeface="Courier New" pitchFamily="34" charset="-122"/>
                          <a:cs typeface="Courier New" pitchFamily="34" charset="-120"/>
                        </a:rPr>
                        <a:t>asin, product_title</a:t>
                      </a:r>
                      <a:endParaRPr lang="en-US" sz="1400" dirty="0">
                        <a:latin typeface="Courier New" charset="0"/>
                        <a:ea typeface="Courier New" charset="0"/>
                        <a:cs typeface="Courier New"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2F6"/>
                    </a:solidFill>
                  </a:tcPr>
                </a:tc>
                <a:tc>
                  <a:txBody>
                    <a:bodyPr/>
                    <a:lstStyle/>
                    <a:p>
                      <a:pPr indent="0" marL="0">
                        <a:buNone/>
                      </a:pPr>
                      <a:r>
                        <a:rPr lang="en-US" sz="1500" dirty="0">
                          <a:solidFill>
                            <a:srgbClr val="131A22"/>
                          </a:solidFill>
                          <a:latin typeface="Calibri" pitchFamily="34" charset="0"/>
                          <a:ea typeface="Calibri" pitchFamily="34" charset="-122"/>
                          <a:cs typeface="Calibri" pitchFamily="34" charset="-120"/>
                        </a:rPr>
                        <a:t>Unique Amazon product ID and the listing name.</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2F6"/>
                    </a:solidFill>
                  </a:tcPr>
                </a:tc>
              </a:tr>
              <a:tr h="1005840">
                <a:tc>
                  <a:txBody>
                    <a:bodyPr/>
                    <a:lstStyle/>
                    <a:p>
                      <a:pPr indent="0" marL="0">
                        <a:buNone/>
                      </a:pPr>
                      <a:r>
                        <a:rPr lang="en-US" sz="1500" b="1" dirty="0">
                          <a:solidFill>
                            <a:srgbClr val="232F3E"/>
                          </a:solidFill>
                          <a:latin typeface="Calibri" pitchFamily="34" charset="0"/>
                          <a:ea typeface="Calibri" pitchFamily="34" charset="-122"/>
                          <a:cs typeface="Calibri" pitchFamily="34" charset="-120"/>
                        </a:rPr>
                        <a:t>Pricing (6)</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400" dirty="0">
                          <a:solidFill>
                            <a:srgbClr val="131A22"/>
                          </a:solidFill>
                          <a:latin typeface="Courier New" pitchFamily="34" charset="0"/>
                          <a:ea typeface="Courier New" pitchFamily="34" charset="-122"/>
                          <a:cs typeface="Courier New" pitchFamily="34" charset="-120"/>
                        </a:rPr>
                        <a:t>product_price, product_original_price, product_minimum_offer_price, unit_price, unit_count, currency</a:t>
                      </a:r>
                      <a:endParaRPr lang="en-US" sz="1400" dirty="0">
                        <a:latin typeface="Courier New" charset="0"/>
                        <a:ea typeface="Courier New" charset="0"/>
                        <a:cs typeface="Courier New"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rgbClr val="131A22"/>
                          </a:solidFill>
                          <a:latin typeface="Calibri" pitchFamily="34" charset="0"/>
                          <a:ea typeface="Calibri" pitchFamily="34" charset="-122"/>
                          <a:cs typeface="Calibri" pitchFamily="34" charset="-120"/>
                        </a:rPr>
                        <a:t>Current, list and lowest-offer price (text with “$”), price per unit, unit count and currency (USD).</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640080">
                <a:tc>
                  <a:txBody>
                    <a:bodyPr/>
                    <a:lstStyle/>
                    <a:p>
                      <a:pPr indent="0" marL="0">
                        <a:buNone/>
                      </a:pPr>
                      <a:r>
                        <a:rPr lang="en-US" sz="1500" b="1" dirty="0">
                          <a:solidFill>
                            <a:srgbClr val="232F3E"/>
                          </a:solidFill>
                          <a:latin typeface="Calibri" pitchFamily="34" charset="0"/>
                          <a:ea typeface="Calibri" pitchFamily="34" charset="-122"/>
                          <a:cs typeface="Calibri" pitchFamily="34" charset="-120"/>
                        </a:rPr>
                        <a:t>Customer feedback (2)</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2F6"/>
                    </a:solidFill>
                  </a:tcPr>
                </a:tc>
                <a:tc>
                  <a:txBody>
                    <a:bodyPr/>
                    <a:lstStyle/>
                    <a:p>
                      <a:pPr indent="0" marL="0">
                        <a:buNone/>
                      </a:pPr>
                      <a:r>
                        <a:rPr lang="en-US" sz="1400" dirty="0">
                          <a:solidFill>
                            <a:srgbClr val="131A22"/>
                          </a:solidFill>
                          <a:latin typeface="Courier New" pitchFamily="34" charset="0"/>
                          <a:ea typeface="Courier New" pitchFamily="34" charset="-122"/>
                          <a:cs typeface="Courier New" pitchFamily="34" charset="-120"/>
                        </a:rPr>
                        <a:t>product_star_rating, product_num_ratings</a:t>
                      </a:r>
                      <a:endParaRPr lang="en-US" sz="1400" dirty="0">
                        <a:latin typeface="Courier New" charset="0"/>
                        <a:ea typeface="Courier New" charset="0"/>
                        <a:cs typeface="Courier New"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2F6"/>
                    </a:solidFill>
                  </a:tcPr>
                </a:tc>
                <a:tc>
                  <a:txBody>
                    <a:bodyPr/>
                    <a:lstStyle/>
                    <a:p>
                      <a:pPr indent="0" marL="0">
                        <a:buNone/>
                      </a:pPr>
                      <a:r>
                        <a:rPr lang="en-US" sz="1500" dirty="0">
                          <a:solidFill>
                            <a:srgbClr val="131A22"/>
                          </a:solidFill>
                          <a:latin typeface="Calibri" pitchFamily="34" charset="0"/>
                          <a:ea typeface="Calibri" pitchFamily="34" charset="-122"/>
                          <a:cs typeface="Calibri" pitchFamily="34" charset="-120"/>
                        </a:rPr>
                        <a:t>Average stars (1–5) and the number of customer ratings.</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2F6"/>
                    </a:solidFill>
                  </a:tcPr>
                </a:tc>
              </a:tr>
              <a:tr h="1051560">
                <a:tc>
                  <a:txBody>
                    <a:bodyPr/>
                    <a:lstStyle/>
                    <a:p>
                      <a:pPr indent="0" marL="0">
                        <a:buNone/>
                      </a:pPr>
                      <a:r>
                        <a:rPr lang="en-US" sz="1500" b="1" dirty="0">
                          <a:solidFill>
                            <a:srgbClr val="232F3E"/>
                          </a:solidFill>
                          <a:latin typeface="Calibri" pitchFamily="34" charset="0"/>
                          <a:ea typeface="Calibri" pitchFamily="34" charset="-122"/>
                          <a:cs typeface="Calibri" pitchFamily="34" charset="-120"/>
                        </a:rPr>
                        <a:t>Marketplace badges (6)</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400" dirty="0">
                          <a:solidFill>
                            <a:srgbClr val="131A22"/>
                          </a:solidFill>
                          <a:latin typeface="Courier New" pitchFamily="34" charset="0"/>
                          <a:ea typeface="Courier New" pitchFamily="34" charset="-122"/>
                          <a:cs typeface="Courier New" pitchFamily="34" charset="-120"/>
                        </a:rPr>
                        <a:t>product_num_offers, is_best_seller, is_amazon_choice, is_prime, climate_pledge_friendly, has_variations</a:t>
                      </a:r>
                      <a:endParaRPr lang="en-US" sz="1400" dirty="0">
                        <a:latin typeface="Courier New" charset="0"/>
                        <a:ea typeface="Courier New" charset="0"/>
                        <a:cs typeface="Courier New"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rgbClr val="131A22"/>
                          </a:solidFill>
                          <a:latin typeface="Calibri" pitchFamily="34" charset="0"/>
                          <a:ea typeface="Calibri" pitchFamily="34" charset="-122"/>
                          <a:cs typeface="Calibri" pitchFamily="34" charset="-120"/>
                        </a:rPr>
                        <a:t>Number of offers, plus True/False flags for Best Seller, Amazon’s Choice, Prime, Climate Pledge Friendly and variations.</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868680">
                <a:tc>
                  <a:txBody>
                    <a:bodyPr/>
                    <a:lstStyle/>
                    <a:p>
                      <a:pPr indent="0" marL="0">
                        <a:buNone/>
                      </a:pPr>
                      <a:r>
                        <a:rPr lang="en-US" sz="1500" b="1" dirty="0">
                          <a:solidFill>
                            <a:srgbClr val="232F3E"/>
                          </a:solidFill>
                          <a:latin typeface="Calibri" pitchFamily="34" charset="0"/>
                          <a:ea typeface="Calibri" pitchFamily="34" charset="-122"/>
                          <a:cs typeface="Calibri" pitchFamily="34" charset="-120"/>
                        </a:rPr>
                        <a:t>Popularity &amp; promo (4)</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2F6"/>
                    </a:solidFill>
                  </a:tcPr>
                </a:tc>
                <a:tc>
                  <a:txBody>
                    <a:bodyPr/>
                    <a:lstStyle/>
                    <a:p>
                      <a:pPr indent="0" marL="0">
                        <a:buNone/>
                      </a:pPr>
                      <a:r>
                        <a:rPr lang="en-US" sz="1400" dirty="0">
                          <a:solidFill>
                            <a:srgbClr val="131A22"/>
                          </a:solidFill>
                          <a:latin typeface="Courier New" pitchFamily="34" charset="0"/>
                          <a:ea typeface="Courier New" pitchFamily="34" charset="-122"/>
                          <a:cs typeface="Courier New" pitchFamily="34" charset="-120"/>
                        </a:rPr>
                        <a:t>sales_volume, product_availability, delivery, coupon_text</a:t>
                      </a:r>
                      <a:endParaRPr lang="en-US" sz="1400" dirty="0">
                        <a:latin typeface="Courier New" charset="0"/>
                        <a:ea typeface="Courier New" charset="0"/>
                        <a:cs typeface="Courier New"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2F6"/>
                    </a:solidFill>
                  </a:tcPr>
                </a:tc>
                <a:tc>
                  <a:txBody>
                    <a:bodyPr/>
                    <a:lstStyle/>
                    <a:p>
                      <a:pPr indent="0" marL="0">
                        <a:buNone/>
                      </a:pPr>
                      <a:r>
                        <a:rPr lang="en-US" sz="1500" dirty="0">
                          <a:solidFill>
                            <a:srgbClr val="131A22"/>
                          </a:solidFill>
                          <a:latin typeface="Calibri" pitchFamily="34" charset="0"/>
                          <a:ea typeface="Calibri" pitchFamily="34" charset="-122"/>
                          <a:cs typeface="Calibri" pitchFamily="34" charset="-120"/>
                        </a:rPr>
                        <a:t>“4K+ bought in past month” text, stock message, delivery promise and coupon wording.</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2F6"/>
                    </a:solidFill>
                  </a:tcPr>
                </a:tc>
              </a:tr>
            </a:tbl>
          </a:graphicData>
        </a:graphic>
      </p:graphicFrame>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42"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600"/>
                                        <p:tgtEl>
                                          <p:spTgt spid="2"/>
                                        </p:tgtEl>
                                      </p:cBhvr>
                                    </p:animEffect>
                                    <p:anim calcmode="lin" valueType="num">
                                      <p:cBhvr additive="base">
                                        <p:cTn id="13" dur="600" fill="hold"/>
                                        <p:tgtEl>
                                          <p:spTgt spid="2"/>
                                        </p:tgtEl>
                                        <p:attrNameLst>
                                          <p:attrName>ppt_y</p:attrName>
                                        </p:attrNameLst>
                                      </p:cBhvr>
                                      <p:tavLst>
                                        <p:tav tm="0">
                                          <p:val>
                                            <p:strVal val="#ppt_y+0.05"/>
                                          </p:val>
                                        </p:tav>
                                        <p:tav tm="100000">
                                          <p:val>
                                            <p:strVal val="#ppt_y"/>
                                          </p:val>
                                        </p:tav>
                                      </p:tavLst>
                                    </p:anim>
                                  </p:childTnLst>
                                </p:cTn>
                              </p:par>
                              <p:par>
                                <p:cTn id="16" presetID="42" presetClass="entr" presetSubtype="0" fill="hold" nodeType="withEffect">
                                  <p:stCondLst>
                                    <p:cond delay="13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600"/>
                                        <p:tgtEl>
                                          <p:spTgt spid="5"/>
                                        </p:tgtEl>
                                      </p:cBhvr>
                                    </p:animEffect>
                                    <p:anim calcmode="lin" valueType="num">
                                      <p:cBhvr additive="base">
                                        <p:cTn id="19" dur="600" fill="hold"/>
                                        <p:tgtEl>
                                          <p:spTgt spid="5"/>
                                        </p:tgtEl>
                                        <p:attrNameLst>
                                          <p:attrName>ppt_y</p:attrName>
                                        </p:attrNameLst>
                                      </p:cBhvr>
                                      <p:tavLst>
                                        <p:tav tm="0">
                                          <p:val>
                                            <p:strVal val="#ppt_y+0.05"/>
                                          </p:val>
                                        </p:tav>
                                        <p:tav tm="100000">
                                          <p:val>
                                            <p:strVal val="#ppt_y"/>
                                          </p:val>
                                        </p:tav>
                                      </p:tavLst>
                                    </p:anim>
                                  </p:childTnLst>
                                </p:cTn>
                              </p:par>
                              <p:par>
                                <p:cTn id="22" presetID="42" presetClass="entr" presetSubtype="0" fill="hold" nodeType="withEffect">
                                  <p:stCondLst>
                                    <p:cond delay="26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600"/>
                                        <p:tgtEl>
                                          <p:spTgt spid="25"/>
                                        </p:tgtEl>
                                      </p:cBhvr>
                                    </p:animEffect>
                                    <p:anim calcmode="lin" valueType="num">
                                      <p:cBhvr additive="base">
                                        <p:cTn id="25" dur="600" fill="hold"/>
                                        <p:tgtEl>
                                          <p:spTgt spid="25"/>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11 columns we created during cleaning</a:t>
            </a:r>
            <a:endParaRPr lang="en-US" sz="3000" dirty="0"/>
          </a:p>
        </p:txBody>
      </p:sp>
      <p:sp>
        <p:nvSpPr>
          <p:cNvPr id="4" name="column card"/>
          <p:cNvSpPr/>
          <p:nvPr/>
        </p:nvSpPr>
        <p:spPr>
          <a:xfrm>
            <a:off x="548640" y="1371600"/>
            <a:ext cx="3593592" cy="1051560"/>
          </a:xfrm>
          <a:prstGeom prst="roundRect">
            <a:avLst>
              <a:gd name="adj" fmla="val 10435"/>
            </a:avLst>
          </a:prstGeom>
          <a:solidFill>
            <a:srgbClr val="EEF2F6"/>
          </a:solidFill>
          <a:ln w="12700">
            <a:solidFill>
              <a:srgbClr val="EEF2F6"/>
            </a:solidFill>
            <a:prstDash val="solid"/>
          </a:ln>
        </p:spPr>
      </p:sp>
      <p:sp>
        <p:nvSpPr>
          <p:cNvPr id="5" name="Text 2"/>
          <p:cNvSpPr txBox="1"/>
          <p:nvPr/>
        </p:nvSpPr>
        <p:spPr>
          <a:xfrm>
            <a:off x="731520" y="1481328"/>
            <a:ext cx="3246120" cy="320040"/>
          </a:xfrm>
          <a:prstGeom prst="rect">
            <a:avLst/>
          </a:prstGeom>
          <a:noFill/>
          <a:ln/>
        </p:spPr>
        <p:txBody>
          <a:bodyPr wrap="square" lIns="0" tIns="0" rIns="0" bIns="0" rtlCol="0" anchor="t"/>
          <a:lstStyle/>
          <a:p>
            <a:pPr indent="0" marL="0">
              <a:buNone/>
            </a:pPr>
            <a:r>
              <a:rPr lang="en-US" sz="1400" b="1" dirty="0">
                <a:solidFill>
                  <a:srgbClr val="232F3E"/>
                </a:solidFill>
                <a:latin typeface="Calibri" pitchFamily="34" charset="0"/>
                <a:ea typeface="Calibri" pitchFamily="34" charset="-122"/>
                <a:cs typeface="Calibri" pitchFamily="34" charset="-120"/>
              </a:rPr>
              <a:t>product_price_num</a:t>
            </a:r>
            <a:endParaRPr lang="en-US" sz="1400" dirty="0"/>
          </a:p>
        </p:txBody>
      </p:sp>
      <p:sp>
        <p:nvSpPr>
          <p:cNvPr id="6" name="Text 3"/>
          <p:cNvSpPr txBox="1"/>
          <p:nvPr/>
        </p:nvSpPr>
        <p:spPr>
          <a:xfrm>
            <a:off x="731520" y="1828800"/>
            <a:ext cx="3246120" cy="548640"/>
          </a:xfrm>
          <a:prstGeom prst="rect">
            <a:avLst/>
          </a:prstGeom>
          <a:noFill/>
          <a:ln/>
        </p:spPr>
        <p:txBody>
          <a:bodyPr wrap="square" lIns="0" tIns="0" rIns="0" bIns="0" rtlCol="0" anchor="t"/>
          <a:lstStyle/>
          <a:p>
            <a:pPr indent="0" marL="0">
              <a:buNone/>
            </a:pPr>
            <a:r>
              <a:rPr lang="en-US" sz="1300" dirty="0">
                <a:solidFill>
                  <a:srgbClr val="131A22"/>
                </a:solidFill>
                <a:latin typeface="Calibri" pitchFamily="34" charset="0"/>
                <a:ea typeface="Calibri" pitchFamily="34" charset="-122"/>
                <a:cs typeface="Calibri" pitchFamily="34" charset="-120"/>
              </a:rPr>
              <a:t>Current price as a number (regex removes “$” and commas)</a:t>
            </a:r>
            <a:endParaRPr lang="en-US" sz="1300" dirty="0"/>
          </a:p>
        </p:txBody>
      </p:sp>
      <p:sp>
        <p:nvSpPr>
          <p:cNvPr id="7" name="column card"/>
          <p:cNvSpPr/>
          <p:nvPr/>
        </p:nvSpPr>
        <p:spPr>
          <a:xfrm>
            <a:off x="4297680" y="1371600"/>
            <a:ext cx="3593592" cy="1051560"/>
          </a:xfrm>
          <a:prstGeom prst="roundRect">
            <a:avLst>
              <a:gd name="adj" fmla="val 10435"/>
            </a:avLst>
          </a:prstGeom>
          <a:solidFill>
            <a:srgbClr val="EEF2F6"/>
          </a:solidFill>
          <a:ln w="12700">
            <a:solidFill>
              <a:srgbClr val="EEF2F6"/>
            </a:solidFill>
            <a:prstDash val="solid"/>
          </a:ln>
        </p:spPr>
      </p:sp>
      <p:sp>
        <p:nvSpPr>
          <p:cNvPr id="8" name="Text 5"/>
          <p:cNvSpPr txBox="1"/>
          <p:nvPr/>
        </p:nvSpPr>
        <p:spPr>
          <a:xfrm>
            <a:off x="4480560" y="1481328"/>
            <a:ext cx="3246120" cy="320040"/>
          </a:xfrm>
          <a:prstGeom prst="rect">
            <a:avLst/>
          </a:prstGeom>
          <a:noFill/>
          <a:ln/>
        </p:spPr>
        <p:txBody>
          <a:bodyPr wrap="square" lIns="0" tIns="0" rIns="0" bIns="0" rtlCol="0" anchor="t"/>
          <a:lstStyle/>
          <a:p>
            <a:pPr indent="0" marL="0">
              <a:buNone/>
            </a:pPr>
            <a:r>
              <a:rPr lang="en-US" sz="1400" b="1" dirty="0">
                <a:solidFill>
                  <a:srgbClr val="232F3E"/>
                </a:solidFill>
                <a:latin typeface="Calibri" pitchFamily="34" charset="0"/>
                <a:ea typeface="Calibri" pitchFamily="34" charset="-122"/>
                <a:cs typeface="Calibri" pitchFamily="34" charset="-120"/>
              </a:rPr>
              <a:t>product_original_price_num</a:t>
            </a:r>
            <a:endParaRPr lang="en-US" sz="1400" dirty="0"/>
          </a:p>
        </p:txBody>
      </p:sp>
      <p:sp>
        <p:nvSpPr>
          <p:cNvPr id="9" name="Text 6"/>
          <p:cNvSpPr txBox="1"/>
          <p:nvPr/>
        </p:nvSpPr>
        <p:spPr>
          <a:xfrm>
            <a:off x="4480560" y="1828800"/>
            <a:ext cx="3246120" cy="548640"/>
          </a:xfrm>
          <a:prstGeom prst="rect">
            <a:avLst/>
          </a:prstGeom>
          <a:noFill/>
          <a:ln/>
        </p:spPr>
        <p:txBody>
          <a:bodyPr wrap="square" lIns="0" tIns="0" rIns="0" bIns="0" rtlCol="0" anchor="t"/>
          <a:lstStyle/>
          <a:p>
            <a:pPr indent="0" marL="0">
              <a:buNone/>
            </a:pPr>
            <a:r>
              <a:rPr lang="en-US" sz="1300" dirty="0">
                <a:solidFill>
                  <a:srgbClr val="131A22"/>
                </a:solidFill>
                <a:latin typeface="Calibri" pitchFamily="34" charset="0"/>
                <a:ea typeface="Calibri" pitchFamily="34" charset="-122"/>
                <a:cs typeface="Calibri" pitchFamily="34" charset="-120"/>
              </a:rPr>
              <a:t>List price as a number, when shown</a:t>
            </a:r>
            <a:endParaRPr lang="en-US" sz="1300" dirty="0"/>
          </a:p>
        </p:txBody>
      </p:sp>
      <p:sp>
        <p:nvSpPr>
          <p:cNvPr id="10" name="column card"/>
          <p:cNvSpPr/>
          <p:nvPr/>
        </p:nvSpPr>
        <p:spPr>
          <a:xfrm>
            <a:off x="8046720" y="1371600"/>
            <a:ext cx="3593592" cy="1051560"/>
          </a:xfrm>
          <a:prstGeom prst="roundRect">
            <a:avLst>
              <a:gd name="adj" fmla="val 10435"/>
            </a:avLst>
          </a:prstGeom>
          <a:solidFill>
            <a:srgbClr val="EEF2F6"/>
          </a:solidFill>
          <a:ln w="12700">
            <a:solidFill>
              <a:srgbClr val="EEF2F6"/>
            </a:solidFill>
            <a:prstDash val="solid"/>
          </a:ln>
        </p:spPr>
      </p:sp>
      <p:sp>
        <p:nvSpPr>
          <p:cNvPr id="11" name="Text 8"/>
          <p:cNvSpPr txBox="1"/>
          <p:nvPr/>
        </p:nvSpPr>
        <p:spPr>
          <a:xfrm>
            <a:off x="8229600" y="1481328"/>
            <a:ext cx="3246120" cy="320040"/>
          </a:xfrm>
          <a:prstGeom prst="rect">
            <a:avLst/>
          </a:prstGeom>
          <a:noFill/>
          <a:ln/>
        </p:spPr>
        <p:txBody>
          <a:bodyPr wrap="square" lIns="0" tIns="0" rIns="0" bIns="0" rtlCol="0" anchor="t"/>
          <a:lstStyle/>
          <a:p>
            <a:pPr indent="0" marL="0">
              <a:buNone/>
            </a:pPr>
            <a:r>
              <a:rPr lang="en-US" sz="1400" b="1" dirty="0">
                <a:solidFill>
                  <a:srgbClr val="232F3E"/>
                </a:solidFill>
                <a:latin typeface="Calibri" pitchFamily="34" charset="0"/>
                <a:ea typeface="Calibri" pitchFamily="34" charset="-122"/>
                <a:cs typeface="Calibri" pitchFamily="34" charset="-120"/>
              </a:rPr>
              <a:t>product_minimum_offer_price_num</a:t>
            </a:r>
            <a:endParaRPr lang="en-US" sz="1400" dirty="0"/>
          </a:p>
        </p:txBody>
      </p:sp>
      <p:sp>
        <p:nvSpPr>
          <p:cNvPr id="12" name="Text 9"/>
          <p:cNvSpPr txBox="1"/>
          <p:nvPr/>
        </p:nvSpPr>
        <p:spPr>
          <a:xfrm>
            <a:off x="8229600" y="1828800"/>
            <a:ext cx="3246120" cy="548640"/>
          </a:xfrm>
          <a:prstGeom prst="rect">
            <a:avLst/>
          </a:prstGeom>
          <a:noFill/>
          <a:ln/>
        </p:spPr>
        <p:txBody>
          <a:bodyPr wrap="square" lIns="0" tIns="0" rIns="0" bIns="0" rtlCol="0" anchor="t"/>
          <a:lstStyle/>
          <a:p>
            <a:pPr indent="0" marL="0">
              <a:buNone/>
            </a:pPr>
            <a:r>
              <a:rPr lang="en-US" sz="1300" dirty="0">
                <a:solidFill>
                  <a:srgbClr val="131A22"/>
                </a:solidFill>
                <a:latin typeface="Calibri" pitchFamily="34" charset="0"/>
                <a:ea typeface="Calibri" pitchFamily="34" charset="-122"/>
                <a:cs typeface="Calibri" pitchFamily="34" charset="-120"/>
              </a:rPr>
              <a:t>Lowest offer price as a number</a:t>
            </a:r>
            <a:endParaRPr lang="en-US" sz="1300" dirty="0"/>
          </a:p>
        </p:txBody>
      </p:sp>
      <p:sp>
        <p:nvSpPr>
          <p:cNvPr id="13" name="column card"/>
          <p:cNvSpPr/>
          <p:nvPr/>
        </p:nvSpPr>
        <p:spPr>
          <a:xfrm>
            <a:off x="548640" y="2560320"/>
            <a:ext cx="3593592" cy="1051560"/>
          </a:xfrm>
          <a:prstGeom prst="roundRect">
            <a:avLst>
              <a:gd name="adj" fmla="val 10435"/>
            </a:avLst>
          </a:prstGeom>
          <a:solidFill>
            <a:srgbClr val="EEF2F6"/>
          </a:solidFill>
          <a:ln w="12700">
            <a:solidFill>
              <a:srgbClr val="EEF2F6"/>
            </a:solidFill>
            <a:prstDash val="solid"/>
          </a:ln>
        </p:spPr>
      </p:sp>
      <p:sp>
        <p:nvSpPr>
          <p:cNvPr id="14" name="Text 11"/>
          <p:cNvSpPr txBox="1"/>
          <p:nvPr/>
        </p:nvSpPr>
        <p:spPr>
          <a:xfrm>
            <a:off x="731520" y="2670048"/>
            <a:ext cx="3246120" cy="320040"/>
          </a:xfrm>
          <a:prstGeom prst="rect">
            <a:avLst/>
          </a:prstGeom>
          <a:noFill/>
          <a:ln/>
        </p:spPr>
        <p:txBody>
          <a:bodyPr wrap="square" lIns="0" tIns="0" rIns="0" bIns="0" rtlCol="0" anchor="t"/>
          <a:lstStyle/>
          <a:p>
            <a:pPr indent="0" marL="0">
              <a:buNone/>
            </a:pPr>
            <a:r>
              <a:rPr lang="en-US" sz="1400" b="1" dirty="0">
                <a:solidFill>
                  <a:srgbClr val="232F3E"/>
                </a:solidFill>
                <a:latin typeface="Calibri" pitchFamily="34" charset="0"/>
                <a:ea typeface="Calibri" pitchFamily="34" charset="-122"/>
                <a:cs typeface="Calibri" pitchFamily="34" charset="-120"/>
              </a:rPr>
              <a:t>unit_price_num</a:t>
            </a:r>
            <a:endParaRPr lang="en-US" sz="1400" dirty="0"/>
          </a:p>
        </p:txBody>
      </p:sp>
      <p:sp>
        <p:nvSpPr>
          <p:cNvPr id="15" name="Text 12"/>
          <p:cNvSpPr txBox="1"/>
          <p:nvPr/>
        </p:nvSpPr>
        <p:spPr>
          <a:xfrm>
            <a:off x="731520" y="3017520"/>
            <a:ext cx="3246120" cy="548640"/>
          </a:xfrm>
          <a:prstGeom prst="rect">
            <a:avLst/>
          </a:prstGeom>
          <a:noFill/>
          <a:ln/>
        </p:spPr>
        <p:txBody>
          <a:bodyPr wrap="square" lIns="0" tIns="0" rIns="0" bIns="0" rtlCol="0" anchor="t"/>
          <a:lstStyle/>
          <a:p>
            <a:pPr indent="0" marL="0">
              <a:buNone/>
            </a:pPr>
            <a:r>
              <a:rPr lang="en-US" sz="1300" dirty="0">
                <a:solidFill>
                  <a:srgbClr val="131A22"/>
                </a:solidFill>
                <a:latin typeface="Calibri" pitchFamily="34" charset="0"/>
                <a:ea typeface="Calibri" pitchFamily="34" charset="-122"/>
                <a:cs typeface="Calibri" pitchFamily="34" charset="-120"/>
              </a:rPr>
              <a:t>Price per unit as a number</a:t>
            </a:r>
            <a:endParaRPr lang="en-US" sz="1300" dirty="0"/>
          </a:p>
        </p:txBody>
      </p:sp>
      <p:sp>
        <p:nvSpPr>
          <p:cNvPr id="16" name="column card"/>
          <p:cNvSpPr/>
          <p:nvPr/>
        </p:nvSpPr>
        <p:spPr>
          <a:xfrm>
            <a:off x="4297680" y="2560320"/>
            <a:ext cx="3593592" cy="1051560"/>
          </a:xfrm>
          <a:prstGeom prst="roundRect">
            <a:avLst>
              <a:gd name="adj" fmla="val 10435"/>
            </a:avLst>
          </a:prstGeom>
          <a:solidFill>
            <a:srgbClr val="EEF2F6"/>
          </a:solidFill>
          <a:ln w="12700">
            <a:solidFill>
              <a:srgbClr val="EEF2F6"/>
            </a:solidFill>
            <a:prstDash val="solid"/>
          </a:ln>
        </p:spPr>
      </p:sp>
      <p:sp>
        <p:nvSpPr>
          <p:cNvPr id="17" name="Text 14"/>
          <p:cNvSpPr txBox="1"/>
          <p:nvPr/>
        </p:nvSpPr>
        <p:spPr>
          <a:xfrm>
            <a:off x="4480560" y="2670048"/>
            <a:ext cx="3246120" cy="320040"/>
          </a:xfrm>
          <a:prstGeom prst="rect">
            <a:avLst/>
          </a:prstGeom>
          <a:noFill/>
          <a:ln/>
        </p:spPr>
        <p:txBody>
          <a:bodyPr wrap="square" lIns="0" tIns="0" rIns="0" bIns="0" rtlCol="0" anchor="t"/>
          <a:lstStyle/>
          <a:p>
            <a:pPr indent="0" marL="0">
              <a:buNone/>
            </a:pPr>
            <a:r>
              <a:rPr lang="en-US" sz="1400" b="1" dirty="0">
                <a:solidFill>
                  <a:srgbClr val="232F3E"/>
                </a:solidFill>
                <a:latin typeface="Calibri" pitchFamily="34" charset="0"/>
                <a:ea typeface="Calibri" pitchFamily="34" charset="-122"/>
                <a:cs typeface="Calibri" pitchFamily="34" charset="-120"/>
              </a:rPr>
              <a:t>sales_volume_num</a:t>
            </a:r>
            <a:endParaRPr lang="en-US" sz="1400" dirty="0"/>
          </a:p>
        </p:txBody>
      </p:sp>
      <p:sp>
        <p:nvSpPr>
          <p:cNvPr id="18" name="Text 15"/>
          <p:cNvSpPr txBox="1"/>
          <p:nvPr/>
        </p:nvSpPr>
        <p:spPr>
          <a:xfrm>
            <a:off x="4480560" y="3017520"/>
            <a:ext cx="3246120" cy="548640"/>
          </a:xfrm>
          <a:prstGeom prst="rect">
            <a:avLst/>
          </a:prstGeom>
          <a:noFill/>
          <a:ln/>
        </p:spPr>
        <p:txBody>
          <a:bodyPr wrap="square" lIns="0" tIns="0" rIns="0" bIns="0" rtlCol="0" anchor="t"/>
          <a:lstStyle/>
          <a:p>
            <a:pPr indent="0" marL="0">
              <a:buNone/>
            </a:pPr>
            <a:r>
              <a:rPr lang="en-US" sz="1300" dirty="0">
                <a:solidFill>
                  <a:srgbClr val="131A22"/>
                </a:solidFill>
                <a:latin typeface="Calibri" pitchFamily="34" charset="0"/>
                <a:ea typeface="Calibri" pitchFamily="34" charset="-122"/>
                <a:cs typeface="Calibri" pitchFamily="34" charset="-120"/>
              </a:rPr>
              <a:t>“4K+” → 4000. A popularity proxy, not verified sales</a:t>
            </a:r>
            <a:endParaRPr lang="en-US" sz="1300" dirty="0"/>
          </a:p>
        </p:txBody>
      </p:sp>
      <p:sp>
        <p:nvSpPr>
          <p:cNvPr id="19" name="column card"/>
          <p:cNvSpPr/>
          <p:nvPr/>
        </p:nvSpPr>
        <p:spPr>
          <a:xfrm>
            <a:off x="8046720" y="2560320"/>
            <a:ext cx="3593592" cy="1051560"/>
          </a:xfrm>
          <a:prstGeom prst="roundRect">
            <a:avLst>
              <a:gd name="adj" fmla="val 10435"/>
            </a:avLst>
          </a:prstGeom>
          <a:solidFill>
            <a:srgbClr val="EEF2F6"/>
          </a:solidFill>
          <a:ln w="12700">
            <a:solidFill>
              <a:srgbClr val="EEF2F6"/>
            </a:solidFill>
            <a:prstDash val="solid"/>
          </a:ln>
        </p:spPr>
      </p:sp>
      <p:sp>
        <p:nvSpPr>
          <p:cNvPr id="20" name="Text 17"/>
          <p:cNvSpPr txBox="1"/>
          <p:nvPr/>
        </p:nvSpPr>
        <p:spPr>
          <a:xfrm>
            <a:off x="8229600" y="2670048"/>
            <a:ext cx="3246120" cy="320040"/>
          </a:xfrm>
          <a:prstGeom prst="rect">
            <a:avLst/>
          </a:prstGeom>
          <a:noFill/>
          <a:ln/>
        </p:spPr>
        <p:txBody>
          <a:bodyPr wrap="square" lIns="0" tIns="0" rIns="0" bIns="0" rtlCol="0" anchor="t"/>
          <a:lstStyle/>
          <a:p>
            <a:pPr indent="0" marL="0">
              <a:buNone/>
            </a:pPr>
            <a:r>
              <a:rPr lang="en-US" sz="1400" b="1" dirty="0">
                <a:solidFill>
                  <a:srgbClr val="232F3E"/>
                </a:solidFill>
                <a:latin typeface="Calibri" pitchFamily="34" charset="0"/>
                <a:ea typeface="Calibri" pitchFamily="34" charset="-122"/>
                <a:cs typeface="Calibri" pitchFamily="34" charset="-120"/>
              </a:rPr>
              <a:t>discount_amount</a:t>
            </a:r>
            <a:endParaRPr lang="en-US" sz="1400" dirty="0"/>
          </a:p>
        </p:txBody>
      </p:sp>
      <p:sp>
        <p:nvSpPr>
          <p:cNvPr id="21" name="Text 18"/>
          <p:cNvSpPr txBox="1"/>
          <p:nvPr/>
        </p:nvSpPr>
        <p:spPr>
          <a:xfrm>
            <a:off x="8229600" y="3017520"/>
            <a:ext cx="3246120" cy="548640"/>
          </a:xfrm>
          <a:prstGeom prst="rect">
            <a:avLst/>
          </a:prstGeom>
          <a:noFill/>
          <a:ln/>
        </p:spPr>
        <p:txBody>
          <a:bodyPr wrap="square" lIns="0" tIns="0" rIns="0" bIns="0" rtlCol="0" anchor="t"/>
          <a:lstStyle/>
          <a:p>
            <a:pPr indent="0" marL="0">
              <a:buNone/>
            </a:pPr>
            <a:r>
              <a:rPr lang="en-US" sz="1300" dirty="0">
                <a:solidFill>
                  <a:srgbClr val="131A22"/>
                </a:solidFill>
                <a:latin typeface="Calibri" pitchFamily="34" charset="0"/>
                <a:ea typeface="Calibri" pitchFamily="34" charset="-122"/>
                <a:cs typeface="Calibri" pitchFamily="34" charset="-120"/>
              </a:rPr>
              <a:t>Original price − current price</a:t>
            </a:r>
            <a:endParaRPr lang="en-US" sz="1300" dirty="0"/>
          </a:p>
        </p:txBody>
      </p:sp>
      <p:sp>
        <p:nvSpPr>
          <p:cNvPr id="22" name="column card"/>
          <p:cNvSpPr/>
          <p:nvPr/>
        </p:nvSpPr>
        <p:spPr>
          <a:xfrm>
            <a:off x="548640" y="3749040"/>
            <a:ext cx="3593592" cy="1051560"/>
          </a:xfrm>
          <a:prstGeom prst="roundRect">
            <a:avLst>
              <a:gd name="adj" fmla="val 10435"/>
            </a:avLst>
          </a:prstGeom>
          <a:solidFill>
            <a:srgbClr val="EEF2F6"/>
          </a:solidFill>
          <a:ln w="12700">
            <a:solidFill>
              <a:srgbClr val="EEF2F6"/>
            </a:solidFill>
            <a:prstDash val="solid"/>
          </a:ln>
        </p:spPr>
      </p:sp>
      <p:sp>
        <p:nvSpPr>
          <p:cNvPr id="23" name="Text 20"/>
          <p:cNvSpPr txBox="1"/>
          <p:nvPr/>
        </p:nvSpPr>
        <p:spPr>
          <a:xfrm>
            <a:off x="731520" y="3858768"/>
            <a:ext cx="3246120" cy="320040"/>
          </a:xfrm>
          <a:prstGeom prst="rect">
            <a:avLst/>
          </a:prstGeom>
          <a:noFill/>
          <a:ln/>
        </p:spPr>
        <p:txBody>
          <a:bodyPr wrap="square" lIns="0" tIns="0" rIns="0" bIns="0" rtlCol="0" anchor="t"/>
          <a:lstStyle/>
          <a:p>
            <a:pPr indent="0" marL="0">
              <a:buNone/>
            </a:pPr>
            <a:r>
              <a:rPr lang="en-US" sz="1400" b="1" dirty="0">
                <a:solidFill>
                  <a:srgbClr val="232F3E"/>
                </a:solidFill>
                <a:latin typeface="Calibri" pitchFamily="34" charset="0"/>
                <a:ea typeface="Calibri" pitchFamily="34" charset="-122"/>
                <a:cs typeface="Calibri" pitchFamily="34" charset="-120"/>
              </a:rPr>
              <a:t>discount_percent</a:t>
            </a:r>
            <a:endParaRPr lang="en-US" sz="1400" dirty="0"/>
          </a:p>
        </p:txBody>
      </p:sp>
      <p:sp>
        <p:nvSpPr>
          <p:cNvPr id="24" name="Text 21"/>
          <p:cNvSpPr txBox="1"/>
          <p:nvPr/>
        </p:nvSpPr>
        <p:spPr>
          <a:xfrm>
            <a:off x="731520" y="4206240"/>
            <a:ext cx="3246120" cy="548640"/>
          </a:xfrm>
          <a:prstGeom prst="rect">
            <a:avLst/>
          </a:prstGeom>
          <a:noFill/>
          <a:ln/>
        </p:spPr>
        <p:txBody>
          <a:bodyPr wrap="square" lIns="0" tIns="0" rIns="0" bIns="0" rtlCol="0" anchor="t"/>
          <a:lstStyle/>
          <a:p>
            <a:pPr indent="0" marL="0">
              <a:buNone/>
            </a:pPr>
            <a:r>
              <a:rPr lang="en-US" sz="1300" dirty="0">
                <a:solidFill>
                  <a:srgbClr val="131A22"/>
                </a:solidFill>
                <a:latin typeface="Calibri" pitchFamily="34" charset="0"/>
                <a:ea typeface="Calibri" pitchFamily="34" charset="-122"/>
                <a:cs typeface="Calibri" pitchFamily="34" charset="-120"/>
              </a:rPr>
              <a:t>Discount amount ÷ original price × 100</a:t>
            </a:r>
            <a:endParaRPr lang="en-US" sz="1300" dirty="0"/>
          </a:p>
        </p:txBody>
      </p:sp>
      <p:sp>
        <p:nvSpPr>
          <p:cNvPr id="25" name="column card"/>
          <p:cNvSpPr/>
          <p:nvPr/>
        </p:nvSpPr>
        <p:spPr>
          <a:xfrm>
            <a:off x="4297680" y="3749040"/>
            <a:ext cx="3593592" cy="1051560"/>
          </a:xfrm>
          <a:prstGeom prst="roundRect">
            <a:avLst>
              <a:gd name="adj" fmla="val 10435"/>
            </a:avLst>
          </a:prstGeom>
          <a:solidFill>
            <a:srgbClr val="EEF2F6"/>
          </a:solidFill>
          <a:ln w="12700">
            <a:solidFill>
              <a:srgbClr val="EEF2F6"/>
            </a:solidFill>
            <a:prstDash val="solid"/>
          </a:ln>
        </p:spPr>
      </p:sp>
      <p:sp>
        <p:nvSpPr>
          <p:cNvPr id="26" name="Text 23"/>
          <p:cNvSpPr txBox="1"/>
          <p:nvPr/>
        </p:nvSpPr>
        <p:spPr>
          <a:xfrm>
            <a:off x="4480560" y="3858768"/>
            <a:ext cx="3246120" cy="320040"/>
          </a:xfrm>
          <a:prstGeom prst="rect">
            <a:avLst/>
          </a:prstGeom>
          <a:noFill/>
          <a:ln/>
        </p:spPr>
        <p:txBody>
          <a:bodyPr wrap="square" lIns="0" tIns="0" rIns="0" bIns="0" rtlCol="0" anchor="t"/>
          <a:lstStyle/>
          <a:p>
            <a:pPr indent="0" marL="0">
              <a:buNone/>
            </a:pPr>
            <a:r>
              <a:rPr lang="en-US" sz="1400" b="1" dirty="0">
                <a:solidFill>
                  <a:srgbClr val="232F3E"/>
                </a:solidFill>
                <a:latin typeface="Calibri" pitchFamily="34" charset="0"/>
                <a:ea typeface="Calibri" pitchFamily="34" charset="-122"/>
                <a:cs typeface="Calibri" pitchFamily="34" charset="-120"/>
              </a:rPr>
              <a:t>has_discount</a:t>
            </a:r>
            <a:endParaRPr lang="en-US" sz="1400" dirty="0"/>
          </a:p>
        </p:txBody>
      </p:sp>
      <p:sp>
        <p:nvSpPr>
          <p:cNvPr id="27" name="Text 24"/>
          <p:cNvSpPr txBox="1"/>
          <p:nvPr/>
        </p:nvSpPr>
        <p:spPr>
          <a:xfrm>
            <a:off x="4480560" y="4206240"/>
            <a:ext cx="3246120" cy="548640"/>
          </a:xfrm>
          <a:prstGeom prst="rect">
            <a:avLst/>
          </a:prstGeom>
          <a:noFill/>
          <a:ln/>
        </p:spPr>
        <p:txBody>
          <a:bodyPr wrap="square" lIns="0" tIns="0" rIns="0" bIns="0" rtlCol="0" anchor="t"/>
          <a:lstStyle/>
          <a:p>
            <a:pPr indent="0" marL="0">
              <a:buNone/>
            </a:pPr>
            <a:r>
              <a:rPr lang="en-US" sz="1300" dirty="0">
                <a:solidFill>
                  <a:srgbClr val="131A22"/>
                </a:solidFill>
                <a:latin typeface="Calibri" pitchFamily="34" charset="0"/>
                <a:ea typeface="Calibri" pitchFamily="34" charset="-122"/>
                <a:cs typeface="Calibri" pitchFamily="34" charset="-120"/>
              </a:rPr>
              <a:t>True when a positive discount exists</a:t>
            </a:r>
            <a:endParaRPr lang="en-US" sz="1300" dirty="0"/>
          </a:p>
        </p:txBody>
      </p:sp>
      <p:sp>
        <p:nvSpPr>
          <p:cNvPr id="28" name="column card"/>
          <p:cNvSpPr/>
          <p:nvPr/>
        </p:nvSpPr>
        <p:spPr>
          <a:xfrm>
            <a:off x="8046720" y="3749040"/>
            <a:ext cx="3593592" cy="1051560"/>
          </a:xfrm>
          <a:prstGeom prst="roundRect">
            <a:avLst>
              <a:gd name="adj" fmla="val 10435"/>
            </a:avLst>
          </a:prstGeom>
          <a:solidFill>
            <a:srgbClr val="EEF2F6"/>
          </a:solidFill>
          <a:ln w="12700">
            <a:solidFill>
              <a:srgbClr val="EEF2F6"/>
            </a:solidFill>
            <a:prstDash val="solid"/>
          </a:ln>
        </p:spPr>
      </p:sp>
      <p:sp>
        <p:nvSpPr>
          <p:cNvPr id="29" name="Text 26"/>
          <p:cNvSpPr txBox="1"/>
          <p:nvPr/>
        </p:nvSpPr>
        <p:spPr>
          <a:xfrm>
            <a:off x="8229600" y="3858768"/>
            <a:ext cx="3246120" cy="320040"/>
          </a:xfrm>
          <a:prstGeom prst="rect">
            <a:avLst/>
          </a:prstGeom>
          <a:noFill/>
          <a:ln/>
        </p:spPr>
        <p:txBody>
          <a:bodyPr wrap="square" lIns="0" tIns="0" rIns="0" bIns="0" rtlCol="0" anchor="t"/>
          <a:lstStyle/>
          <a:p>
            <a:pPr indent="0" marL="0">
              <a:buNone/>
            </a:pPr>
            <a:r>
              <a:rPr lang="en-US" sz="1400" b="1" dirty="0">
                <a:solidFill>
                  <a:srgbClr val="232F3E"/>
                </a:solidFill>
                <a:latin typeface="Calibri" pitchFamily="34" charset="0"/>
                <a:ea typeface="Calibri" pitchFamily="34" charset="-122"/>
                <a:cs typeface="Calibri" pitchFamily="34" charset="-120"/>
              </a:rPr>
              <a:t>has_coupon</a:t>
            </a:r>
            <a:endParaRPr lang="en-US" sz="1400" dirty="0"/>
          </a:p>
        </p:txBody>
      </p:sp>
      <p:sp>
        <p:nvSpPr>
          <p:cNvPr id="30" name="Text 27"/>
          <p:cNvSpPr txBox="1"/>
          <p:nvPr/>
        </p:nvSpPr>
        <p:spPr>
          <a:xfrm>
            <a:off x="8229600" y="4206240"/>
            <a:ext cx="3246120" cy="548640"/>
          </a:xfrm>
          <a:prstGeom prst="rect">
            <a:avLst/>
          </a:prstGeom>
          <a:noFill/>
          <a:ln/>
        </p:spPr>
        <p:txBody>
          <a:bodyPr wrap="square" lIns="0" tIns="0" rIns="0" bIns="0" rtlCol="0" anchor="t"/>
          <a:lstStyle/>
          <a:p>
            <a:pPr indent="0" marL="0">
              <a:buNone/>
            </a:pPr>
            <a:r>
              <a:rPr lang="en-US" sz="1300" dirty="0">
                <a:solidFill>
                  <a:srgbClr val="131A22"/>
                </a:solidFill>
                <a:latin typeface="Calibri" pitchFamily="34" charset="0"/>
                <a:ea typeface="Calibri" pitchFamily="34" charset="-122"/>
                <a:cs typeface="Calibri" pitchFamily="34" charset="-120"/>
              </a:rPr>
              <a:t>True when coupon text is present</a:t>
            </a:r>
            <a:endParaRPr lang="en-US" sz="1300" dirty="0"/>
          </a:p>
        </p:txBody>
      </p:sp>
      <p:sp>
        <p:nvSpPr>
          <p:cNvPr id="31" name="column card"/>
          <p:cNvSpPr/>
          <p:nvPr/>
        </p:nvSpPr>
        <p:spPr>
          <a:xfrm>
            <a:off x="548640" y="4937760"/>
            <a:ext cx="3593592" cy="1051560"/>
          </a:xfrm>
          <a:prstGeom prst="roundRect">
            <a:avLst>
              <a:gd name="adj" fmla="val 10435"/>
            </a:avLst>
          </a:prstGeom>
          <a:solidFill>
            <a:srgbClr val="EEF2F6"/>
          </a:solidFill>
          <a:ln w="12700">
            <a:solidFill>
              <a:srgbClr val="EEF2F6"/>
            </a:solidFill>
            <a:prstDash val="solid"/>
          </a:ln>
        </p:spPr>
      </p:sp>
      <p:sp>
        <p:nvSpPr>
          <p:cNvPr id="32" name="Text 29"/>
          <p:cNvSpPr txBox="1"/>
          <p:nvPr/>
        </p:nvSpPr>
        <p:spPr>
          <a:xfrm>
            <a:off x="731520" y="5047488"/>
            <a:ext cx="3246120" cy="320040"/>
          </a:xfrm>
          <a:prstGeom prst="rect">
            <a:avLst/>
          </a:prstGeom>
          <a:noFill/>
          <a:ln/>
        </p:spPr>
        <p:txBody>
          <a:bodyPr wrap="square" lIns="0" tIns="0" rIns="0" bIns="0" rtlCol="0" anchor="t"/>
          <a:lstStyle/>
          <a:p>
            <a:pPr indent="0" marL="0">
              <a:buNone/>
            </a:pPr>
            <a:r>
              <a:rPr lang="en-US" sz="1400" b="1" dirty="0">
                <a:solidFill>
                  <a:srgbClr val="232F3E"/>
                </a:solidFill>
                <a:latin typeface="Calibri" pitchFamily="34" charset="0"/>
                <a:ea typeface="Calibri" pitchFamily="34" charset="-122"/>
                <a:cs typeface="Calibri" pitchFamily="34" charset="-120"/>
              </a:rPr>
              <a:t>price_category</a:t>
            </a:r>
            <a:endParaRPr lang="en-US" sz="1400" dirty="0"/>
          </a:p>
        </p:txBody>
      </p:sp>
      <p:sp>
        <p:nvSpPr>
          <p:cNvPr id="33" name="Text 30"/>
          <p:cNvSpPr txBox="1"/>
          <p:nvPr/>
        </p:nvSpPr>
        <p:spPr>
          <a:xfrm>
            <a:off x="731520" y="5394960"/>
            <a:ext cx="3246120" cy="548640"/>
          </a:xfrm>
          <a:prstGeom prst="rect">
            <a:avLst/>
          </a:prstGeom>
          <a:noFill/>
          <a:ln/>
        </p:spPr>
        <p:txBody>
          <a:bodyPr wrap="square" lIns="0" tIns="0" rIns="0" bIns="0" rtlCol="0" anchor="t"/>
          <a:lstStyle/>
          <a:p>
            <a:pPr indent="0" marL="0">
              <a:buNone/>
            </a:pPr>
            <a:r>
              <a:rPr lang="en-US" sz="1300" dirty="0">
                <a:solidFill>
                  <a:srgbClr val="131A22"/>
                </a:solidFill>
                <a:latin typeface="Calibri" pitchFamily="34" charset="0"/>
                <a:ea typeface="Calibri" pitchFamily="34" charset="-122"/>
                <a:cs typeface="Calibri" pitchFamily="34" charset="-120"/>
              </a:rPr>
              <a:t>Under $100 • $100–299 • $300–599 • $600+</a:t>
            </a:r>
            <a:endParaRPr lang="en-US" sz="1300" dirty="0"/>
          </a:p>
        </p:txBody>
      </p:sp>
      <p:sp>
        <p:nvSpPr>
          <p:cNvPr id="34" name="column card"/>
          <p:cNvSpPr/>
          <p:nvPr/>
        </p:nvSpPr>
        <p:spPr>
          <a:xfrm>
            <a:off x="4297680" y="4937760"/>
            <a:ext cx="3593592" cy="1051560"/>
          </a:xfrm>
          <a:prstGeom prst="roundRect">
            <a:avLst>
              <a:gd name="adj" fmla="val 10435"/>
            </a:avLst>
          </a:prstGeom>
          <a:solidFill>
            <a:srgbClr val="EEF2F6"/>
          </a:solidFill>
          <a:ln w="12700">
            <a:solidFill>
              <a:srgbClr val="EEF2F6"/>
            </a:solidFill>
            <a:prstDash val="solid"/>
          </a:ln>
        </p:spPr>
      </p:sp>
      <p:sp>
        <p:nvSpPr>
          <p:cNvPr id="35" name="Text 32"/>
          <p:cNvSpPr txBox="1"/>
          <p:nvPr/>
        </p:nvSpPr>
        <p:spPr>
          <a:xfrm>
            <a:off x="4480560" y="5047488"/>
            <a:ext cx="3246120" cy="320040"/>
          </a:xfrm>
          <a:prstGeom prst="rect">
            <a:avLst/>
          </a:prstGeom>
          <a:noFill/>
          <a:ln/>
        </p:spPr>
        <p:txBody>
          <a:bodyPr wrap="square" lIns="0" tIns="0" rIns="0" bIns="0" rtlCol="0" anchor="t"/>
          <a:lstStyle/>
          <a:p>
            <a:pPr indent="0" marL="0">
              <a:buNone/>
            </a:pPr>
            <a:r>
              <a:rPr lang="en-US" sz="1400" b="1" dirty="0">
                <a:solidFill>
                  <a:srgbClr val="232F3E"/>
                </a:solidFill>
                <a:latin typeface="Calibri" pitchFamily="34" charset="0"/>
                <a:ea typeface="Calibri" pitchFamily="34" charset="-122"/>
                <a:cs typeface="Calibri" pitchFamily="34" charset="-120"/>
              </a:rPr>
              <a:t>rating_category</a:t>
            </a:r>
            <a:endParaRPr lang="en-US" sz="1400" dirty="0"/>
          </a:p>
        </p:txBody>
      </p:sp>
      <p:sp>
        <p:nvSpPr>
          <p:cNvPr id="36" name="Text 33"/>
          <p:cNvSpPr txBox="1"/>
          <p:nvPr/>
        </p:nvSpPr>
        <p:spPr>
          <a:xfrm>
            <a:off x="4480560" y="5394960"/>
            <a:ext cx="3246120" cy="548640"/>
          </a:xfrm>
          <a:prstGeom prst="rect">
            <a:avLst/>
          </a:prstGeom>
          <a:noFill/>
          <a:ln/>
        </p:spPr>
        <p:txBody>
          <a:bodyPr wrap="square" lIns="0" tIns="0" rIns="0" bIns="0" rtlCol="0" anchor="t"/>
          <a:lstStyle/>
          <a:p>
            <a:pPr indent="0" marL="0">
              <a:buNone/>
            </a:pPr>
            <a:r>
              <a:rPr lang="en-US" sz="1300" dirty="0">
                <a:solidFill>
                  <a:srgbClr val="131A22"/>
                </a:solidFill>
                <a:latin typeface="Calibri" pitchFamily="34" charset="0"/>
                <a:ea typeface="Calibri" pitchFamily="34" charset="-122"/>
                <a:cs typeface="Calibri" pitchFamily="34" charset="-120"/>
              </a:rPr>
              <a:t>Low &lt;3 • Average 3–3.9 • Good 4–4.4 • Excellent ≥4.5</a:t>
            </a:r>
            <a:endParaRPr lang="en-US" sz="1300" dirty="0"/>
          </a:p>
        </p:txBody>
      </p:sp>
      <p:sp>
        <p:nvSpPr>
          <p:cNvPr id="37" name="total card"/>
          <p:cNvSpPr/>
          <p:nvPr/>
        </p:nvSpPr>
        <p:spPr>
          <a:xfrm>
            <a:off x="8046720" y="4937760"/>
            <a:ext cx="3593592" cy="1051560"/>
          </a:xfrm>
          <a:prstGeom prst="roundRect">
            <a:avLst>
              <a:gd name="adj" fmla="val 10435"/>
            </a:avLst>
          </a:prstGeom>
          <a:solidFill>
            <a:srgbClr val="232F3E"/>
          </a:solidFill>
          <a:ln w="12700">
            <a:solidFill>
              <a:srgbClr val="232F3E"/>
            </a:solidFill>
            <a:prstDash val="solid"/>
          </a:ln>
        </p:spPr>
      </p:sp>
      <p:sp>
        <p:nvSpPr>
          <p:cNvPr id="38" name="Text 35"/>
          <p:cNvSpPr txBox="1"/>
          <p:nvPr/>
        </p:nvSpPr>
        <p:spPr>
          <a:xfrm>
            <a:off x="8229600" y="5047488"/>
            <a:ext cx="3246120" cy="822960"/>
          </a:xfrm>
          <a:prstGeom prst="rect">
            <a:avLst/>
          </a:prstGeom>
          <a:noFill/>
          <a:ln/>
        </p:spPr>
        <p:txBody>
          <a:bodyPr wrap="square" lIns="0" tIns="0" rIns="0" bIns="0" rtlCol="0" anchor="ctr"/>
          <a:lstStyle/>
          <a:p>
            <a:pPr indent="0" marL="0">
              <a:buNone/>
            </a:pPr>
            <a:r>
              <a:rPr lang="en-US" sz="1800" b="1" dirty="0">
                <a:solidFill>
                  <a:srgbClr val="FF9900"/>
                </a:solidFill>
                <a:latin typeface="Calibri" pitchFamily="34" charset="0"/>
                <a:ea typeface="Calibri" pitchFamily="34" charset="-122"/>
                <a:cs typeface="Calibri" pitchFamily="34" charset="-120"/>
              </a:rPr>
              <a:t>20 raw + 11 new = 31 columns</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42"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600"/>
                                        <p:tgtEl>
                                          <p:spTgt spid="2"/>
                                        </p:tgtEl>
                                      </p:cBhvr>
                                    </p:animEffect>
                                    <p:anim calcmode="lin" valueType="num">
                                      <p:cBhvr additive="base">
                                        <p:cTn id="13" dur="600" fill="hold"/>
                                        <p:tgtEl>
                                          <p:spTgt spid="2"/>
                                        </p:tgtEl>
                                        <p:attrNameLst>
                                          <p:attrName>ppt_y</p:attrName>
                                        </p:attrNameLst>
                                      </p:cBhvr>
                                      <p:tavLst>
                                        <p:tav tm="0">
                                          <p:val>
                                            <p:strVal val="#ppt_y+0.05"/>
                                          </p:val>
                                        </p:tav>
                                        <p:tav tm="100000">
                                          <p:val>
                                            <p:strVal val="#ppt_y"/>
                                          </p:val>
                                        </p:tav>
                                      </p:tavLst>
                                    </p:anim>
                                  </p:childTnLst>
                                </p:cTn>
                              </p:par>
                              <p:par>
                                <p:cTn id="16" presetID="42" presetClass="entr" presetSubtype="0" fill="hold" nodeType="withEffect">
                                  <p:stCondLst>
                                    <p:cond delay="59"/>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600"/>
                                        <p:tgtEl>
                                          <p:spTgt spid="4"/>
                                        </p:tgtEl>
                                      </p:cBhvr>
                                    </p:animEffect>
                                    <p:anim calcmode="lin" valueType="num">
                                      <p:cBhvr additive="base">
                                        <p:cTn id="19" dur="600" fill="hold"/>
                                        <p:tgtEl>
                                          <p:spTgt spid="4"/>
                                        </p:tgtEl>
                                        <p:attrNameLst>
                                          <p:attrName>ppt_y</p:attrName>
                                        </p:attrNameLst>
                                      </p:cBhvr>
                                      <p:tavLst>
                                        <p:tav tm="0">
                                          <p:val>
                                            <p:strVal val="#ppt_y+0.05"/>
                                          </p:val>
                                        </p:tav>
                                        <p:tav tm="100000">
                                          <p:val>
                                            <p:strVal val="#ppt_y"/>
                                          </p:val>
                                        </p:tav>
                                      </p:tavLst>
                                    </p:anim>
                                  </p:childTnLst>
                                </p:cTn>
                              </p:par>
                              <p:par>
                                <p:cTn id="22" presetID="42" presetClass="entr" presetSubtype="0" fill="hold" nodeType="withEffect">
                                  <p:stCondLst>
                                    <p:cond delay="118"/>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600"/>
                                        <p:tgtEl>
                                          <p:spTgt spid="5"/>
                                        </p:tgtEl>
                                      </p:cBhvr>
                                    </p:animEffect>
                                    <p:anim calcmode="lin" valueType="num">
                                      <p:cBhvr additive="base">
                                        <p:cTn id="25" dur="600" fill="hold"/>
                                        <p:tgtEl>
                                          <p:spTgt spid="5"/>
                                        </p:tgtEl>
                                        <p:attrNameLst>
                                          <p:attrName>ppt_y</p:attrName>
                                        </p:attrNameLst>
                                      </p:cBhvr>
                                      <p:tavLst>
                                        <p:tav tm="0">
                                          <p:val>
                                            <p:strVal val="#ppt_y+0.05"/>
                                          </p:val>
                                        </p:tav>
                                        <p:tav tm="100000">
                                          <p:val>
                                            <p:strVal val="#ppt_y"/>
                                          </p:val>
                                        </p:tav>
                                      </p:tavLst>
                                    </p:anim>
                                  </p:childTnLst>
                                </p:cTn>
                              </p:par>
                              <p:par>
                                <p:cTn id="28" presetID="42" presetClass="entr" presetSubtype="0" fill="hold" nodeType="withEffect">
                                  <p:stCondLst>
                                    <p:cond delay="177"/>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600"/>
                                        <p:tgtEl>
                                          <p:spTgt spid="6"/>
                                        </p:tgtEl>
                                      </p:cBhvr>
                                    </p:animEffect>
                                    <p:anim calcmode="lin" valueType="num">
                                      <p:cBhvr additive="base">
                                        <p:cTn id="31" dur="600" fill="hold"/>
                                        <p:tgtEl>
                                          <p:spTgt spid="6"/>
                                        </p:tgtEl>
                                        <p:attrNameLst>
                                          <p:attrName>ppt_y</p:attrName>
                                        </p:attrNameLst>
                                      </p:cBhvr>
                                      <p:tavLst>
                                        <p:tav tm="0">
                                          <p:val>
                                            <p:strVal val="#ppt_y+0.05"/>
                                          </p:val>
                                        </p:tav>
                                        <p:tav tm="100000">
                                          <p:val>
                                            <p:strVal val="#ppt_y"/>
                                          </p:val>
                                        </p:tav>
                                      </p:tavLst>
                                    </p:anim>
                                  </p:childTnLst>
                                </p:cTn>
                              </p:par>
                              <p:par>
                                <p:cTn id="34" presetID="42" presetClass="entr" presetSubtype="0" fill="hold" nodeType="withEffect">
                                  <p:stCondLst>
                                    <p:cond delay="236"/>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600"/>
                                        <p:tgtEl>
                                          <p:spTgt spid="7"/>
                                        </p:tgtEl>
                                      </p:cBhvr>
                                    </p:animEffect>
                                    <p:anim calcmode="lin" valueType="num">
                                      <p:cBhvr additive="base">
                                        <p:cTn id="37" dur="600" fill="hold"/>
                                        <p:tgtEl>
                                          <p:spTgt spid="7"/>
                                        </p:tgtEl>
                                        <p:attrNameLst>
                                          <p:attrName>ppt_y</p:attrName>
                                        </p:attrNameLst>
                                      </p:cBhvr>
                                      <p:tavLst>
                                        <p:tav tm="0">
                                          <p:val>
                                            <p:strVal val="#ppt_y+0.05"/>
                                          </p:val>
                                        </p:tav>
                                        <p:tav tm="100000">
                                          <p:val>
                                            <p:strVal val="#ppt_y"/>
                                          </p:val>
                                        </p:tav>
                                      </p:tavLst>
                                    </p:anim>
                                  </p:childTnLst>
                                </p:cTn>
                              </p:par>
                              <p:par>
                                <p:cTn id="40" presetID="42" presetClass="entr" presetSubtype="0" fill="hold" nodeType="withEffect">
                                  <p:stCondLst>
                                    <p:cond delay="295"/>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600"/>
                                        <p:tgtEl>
                                          <p:spTgt spid="8"/>
                                        </p:tgtEl>
                                      </p:cBhvr>
                                    </p:animEffect>
                                    <p:anim calcmode="lin" valueType="num">
                                      <p:cBhvr additive="base">
                                        <p:cTn id="43" dur="600" fill="hold"/>
                                        <p:tgtEl>
                                          <p:spTgt spid="8"/>
                                        </p:tgtEl>
                                        <p:attrNameLst>
                                          <p:attrName>ppt_y</p:attrName>
                                        </p:attrNameLst>
                                      </p:cBhvr>
                                      <p:tavLst>
                                        <p:tav tm="0">
                                          <p:val>
                                            <p:strVal val="#ppt_y+0.05"/>
                                          </p:val>
                                        </p:tav>
                                        <p:tav tm="100000">
                                          <p:val>
                                            <p:strVal val="#ppt_y"/>
                                          </p:val>
                                        </p:tav>
                                      </p:tavLst>
                                    </p:anim>
                                  </p:childTnLst>
                                </p:cTn>
                              </p:par>
                              <p:par>
                                <p:cTn id="46" presetID="42" presetClass="entr" presetSubtype="0" fill="hold" nodeType="withEffect">
                                  <p:stCondLst>
                                    <p:cond delay="354"/>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600"/>
                                        <p:tgtEl>
                                          <p:spTgt spid="9"/>
                                        </p:tgtEl>
                                      </p:cBhvr>
                                    </p:animEffect>
                                    <p:anim calcmode="lin" valueType="num">
                                      <p:cBhvr additive="base">
                                        <p:cTn id="49" dur="600" fill="hold"/>
                                        <p:tgtEl>
                                          <p:spTgt spid="9"/>
                                        </p:tgtEl>
                                        <p:attrNameLst>
                                          <p:attrName>ppt_y</p:attrName>
                                        </p:attrNameLst>
                                      </p:cBhvr>
                                      <p:tavLst>
                                        <p:tav tm="0">
                                          <p:val>
                                            <p:strVal val="#ppt_y+0.05"/>
                                          </p:val>
                                        </p:tav>
                                        <p:tav tm="100000">
                                          <p:val>
                                            <p:strVal val="#ppt_y"/>
                                          </p:val>
                                        </p:tav>
                                      </p:tavLst>
                                    </p:anim>
                                  </p:childTnLst>
                                </p:cTn>
                              </p:par>
                              <p:par>
                                <p:cTn id="52" presetID="42" presetClass="entr" presetSubtype="0" fill="hold" nodeType="withEffect">
                                  <p:stCondLst>
                                    <p:cond delay="413"/>
                                  </p:stCondLst>
                                  <p:childTnLst>
                                    <p:set>
                                      <p:cBhvr>
                                        <p:cTn id="53" dur="1" fill="hold">
                                          <p:stCondLst>
                                            <p:cond delay="0"/>
                                          </p:stCondLst>
                                        </p:cTn>
                                        <p:tgtEl>
                                          <p:spTgt spid="10"/>
                                        </p:tgtEl>
                                        <p:attrNameLst>
                                          <p:attrName>style.visibility</p:attrName>
                                        </p:attrNameLst>
                                      </p:cBhvr>
                                      <p:to>
                                        <p:strVal val="visible"/>
                                      </p:to>
                                    </p:set>
                                    <p:animEffect transition="in" filter="fade">
                                      <p:cBhvr>
                                        <p:cTn id="54" dur="600"/>
                                        <p:tgtEl>
                                          <p:spTgt spid="10"/>
                                        </p:tgtEl>
                                      </p:cBhvr>
                                    </p:animEffect>
                                    <p:anim calcmode="lin" valueType="num">
                                      <p:cBhvr additive="base">
                                        <p:cTn id="55" dur="600" fill="hold"/>
                                        <p:tgtEl>
                                          <p:spTgt spid="10"/>
                                        </p:tgtEl>
                                        <p:attrNameLst>
                                          <p:attrName>ppt_y</p:attrName>
                                        </p:attrNameLst>
                                      </p:cBhvr>
                                      <p:tavLst>
                                        <p:tav tm="0">
                                          <p:val>
                                            <p:strVal val="#ppt_y+0.05"/>
                                          </p:val>
                                        </p:tav>
                                        <p:tav tm="100000">
                                          <p:val>
                                            <p:strVal val="#ppt_y"/>
                                          </p:val>
                                        </p:tav>
                                      </p:tavLst>
                                    </p:anim>
                                  </p:childTnLst>
                                </p:cTn>
                              </p:par>
                              <p:par>
                                <p:cTn id="58" presetID="42" presetClass="entr" presetSubtype="0" fill="hold" nodeType="withEffect">
                                  <p:stCondLst>
                                    <p:cond delay="472"/>
                                  </p:stCondLst>
                                  <p:childTnLst>
                                    <p:set>
                                      <p:cBhvr>
                                        <p:cTn id="59" dur="1" fill="hold">
                                          <p:stCondLst>
                                            <p:cond delay="0"/>
                                          </p:stCondLst>
                                        </p:cTn>
                                        <p:tgtEl>
                                          <p:spTgt spid="11"/>
                                        </p:tgtEl>
                                        <p:attrNameLst>
                                          <p:attrName>style.visibility</p:attrName>
                                        </p:attrNameLst>
                                      </p:cBhvr>
                                      <p:to>
                                        <p:strVal val="visible"/>
                                      </p:to>
                                    </p:set>
                                    <p:animEffect transition="in" filter="fade">
                                      <p:cBhvr>
                                        <p:cTn id="60" dur="600"/>
                                        <p:tgtEl>
                                          <p:spTgt spid="11"/>
                                        </p:tgtEl>
                                      </p:cBhvr>
                                    </p:animEffect>
                                    <p:anim calcmode="lin" valueType="num">
                                      <p:cBhvr additive="base">
                                        <p:cTn id="61" dur="600" fill="hold"/>
                                        <p:tgtEl>
                                          <p:spTgt spid="11"/>
                                        </p:tgtEl>
                                        <p:attrNameLst>
                                          <p:attrName>ppt_y</p:attrName>
                                        </p:attrNameLst>
                                      </p:cBhvr>
                                      <p:tavLst>
                                        <p:tav tm="0">
                                          <p:val>
                                            <p:strVal val="#ppt_y+0.05"/>
                                          </p:val>
                                        </p:tav>
                                        <p:tav tm="100000">
                                          <p:val>
                                            <p:strVal val="#ppt_y"/>
                                          </p:val>
                                        </p:tav>
                                      </p:tavLst>
                                    </p:anim>
                                  </p:childTnLst>
                                </p:cTn>
                              </p:par>
                              <p:par>
                                <p:cTn id="64" presetID="42" presetClass="entr" presetSubtype="0" fill="hold" nodeType="withEffect">
                                  <p:stCondLst>
                                    <p:cond delay="531"/>
                                  </p:stCondLst>
                                  <p:childTnLst>
                                    <p:set>
                                      <p:cBhvr>
                                        <p:cTn id="65" dur="1" fill="hold">
                                          <p:stCondLst>
                                            <p:cond delay="0"/>
                                          </p:stCondLst>
                                        </p:cTn>
                                        <p:tgtEl>
                                          <p:spTgt spid="12"/>
                                        </p:tgtEl>
                                        <p:attrNameLst>
                                          <p:attrName>style.visibility</p:attrName>
                                        </p:attrNameLst>
                                      </p:cBhvr>
                                      <p:to>
                                        <p:strVal val="visible"/>
                                      </p:to>
                                    </p:set>
                                    <p:animEffect transition="in" filter="fade">
                                      <p:cBhvr>
                                        <p:cTn id="66" dur="600"/>
                                        <p:tgtEl>
                                          <p:spTgt spid="12"/>
                                        </p:tgtEl>
                                      </p:cBhvr>
                                    </p:animEffect>
                                    <p:anim calcmode="lin" valueType="num">
                                      <p:cBhvr additive="base">
                                        <p:cTn id="67" dur="600" fill="hold"/>
                                        <p:tgtEl>
                                          <p:spTgt spid="12"/>
                                        </p:tgtEl>
                                        <p:attrNameLst>
                                          <p:attrName>ppt_y</p:attrName>
                                        </p:attrNameLst>
                                      </p:cBhvr>
                                      <p:tavLst>
                                        <p:tav tm="0">
                                          <p:val>
                                            <p:strVal val="#ppt_y+0.05"/>
                                          </p:val>
                                        </p:tav>
                                        <p:tav tm="100000">
                                          <p:val>
                                            <p:strVal val="#ppt_y"/>
                                          </p:val>
                                        </p:tav>
                                      </p:tavLst>
                                    </p:anim>
                                  </p:childTnLst>
                                </p:cTn>
                              </p:par>
                              <p:par>
                                <p:cTn id="70" presetID="42" presetClass="entr" presetSubtype="0" fill="hold" nodeType="withEffect">
                                  <p:stCondLst>
                                    <p:cond delay="590"/>
                                  </p:stCondLst>
                                  <p:childTnLst>
                                    <p:set>
                                      <p:cBhvr>
                                        <p:cTn id="71" dur="1" fill="hold">
                                          <p:stCondLst>
                                            <p:cond delay="0"/>
                                          </p:stCondLst>
                                        </p:cTn>
                                        <p:tgtEl>
                                          <p:spTgt spid="13"/>
                                        </p:tgtEl>
                                        <p:attrNameLst>
                                          <p:attrName>style.visibility</p:attrName>
                                        </p:attrNameLst>
                                      </p:cBhvr>
                                      <p:to>
                                        <p:strVal val="visible"/>
                                      </p:to>
                                    </p:set>
                                    <p:animEffect transition="in" filter="fade">
                                      <p:cBhvr>
                                        <p:cTn id="72" dur="600"/>
                                        <p:tgtEl>
                                          <p:spTgt spid="13"/>
                                        </p:tgtEl>
                                      </p:cBhvr>
                                    </p:animEffect>
                                    <p:anim calcmode="lin" valueType="num">
                                      <p:cBhvr additive="base">
                                        <p:cTn id="73" dur="600" fill="hold"/>
                                        <p:tgtEl>
                                          <p:spTgt spid="13"/>
                                        </p:tgtEl>
                                        <p:attrNameLst>
                                          <p:attrName>ppt_y</p:attrName>
                                        </p:attrNameLst>
                                      </p:cBhvr>
                                      <p:tavLst>
                                        <p:tav tm="0">
                                          <p:val>
                                            <p:strVal val="#ppt_y+0.05"/>
                                          </p:val>
                                        </p:tav>
                                        <p:tav tm="100000">
                                          <p:val>
                                            <p:strVal val="#ppt_y"/>
                                          </p:val>
                                        </p:tav>
                                      </p:tavLst>
                                    </p:anim>
                                  </p:childTnLst>
                                </p:cTn>
                              </p:par>
                              <p:par>
                                <p:cTn id="76" presetID="42" presetClass="entr" presetSubtype="0" fill="hold" nodeType="withEffect">
                                  <p:stCondLst>
                                    <p:cond delay="649"/>
                                  </p:stCondLst>
                                  <p:childTnLst>
                                    <p:set>
                                      <p:cBhvr>
                                        <p:cTn id="77" dur="1" fill="hold">
                                          <p:stCondLst>
                                            <p:cond delay="0"/>
                                          </p:stCondLst>
                                        </p:cTn>
                                        <p:tgtEl>
                                          <p:spTgt spid="14"/>
                                        </p:tgtEl>
                                        <p:attrNameLst>
                                          <p:attrName>style.visibility</p:attrName>
                                        </p:attrNameLst>
                                      </p:cBhvr>
                                      <p:to>
                                        <p:strVal val="visible"/>
                                      </p:to>
                                    </p:set>
                                    <p:animEffect transition="in" filter="fade">
                                      <p:cBhvr>
                                        <p:cTn id="78" dur="600"/>
                                        <p:tgtEl>
                                          <p:spTgt spid="14"/>
                                        </p:tgtEl>
                                      </p:cBhvr>
                                    </p:animEffect>
                                    <p:anim calcmode="lin" valueType="num">
                                      <p:cBhvr additive="base">
                                        <p:cTn id="79" dur="600" fill="hold"/>
                                        <p:tgtEl>
                                          <p:spTgt spid="14"/>
                                        </p:tgtEl>
                                        <p:attrNameLst>
                                          <p:attrName>ppt_y</p:attrName>
                                        </p:attrNameLst>
                                      </p:cBhvr>
                                      <p:tavLst>
                                        <p:tav tm="0">
                                          <p:val>
                                            <p:strVal val="#ppt_y+0.05"/>
                                          </p:val>
                                        </p:tav>
                                        <p:tav tm="100000">
                                          <p:val>
                                            <p:strVal val="#ppt_y"/>
                                          </p:val>
                                        </p:tav>
                                      </p:tavLst>
                                    </p:anim>
                                  </p:childTnLst>
                                </p:cTn>
                              </p:par>
                              <p:par>
                                <p:cTn id="82" presetID="42" presetClass="entr" presetSubtype="0" fill="hold" nodeType="withEffect">
                                  <p:stCondLst>
                                    <p:cond delay="708"/>
                                  </p:stCondLst>
                                  <p:childTnLst>
                                    <p:set>
                                      <p:cBhvr>
                                        <p:cTn id="83" dur="1" fill="hold">
                                          <p:stCondLst>
                                            <p:cond delay="0"/>
                                          </p:stCondLst>
                                        </p:cTn>
                                        <p:tgtEl>
                                          <p:spTgt spid="15"/>
                                        </p:tgtEl>
                                        <p:attrNameLst>
                                          <p:attrName>style.visibility</p:attrName>
                                        </p:attrNameLst>
                                      </p:cBhvr>
                                      <p:to>
                                        <p:strVal val="visible"/>
                                      </p:to>
                                    </p:set>
                                    <p:animEffect transition="in" filter="fade">
                                      <p:cBhvr>
                                        <p:cTn id="84" dur="600"/>
                                        <p:tgtEl>
                                          <p:spTgt spid="15"/>
                                        </p:tgtEl>
                                      </p:cBhvr>
                                    </p:animEffect>
                                    <p:anim calcmode="lin" valueType="num">
                                      <p:cBhvr additive="base">
                                        <p:cTn id="85" dur="600" fill="hold"/>
                                        <p:tgtEl>
                                          <p:spTgt spid="15"/>
                                        </p:tgtEl>
                                        <p:attrNameLst>
                                          <p:attrName>ppt_y</p:attrName>
                                        </p:attrNameLst>
                                      </p:cBhvr>
                                      <p:tavLst>
                                        <p:tav tm="0">
                                          <p:val>
                                            <p:strVal val="#ppt_y+0.05"/>
                                          </p:val>
                                        </p:tav>
                                        <p:tav tm="100000">
                                          <p:val>
                                            <p:strVal val="#ppt_y"/>
                                          </p:val>
                                        </p:tav>
                                      </p:tavLst>
                                    </p:anim>
                                  </p:childTnLst>
                                </p:cTn>
                              </p:par>
                              <p:par>
                                <p:cTn id="88" presetID="42" presetClass="entr" presetSubtype="0" fill="hold" nodeType="withEffect">
                                  <p:stCondLst>
                                    <p:cond delay="767"/>
                                  </p:stCondLst>
                                  <p:childTnLst>
                                    <p:set>
                                      <p:cBhvr>
                                        <p:cTn id="89" dur="1" fill="hold">
                                          <p:stCondLst>
                                            <p:cond delay="0"/>
                                          </p:stCondLst>
                                        </p:cTn>
                                        <p:tgtEl>
                                          <p:spTgt spid="16"/>
                                        </p:tgtEl>
                                        <p:attrNameLst>
                                          <p:attrName>style.visibility</p:attrName>
                                        </p:attrNameLst>
                                      </p:cBhvr>
                                      <p:to>
                                        <p:strVal val="visible"/>
                                      </p:to>
                                    </p:set>
                                    <p:animEffect transition="in" filter="fade">
                                      <p:cBhvr>
                                        <p:cTn id="90" dur="600"/>
                                        <p:tgtEl>
                                          <p:spTgt spid="16"/>
                                        </p:tgtEl>
                                      </p:cBhvr>
                                    </p:animEffect>
                                    <p:anim calcmode="lin" valueType="num">
                                      <p:cBhvr additive="base">
                                        <p:cTn id="91" dur="600" fill="hold"/>
                                        <p:tgtEl>
                                          <p:spTgt spid="16"/>
                                        </p:tgtEl>
                                        <p:attrNameLst>
                                          <p:attrName>ppt_y</p:attrName>
                                        </p:attrNameLst>
                                      </p:cBhvr>
                                      <p:tavLst>
                                        <p:tav tm="0">
                                          <p:val>
                                            <p:strVal val="#ppt_y+0.05"/>
                                          </p:val>
                                        </p:tav>
                                        <p:tav tm="100000">
                                          <p:val>
                                            <p:strVal val="#ppt_y"/>
                                          </p:val>
                                        </p:tav>
                                      </p:tavLst>
                                    </p:anim>
                                  </p:childTnLst>
                                </p:cTn>
                              </p:par>
                              <p:par>
                                <p:cTn id="94" presetID="42" presetClass="entr" presetSubtype="0" fill="hold" nodeType="withEffect">
                                  <p:stCondLst>
                                    <p:cond delay="826"/>
                                  </p:stCondLst>
                                  <p:childTnLst>
                                    <p:set>
                                      <p:cBhvr>
                                        <p:cTn id="95" dur="1" fill="hold">
                                          <p:stCondLst>
                                            <p:cond delay="0"/>
                                          </p:stCondLst>
                                        </p:cTn>
                                        <p:tgtEl>
                                          <p:spTgt spid="17"/>
                                        </p:tgtEl>
                                        <p:attrNameLst>
                                          <p:attrName>style.visibility</p:attrName>
                                        </p:attrNameLst>
                                      </p:cBhvr>
                                      <p:to>
                                        <p:strVal val="visible"/>
                                      </p:to>
                                    </p:set>
                                    <p:animEffect transition="in" filter="fade">
                                      <p:cBhvr>
                                        <p:cTn id="96" dur="600"/>
                                        <p:tgtEl>
                                          <p:spTgt spid="17"/>
                                        </p:tgtEl>
                                      </p:cBhvr>
                                    </p:animEffect>
                                    <p:anim calcmode="lin" valueType="num">
                                      <p:cBhvr additive="base">
                                        <p:cTn id="97" dur="600" fill="hold"/>
                                        <p:tgtEl>
                                          <p:spTgt spid="17"/>
                                        </p:tgtEl>
                                        <p:attrNameLst>
                                          <p:attrName>ppt_y</p:attrName>
                                        </p:attrNameLst>
                                      </p:cBhvr>
                                      <p:tavLst>
                                        <p:tav tm="0">
                                          <p:val>
                                            <p:strVal val="#ppt_y+0.05"/>
                                          </p:val>
                                        </p:tav>
                                        <p:tav tm="100000">
                                          <p:val>
                                            <p:strVal val="#ppt_y"/>
                                          </p:val>
                                        </p:tav>
                                      </p:tavLst>
                                    </p:anim>
                                  </p:childTnLst>
                                </p:cTn>
                              </p:par>
                              <p:par>
                                <p:cTn id="100" presetID="42" presetClass="entr" presetSubtype="0" fill="hold" nodeType="withEffect">
                                  <p:stCondLst>
                                    <p:cond delay="885"/>
                                  </p:stCondLst>
                                  <p:childTnLst>
                                    <p:set>
                                      <p:cBhvr>
                                        <p:cTn id="101" dur="1" fill="hold">
                                          <p:stCondLst>
                                            <p:cond delay="0"/>
                                          </p:stCondLst>
                                        </p:cTn>
                                        <p:tgtEl>
                                          <p:spTgt spid="18"/>
                                        </p:tgtEl>
                                        <p:attrNameLst>
                                          <p:attrName>style.visibility</p:attrName>
                                        </p:attrNameLst>
                                      </p:cBhvr>
                                      <p:to>
                                        <p:strVal val="visible"/>
                                      </p:to>
                                    </p:set>
                                    <p:animEffect transition="in" filter="fade">
                                      <p:cBhvr>
                                        <p:cTn id="102" dur="600"/>
                                        <p:tgtEl>
                                          <p:spTgt spid="18"/>
                                        </p:tgtEl>
                                      </p:cBhvr>
                                    </p:animEffect>
                                    <p:anim calcmode="lin" valueType="num">
                                      <p:cBhvr additive="base">
                                        <p:cTn id="103" dur="600" fill="hold"/>
                                        <p:tgtEl>
                                          <p:spTgt spid="18"/>
                                        </p:tgtEl>
                                        <p:attrNameLst>
                                          <p:attrName>ppt_y</p:attrName>
                                        </p:attrNameLst>
                                      </p:cBhvr>
                                      <p:tavLst>
                                        <p:tav tm="0">
                                          <p:val>
                                            <p:strVal val="#ppt_y+0.05"/>
                                          </p:val>
                                        </p:tav>
                                        <p:tav tm="100000">
                                          <p:val>
                                            <p:strVal val="#ppt_y"/>
                                          </p:val>
                                        </p:tav>
                                      </p:tavLst>
                                    </p:anim>
                                  </p:childTnLst>
                                </p:cTn>
                              </p:par>
                              <p:par>
                                <p:cTn id="106" presetID="42" presetClass="entr" presetSubtype="0" fill="hold" nodeType="withEffect">
                                  <p:stCondLst>
                                    <p:cond delay="944"/>
                                  </p:stCondLst>
                                  <p:childTnLst>
                                    <p:set>
                                      <p:cBhvr>
                                        <p:cTn id="107" dur="1" fill="hold">
                                          <p:stCondLst>
                                            <p:cond delay="0"/>
                                          </p:stCondLst>
                                        </p:cTn>
                                        <p:tgtEl>
                                          <p:spTgt spid="19"/>
                                        </p:tgtEl>
                                        <p:attrNameLst>
                                          <p:attrName>style.visibility</p:attrName>
                                        </p:attrNameLst>
                                      </p:cBhvr>
                                      <p:to>
                                        <p:strVal val="visible"/>
                                      </p:to>
                                    </p:set>
                                    <p:animEffect transition="in" filter="fade">
                                      <p:cBhvr>
                                        <p:cTn id="108" dur="600"/>
                                        <p:tgtEl>
                                          <p:spTgt spid="19"/>
                                        </p:tgtEl>
                                      </p:cBhvr>
                                    </p:animEffect>
                                    <p:anim calcmode="lin" valueType="num">
                                      <p:cBhvr additive="base">
                                        <p:cTn id="109" dur="600" fill="hold"/>
                                        <p:tgtEl>
                                          <p:spTgt spid="19"/>
                                        </p:tgtEl>
                                        <p:attrNameLst>
                                          <p:attrName>ppt_y</p:attrName>
                                        </p:attrNameLst>
                                      </p:cBhvr>
                                      <p:tavLst>
                                        <p:tav tm="0">
                                          <p:val>
                                            <p:strVal val="#ppt_y+0.05"/>
                                          </p:val>
                                        </p:tav>
                                        <p:tav tm="100000">
                                          <p:val>
                                            <p:strVal val="#ppt_y"/>
                                          </p:val>
                                        </p:tav>
                                      </p:tavLst>
                                    </p:anim>
                                  </p:childTnLst>
                                </p:cTn>
                              </p:par>
                              <p:par>
                                <p:cTn id="112" presetID="42" presetClass="entr" presetSubtype="0" fill="hold" nodeType="withEffect">
                                  <p:stCondLst>
                                    <p:cond delay="1003"/>
                                  </p:stCondLst>
                                  <p:childTnLst>
                                    <p:set>
                                      <p:cBhvr>
                                        <p:cTn id="113" dur="1" fill="hold">
                                          <p:stCondLst>
                                            <p:cond delay="0"/>
                                          </p:stCondLst>
                                        </p:cTn>
                                        <p:tgtEl>
                                          <p:spTgt spid="20"/>
                                        </p:tgtEl>
                                        <p:attrNameLst>
                                          <p:attrName>style.visibility</p:attrName>
                                        </p:attrNameLst>
                                      </p:cBhvr>
                                      <p:to>
                                        <p:strVal val="visible"/>
                                      </p:to>
                                    </p:set>
                                    <p:animEffect transition="in" filter="fade">
                                      <p:cBhvr>
                                        <p:cTn id="114" dur="600"/>
                                        <p:tgtEl>
                                          <p:spTgt spid="20"/>
                                        </p:tgtEl>
                                      </p:cBhvr>
                                    </p:animEffect>
                                    <p:anim calcmode="lin" valueType="num">
                                      <p:cBhvr additive="base">
                                        <p:cTn id="115" dur="600" fill="hold"/>
                                        <p:tgtEl>
                                          <p:spTgt spid="20"/>
                                        </p:tgtEl>
                                        <p:attrNameLst>
                                          <p:attrName>ppt_y</p:attrName>
                                        </p:attrNameLst>
                                      </p:cBhvr>
                                      <p:tavLst>
                                        <p:tav tm="0">
                                          <p:val>
                                            <p:strVal val="#ppt_y+0.05"/>
                                          </p:val>
                                        </p:tav>
                                        <p:tav tm="100000">
                                          <p:val>
                                            <p:strVal val="#ppt_y"/>
                                          </p:val>
                                        </p:tav>
                                      </p:tavLst>
                                    </p:anim>
                                  </p:childTnLst>
                                </p:cTn>
                              </p:par>
                              <p:par>
                                <p:cTn id="118" presetID="42" presetClass="entr" presetSubtype="0" fill="hold" nodeType="withEffect">
                                  <p:stCondLst>
                                    <p:cond delay="1062"/>
                                  </p:stCondLst>
                                  <p:childTnLst>
                                    <p:set>
                                      <p:cBhvr>
                                        <p:cTn id="119" dur="1" fill="hold">
                                          <p:stCondLst>
                                            <p:cond delay="0"/>
                                          </p:stCondLst>
                                        </p:cTn>
                                        <p:tgtEl>
                                          <p:spTgt spid="21"/>
                                        </p:tgtEl>
                                        <p:attrNameLst>
                                          <p:attrName>style.visibility</p:attrName>
                                        </p:attrNameLst>
                                      </p:cBhvr>
                                      <p:to>
                                        <p:strVal val="visible"/>
                                      </p:to>
                                    </p:set>
                                    <p:animEffect transition="in" filter="fade">
                                      <p:cBhvr>
                                        <p:cTn id="120" dur="600"/>
                                        <p:tgtEl>
                                          <p:spTgt spid="21"/>
                                        </p:tgtEl>
                                      </p:cBhvr>
                                    </p:animEffect>
                                    <p:anim calcmode="lin" valueType="num">
                                      <p:cBhvr additive="base">
                                        <p:cTn id="121" dur="600" fill="hold"/>
                                        <p:tgtEl>
                                          <p:spTgt spid="21"/>
                                        </p:tgtEl>
                                        <p:attrNameLst>
                                          <p:attrName>ppt_y</p:attrName>
                                        </p:attrNameLst>
                                      </p:cBhvr>
                                      <p:tavLst>
                                        <p:tav tm="0">
                                          <p:val>
                                            <p:strVal val="#ppt_y+0.05"/>
                                          </p:val>
                                        </p:tav>
                                        <p:tav tm="100000">
                                          <p:val>
                                            <p:strVal val="#ppt_y"/>
                                          </p:val>
                                        </p:tav>
                                      </p:tavLst>
                                    </p:anim>
                                  </p:childTnLst>
                                </p:cTn>
                              </p:par>
                              <p:par>
                                <p:cTn id="124" presetID="42" presetClass="entr" presetSubtype="0" fill="hold" nodeType="withEffect">
                                  <p:stCondLst>
                                    <p:cond delay="1121"/>
                                  </p:stCondLst>
                                  <p:childTnLst>
                                    <p:set>
                                      <p:cBhvr>
                                        <p:cTn id="125" dur="1" fill="hold">
                                          <p:stCondLst>
                                            <p:cond delay="0"/>
                                          </p:stCondLst>
                                        </p:cTn>
                                        <p:tgtEl>
                                          <p:spTgt spid="22"/>
                                        </p:tgtEl>
                                        <p:attrNameLst>
                                          <p:attrName>style.visibility</p:attrName>
                                        </p:attrNameLst>
                                      </p:cBhvr>
                                      <p:to>
                                        <p:strVal val="visible"/>
                                      </p:to>
                                    </p:set>
                                    <p:animEffect transition="in" filter="fade">
                                      <p:cBhvr>
                                        <p:cTn id="126" dur="600"/>
                                        <p:tgtEl>
                                          <p:spTgt spid="22"/>
                                        </p:tgtEl>
                                      </p:cBhvr>
                                    </p:animEffect>
                                    <p:anim calcmode="lin" valueType="num">
                                      <p:cBhvr additive="base">
                                        <p:cTn id="127" dur="600" fill="hold"/>
                                        <p:tgtEl>
                                          <p:spTgt spid="22"/>
                                        </p:tgtEl>
                                        <p:attrNameLst>
                                          <p:attrName>ppt_y</p:attrName>
                                        </p:attrNameLst>
                                      </p:cBhvr>
                                      <p:tavLst>
                                        <p:tav tm="0">
                                          <p:val>
                                            <p:strVal val="#ppt_y+0.05"/>
                                          </p:val>
                                        </p:tav>
                                        <p:tav tm="100000">
                                          <p:val>
                                            <p:strVal val="#ppt_y"/>
                                          </p:val>
                                        </p:tav>
                                      </p:tavLst>
                                    </p:anim>
                                  </p:childTnLst>
                                </p:cTn>
                              </p:par>
                              <p:par>
                                <p:cTn id="130" presetID="42" presetClass="entr" presetSubtype="0" fill="hold" nodeType="withEffect">
                                  <p:stCondLst>
                                    <p:cond delay="1180"/>
                                  </p:stCondLst>
                                  <p:childTnLst>
                                    <p:set>
                                      <p:cBhvr>
                                        <p:cTn id="131" dur="1" fill="hold">
                                          <p:stCondLst>
                                            <p:cond delay="0"/>
                                          </p:stCondLst>
                                        </p:cTn>
                                        <p:tgtEl>
                                          <p:spTgt spid="23"/>
                                        </p:tgtEl>
                                        <p:attrNameLst>
                                          <p:attrName>style.visibility</p:attrName>
                                        </p:attrNameLst>
                                      </p:cBhvr>
                                      <p:to>
                                        <p:strVal val="visible"/>
                                      </p:to>
                                    </p:set>
                                    <p:animEffect transition="in" filter="fade">
                                      <p:cBhvr>
                                        <p:cTn id="132" dur="600"/>
                                        <p:tgtEl>
                                          <p:spTgt spid="23"/>
                                        </p:tgtEl>
                                      </p:cBhvr>
                                    </p:animEffect>
                                    <p:anim calcmode="lin" valueType="num">
                                      <p:cBhvr additive="base">
                                        <p:cTn id="133" dur="600" fill="hold"/>
                                        <p:tgtEl>
                                          <p:spTgt spid="23"/>
                                        </p:tgtEl>
                                        <p:attrNameLst>
                                          <p:attrName>ppt_y</p:attrName>
                                        </p:attrNameLst>
                                      </p:cBhvr>
                                      <p:tavLst>
                                        <p:tav tm="0">
                                          <p:val>
                                            <p:strVal val="#ppt_y+0.05"/>
                                          </p:val>
                                        </p:tav>
                                        <p:tav tm="100000">
                                          <p:val>
                                            <p:strVal val="#ppt_y"/>
                                          </p:val>
                                        </p:tav>
                                      </p:tavLst>
                                    </p:anim>
                                  </p:childTnLst>
                                </p:cTn>
                              </p:par>
                              <p:par>
                                <p:cTn id="136" presetID="42" presetClass="entr" presetSubtype="0" fill="hold" nodeType="withEffect">
                                  <p:stCondLst>
                                    <p:cond delay="1239"/>
                                  </p:stCondLst>
                                  <p:childTnLst>
                                    <p:set>
                                      <p:cBhvr>
                                        <p:cTn id="137" dur="1" fill="hold">
                                          <p:stCondLst>
                                            <p:cond delay="0"/>
                                          </p:stCondLst>
                                        </p:cTn>
                                        <p:tgtEl>
                                          <p:spTgt spid="24"/>
                                        </p:tgtEl>
                                        <p:attrNameLst>
                                          <p:attrName>style.visibility</p:attrName>
                                        </p:attrNameLst>
                                      </p:cBhvr>
                                      <p:to>
                                        <p:strVal val="visible"/>
                                      </p:to>
                                    </p:set>
                                    <p:animEffect transition="in" filter="fade">
                                      <p:cBhvr>
                                        <p:cTn id="138" dur="600"/>
                                        <p:tgtEl>
                                          <p:spTgt spid="24"/>
                                        </p:tgtEl>
                                      </p:cBhvr>
                                    </p:animEffect>
                                    <p:anim calcmode="lin" valueType="num">
                                      <p:cBhvr additive="base">
                                        <p:cTn id="139" dur="600" fill="hold"/>
                                        <p:tgtEl>
                                          <p:spTgt spid="24"/>
                                        </p:tgtEl>
                                        <p:attrNameLst>
                                          <p:attrName>ppt_y</p:attrName>
                                        </p:attrNameLst>
                                      </p:cBhvr>
                                      <p:tavLst>
                                        <p:tav tm="0">
                                          <p:val>
                                            <p:strVal val="#ppt_y+0.05"/>
                                          </p:val>
                                        </p:tav>
                                        <p:tav tm="100000">
                                          <p:val>
                                            <p:strVal val="#ppt_y"/>
                                          </p:val>
                                        </p:tav>
                                      </p:tavLst>
                                    </p:anim>
                                  </p:childTnLst>
                                </p:cTn>
                              </p:par>
                              <p:par>
                                <p:cTn id="142" presetID="42" presetClass="entr" presetSubtype="0" fill="hold" nodeType="withEffect">
                                  <p:stCondLst>
                                    <p:cond delay="1298"/>
                                  </p:stCondLst>
                                  <p:childTnLst>
                                    <p:set>
                                      <p:cBhvr>
                                        <p:cTn id="143" dur="1" fill="hold">
                                          <p:stCondLst>
                                            <p:cond delay="0"/>
                                          </p:stCondLst>
                                        </p:cTn>
                                        <p:tgtEl>
                                          <p:spTgt spid="25"/>
                                        </p:tgtEl>
                                        <p:attrNameLst>
                                          <p:attrName>style.visibility</p:attrName>
                                        </p:attrNameLst>
                                      </p:cBhvr>
                                      <p:to>
                                        <p:strVal val="visible"/>
                                      </p:to>
                                    </p:set>
                                    <p:animEffect transition="in" filter="fade">
                                      <p:cBhvr>
                                        <p:cTn id="144" dur="600"/>
                                        <p:tgtEl>
                                          <p:spTgt spid="25"/>
                                        </p:tgtEl>
                                      </p:cBhvr>
                                    </p:animEffect>
                                    <p:anim calcmode="lin" valueType="num">
                                      <p:cBhvr additive="base">
                                        <p:cTn id="145" dur="600" fill="hold"/>
                                        <p:tgtEl>
                                          <p:spTgt spid="25"/>
                                        </p:tgtEl>
                                        <p:attrNameLst>
                                          <p:attrName>ppt_y</p:attrName>
                                        </p:attrNameLst>
                                      </p:cBhvr>
                                      <p:tavLst>
                                        <p:tav tm="0">
                                          <p:val>
                                            <p:strVal val="#ppt_y+0.05"/>
                                          </p:val>
                                        </p:tav>
                                        <p:tav tm="100000">
                                          <p:val>
                                            <p:strVal val="#ppt_y"/>
                                          </p:val>
                                        </p:tav>
                                      </p:tavLst>
                                    </p:anim>
                                  </p:childTnLst>
                                </p:cTn>
                              </p:par>
                              <p:par>
                                <p:cTn id="148" presetID="42" presetClass="entr" presetSubtype="0" fill="hold" nodeType="withEffect">
                                  <p:stCondLst>
                                    <p:cond delay="1357"/>
                                  </p:stCondLst>
                                  <p:childTnLst>
                                    <p:set>
                                      <p:cBhvr>
                                        <p:cTn id="149" dur="1" fill="hold">
                                          <p:stCondLst>
                                            <p:cond delay="0"/>
                                          </p:stCondLst>
                                        </p:cTn>
                                        <p:tgtEl>
                                          <p:spTgt spid="26"/>
                                        </p:tgtEl>
                                        <p:attrNameLst>
                                          <p:attrName>style.visibility</p:attrName>
                                        </p:attrNameLst>
                                      </p:cBhvr>
                                      <p:to>
                                        <p:strVal val="visible"/>
                                      </p:to>
                                    </p:set>
                                    <p:animEffect transition="in" filter="fade">
                                      <p:cBhvr>
                                        <p:cTn id="150" dur="600"/>
                                        <p:tgtEl>
                                          <p:spTgt spid="26"/>
                                        </p:tgtEl>
                                      </p:cBhvr>
                                    </p:animEffect>
                                    <p:anim calcmode="lin" valueType="num">
                                      <p:cBhvr additive="base">
                                        <p:cTn id="151" dur="600" fill="hold"/>
                                        <p:tgtEl>
                                          <p:spTgt spid="26"/>
                                        </p:tgtEl>
                                        <p:attrNameLst>
                                          <p:attrName>ppt_y</p:attrName>
                                        </p:attrNameLst>
                                      </p:cBhvr>
                                      <p:tavLst>
                                        <p:tav tm="0">
                                          <p:val>
                                            <p:strVal val="#ppt_y+0.05"/>
                                          </p:val>
                                        </p:tav>
                                        <p:tav tm="100000">
                                          <p:val>
                                            <p:strVal val="#ppt_y"/>
                                          </p:val>
                                        </p:tav>
                                      </p:tavLst>
                                    </p:anim>
                                  </p:childTnLst>
                                </p:cTn>
                              </p:par>
                              <p:par>
                                <p:cTn id="154" presetID="42" presetClass="entr" presetSubtype="0" fill="hold" nodeType="withEffect">
                                  <p:stCondLst>
                                    <p:cond delay="1416"/>
                                  </p:stCondLst>
                                  <p:childTnLst>
                                    <p:set>
                                      <p:cBhvr>
                                        <p:cTn id="155" dur="1" fill="hold">
                                          <p:stCondLst>
                                            <p:cond delay="0"/>
                                          </p:stCondLst>
                                        </p:cTn>
                                        <p:tgtEl>
                                          <p:spTgt spid="27"/>
                                        </p:tgtEl>
                                        <p:attrNameLst>
                                          <p:attrName>style.visibility</p:attrName>
                                        </p:attrNameLst>
                                      </p:cBhvr>
                                      <p:to>
                                        <p:strVal val="visible"/>
                                      </p:to>
                                    </p:set>
                                    <p:animEffect transition="in" filter="fade">
                                      <p:cBhvr>
                                        <p:cTn id="156" dur="600"/>
                                        <p:tgtEl>
                                          <p:spTgt spid="27"/>
                                        </p:tgtEl>
                                      </p:cBhvr>
                                    </p:animEffect>
                                    <p:anim calcmode="lin" valueType="num">
                                      <p:cBhvr additive="base">
                                        <p:cTn id="157" dur="600" fill="hold"/>
                                        <p:tgtEl>
                                          <p:spTgt spid="27"/>
                                        </p:tgtEl>
                                        <p:attrNameLst>
                                          <p:attrName>ppt_y</p:attrName>
                                        </p:attrNameLst>
                                      </p:cBhvr>
                                      <p:tavLst>
                                        <p:tav tm="0">
                                          <p:val>
                                            <p:strVal val="#ppt_y+0.05"/>
                                          </p:val>
                                        </p:tav>
                                        <p:tav tm="100000">
                                          <p:val>
                                            <p:strVal val="#ppt_y"/>
                                          </p:val>
                                        </p:tav>
                                      </p:tavLst>
                                    </p:anim>
                                  </p:childTnLst>
                                </p:cTn>
                              </p:par>
                              <p:par>
                                <p:cTn id="160" presetID="42" presetClass="entr" presetSubtype="0" fill="hold" nodeType="withEffect">
                                  <p:stCondLst>
                                    <p:cond delay="1475"/>
                                  </p:stCondLst>
                                  <p:childTnLst>
                                    <p:set>
                                      <p:cBhvr>
                                        <p:cTn id="161" dur="1" fill="hold">
                                          <p:stCondLst>
                                            <p:cond delay="0"/>
                                          </p:stCondLst>
                                        </p:cTn>
                                        <p:tgtEl>
                                          <p:spTgt spid="28"/>
                                        </p:tgtEl>
                                        <p:attrNameLst>
                                          <p:attrName>style.visibility</p:attrName>
                                        </p:attrNameLst>
                                      </p:cBhvr>
                                      <p:to>
                                        <p:strVal val="visible"/>
                                      </p:to>
                                    </p:set>
                                    <p:animEffect transition="in" filter="fade">
                                      <p:cBhvr>
                                        <p:cTn id="162" dur="600"/>
                                        <p:tgtEl>
                                          <p:spTgt spid="28"/>
                                        </p:tgtEl>
                                      </p:cBhvr>
                                    </p:animEffect>
                                    <p:anim calcmode="lin" valueType="num">
                                      <p:cBhvr additive="base">
                                        <p:cTn id="163" dur="600" fill="hold"/>
                                        <p:tgtEl>
                                          <p:spTgt spid="28"/>
                                        </p:tgtEl>
                                        <p:attrNameLst>
                                          <p:attrName>ppt_y</p:attrName>
                                        </p:attrNameLst>
                                      </p:cBhvr>
                                      <p:tavLst>
                                        <p:tav tm="0">
                                          <p:val>
                                            <p:strVal val="#ppt_y+0.05"/>
                                          </p:val>
                                        </p:tav>
                                        <p:tav tm="100000">
                                          <p:val>
                                            <p:strVal val="#ppt_y"/>
                                          </p:val>
                                        </p:tav>
                                      </p:tavLst>
                                    </p:anim>
                                  </p:childTnLst>
                                </p:cTn>
                              </p:par>
                              <p:par>
                                <p:cTn id="166" presetID="42" presetClass="entr" presetSubtype="0" fill="hold" nodeType="withEffect">
                                  <p:stCondLst>
                                    <p:cond delay="1534"/>
                                  </p:stCondLst>
                                  <p:childTnLst>
                                    <p:set>
                                      <p:cBhvr>
                                        <p:cTn id="167" dur="1" fill="hold">
                                          <p:stCondLst>
                                            <p:cond delay="0"/>
                                          </p:stCondLst>
                                        </p:cTn>
                                        <p:tgtEl>
                                          <p:spTgt spid="29"/>
                                        </p:tgtEl>
                                        <p:attrNameLst>
                                          <p:attrName>style.visibility</p:attrName>
                                        </p:attrNameLst>
                                      </p:cBhvr>
                                      <p:to>
                                        <p:strVal val="visible"/>
                                      </p:to>
                                    </p:set>
                                    <p:animEffect transition="in" filter="fade">
                                      <p:cBhvr>
                                        <p:cTn id="168" dur="600"/>
                                        <p:tgtEl>
                                          <p:spTgt spid="29"/>
                                        </p:tgtEl>
                                      </p:cBhvr>
                                    </p:animEffect>
                                    <p:anim calcmode="lin" valueType="num">
                                      <p:cBhvr additive="base">
                                        <p:cTn id="169" dur="600" fill="hold"/>
                                        <p:tgtEl>
                                          <p:spTgt spid="29"/>
                                        </p:tgtEl>
                                        <p:attrNameLst>
                                          <p:attrName>ppt_y</p:attrName>
                                        </p:attrNameLst>
                                      </p:cBhvr>
                                      <p:tavLst>
                                        <p:tav tm="0">
                                          <p:val>
                                            <p:strVal val="#ppt_y+0.05"/>
                                          </p:val>
                                        </p:tav>
                                        <p:tav tm="100000">
                                          <p:val>
                                            <p:strVal val="#ppt_y"/>
                                          </p:val>
                                        </p:tav>
                                      </p:tavLst>
                                    </p:anim>
                                  </p:childTnLst>
                                </p:cTn>
                              </p:par>
                              <p:par>
                                <p:cTn id="172" presetID="42" presetClass="entr" presetSubtype="0" fill="hold" nodeType="withEffect">
                                  <p:stCondLst>
                                    <p:cond delay="1593"/>
                                  </p:stCondLst>
                                  <p:childTnLst>
                                    <p:set>
                                      <p:cBhvr>
                                        <p:cTn id="173" dur="1" fill="hold">
                                          <p:stCondLst>
                                            <p:cond delay="0"/>
                                          </p:stCondLst>
                                        </p:cTn>
                                        <p:tgtEl>
                                          <p:spTgt spid="30"/>
                                        </p:tgtEl>
                                        <p:attrNameLst>
                                          <p:attrName>style.visibility</p:attrName>
                                        </p:attrNameLst>
                                      </p:cBhvr>
                                      <p:to>
                                        <p:strVal val="visible"/>
                                      </p:to>
                                    </p:set>
                                    <p:animEffect transition="in" filter="fade">
                                      <p:cBhvr>
                                        <p:cTn id="174" dur="600"/>
                                        <p:tgtEl>
                                          <p:spTgt spid="30"/>
                                        </p:tgtEl>
                                      </p:cBhvr>
                                    </p:animEffect>
                                    <p:anim calcmode="lin" valueType="num">
                                      <p:cBhvr additive="base">
                                        <p:cTn id="175" dur="600" fill="hold"/>
                                        <p:tgtEl>
                                          <p:spTgt spid="30"/>
                                        </p:tgtEl>
                                        <p:attrNameLst>
                                          <p:attrName>ppt_y</p:attrName>
                                        </p:attrNameLst>
                                      </p:cBhvr>
                                      <p:tavLst>
                                        <p:tav tm="0">
                                          <p:val>
                                            <p:strVal val="#ppt_y+0.05"/>
                                          </p:val>
                                        </p:tav>
                                        <p:tav tm="100000">
                                          <p:val>
                                            <p:strVal val="#ppt_y"/>
                                          </p:val>
                                        </p:tav>
                                      </p:tavLst>
                                    </p:anim>
                                  </p:childTnLst>
                                </p:cTn>
                              </p:par>
                              <p:par>
                                <p:cTn id="178" presetID="42" presetClass="entr" presetSubtype="0" fill="hold" nodeType="withEffect">
                                  <p:stCondLst>
                                    <p:cond delay="1652"/>
                                  </p:stCondLst>
                                  <p:childTnLst>
                                    <p:set>
                                      <p:cBhvr>
                                        <p:cTn id="179" dur="1" fill="hold">
                                          <p:stCondLst>
                                            <p:cond delay="0"/>
                                          </p:stCondLst>
                                        </p:cTn>
                                        <p:tgtEl>
                                          <p:spTgt spid="31"/>
                                        </p:tgtEl>
                                        <p:attrNameLst>
                                          <p:attrName>style.visibility</p:attrName>
                                        </p:attrNameLst>
                                      </p:cBhvr>
                                      <p:to>
                                        <p:strVal val="visible"/>
                                      </p:to>
                                    </p:set>
                                    <p:animEffect transition="in" filter="fade">
                                      <p:cBhvr>
                                        <p:cTn id="180" dur="600"/>
                                        <p:tgtEl>
                                          <p:spTgt spid="31"/>
                                        </p:tgtEl>
                                      </p:cBhvr>
                                    </p:animEffect>
                                    <p:anim calcmode="lin" valueType="num">
                                      <p:cBhvr additive="base">
                                        <p:cTn id="181" dur="600" fill="hold"/>
                                        <p:tgtEl>
                                          <p:spTgt spid="31"/>
                                        </p:tgtEl>
                                        <p:attrNameLst>
                                          <p:attrName>ppt_y</p:attrName>
                                        </p:attrNameLst>
                                      </p:cBhvr>
                                      <p:tavLst>
                                        <p:tav tm="0">
                                          <p:val>
                                            <p:strVal val="#ppt_y+0.05"/>
                                          </p:val>
                                        </p:tav>
                                        <p:tav tm="100000">
                                          <p:val>
                                            <p:strVal val="#ppt_y"/>
                                          </p:val>
                                        </p:tav>
                                      </p:tavLst>
                                    </p:anim>
                                  </p:childTnLst>
                                </p:cTn>
                              </p:par>
                              <p:par>
                                <p:cTn id="184" presetID="42" presetClass="entr" presetSubtype="0" fill="hold" nodeType="withEffect">
                                  <p:stCondLst>
                                    <p:cond delay="1711"/>
                                  </p:stCondLst>
                                  <p:childTnLst>
                                    <p:set>
                                      <p:cBhvr>
                                        <p:cTn id="185" dur="1" fill="hold">
                                          <p:stCondLst>
                                            <p:cond delay="0"/>
                                          </p:stCondLst>
                                        </p:cTn>
                                        <p:tgtEl>
                                          <p:spTgt spid="32"/>
                                        </p:tgtEl>
                                        <p:attrNameLst>
                                          <p:attrName>style.visibility</p:attrName>
                                        </p:attrNameLst>
                                      </p:cBhvr>
                                      <p:to>
                                        <p:strVal val="visible"/>
                                      </p:to>
                                    </p:set>
                                    <p:animEffect transition="in" filter="fade">
                                      <p:cBhvr>
                                        <p:cTn id="186" dur="600"/>
                                        <p:tgtEl>
                                          <p:spTgt spid="32"/>
                                        </p:tgtEl>
                                      </p:cBhvr>
                                    </p:animEffect>
                                    <p:anim calcmode="lin" valueType="num">
                                      <p:cBhvr additive="base">
                                        <p:cTn id="187" dur="600" fill="hold"/>
                                        <p:tgtEl>
                                          <p:spTgt spid="32"/>
                                        </p:tgtEl>
                                        <p:attrNameLst>
                                          <p:attrName>ppt_y</p:attrName>
                                        </p:attrNameLst>
                                      </p:cBhvr>
                                      <p:tavLst>
                                        <p:tav tm="0">
                                          <p:val>
                                            <p:strVal val="#ppt_y+0.05"/>
                                          </p:val>
                                        </p:tav>
                                        <p:tav tm="100000">
                                          <p:val>
                                            <p:strVal val="#ppt_y"/>
                                          </p:val>
                                        </p:tav>
                                      </p:tavLst>
                                    </p:anim>
                                  </p:childTnLst>
                                </p:cTn>
                              </p:par>
                              <p:par>
                                <p:cTn id="190" presetID="42" presetClass="entr" presetSubtype="0" fill="hold" nodeType="withEffect">
                                  <p:stCondLst>
                                    <p:cond delay="1770"/>
                                  </p:stCondLst>
                                  <p:childTnLst>
                                    <p:set>
                                      <p:cBhvr>
                                        <p:cTn id="191" dur="1" fill="hold">
                                          <p:stCondLst>
                                            <p:cond delay="0"/>
                                          </p:stCondLst>
                                        </p:cTn>
                                        <p:tgtEl>
                                          <p:spTgt spid="33"/>
                                        </p:tgtEl>
                                        <p:attrNameLst>
                                          <p:attrName>style.visibility</p:attrName>
                                        </p:attrNameLst>
                                      </p:cBhvr>
                                      <p:to>
                                        <p:strVal val="visible"/>
                                      </p:to>
                                    </p:set>
                                    <p:animEffect transition="in" filter="fade">
                                      <p:cBhvr>
                                        <p:cTn id="192" dur="600"/>
                                        <p:tgtEl>
                                          <p:spTgt spid="33"/>
                                        </p:tgtEl>
                                      </p:cBhvr>
                                    </p:animEffect>
                                    <p:anim calcmode="lin" valueType="num">
                                      <p:cBhvr additive="base">
                                        <p:cTn id="193" dur="600" fill="hold"/>
                                        <p:tgtEl>
                                          <p:spTgt spid="33"/>
                                        </p:tgtEl>
                                        <p:attrNameLst>
                                          <p:attrName>ppt_y</p:attrName>
                                        </p:attrNameLst>
                                      </p:cBhvr>
                                      <p:tavLst>
                                        <p:tav tm="0">
                                          <p:val>
                                            <p:strVal val="#ppt_y+0.05"/>
                                          </p:val>
                                        </p:tav>
                                        <p:tav tm="100000">
                                          <p:val>
                                            <p:strVal val="#ppt_y"/>
                                          </p:val>
                                        </p:tav>
                                      </p:tavLst>
                                    </p:anim>
                                  </p:childTnLst>
                                </p:cTn>
                              </p:par>
                              <p:par>
                                <p:cTn id="196" presetID="42" presetClass="entr" presetSubtype="0" fill="hold" nodeType="withEffect">
                                  <p:stCondLst>
                                    <p:cond delay="1829"/>
                                  </p:stCondLst>
                                  <p:childTnLst>
                                    <p:set>
                                      <p:cBhvr>
                                        <p:cTn id="197" dur="1" fill="hold">
                                          <p:stCondLst>
                                            <p:cond delay="0"/>
                                          </p:stCondLst>
                                        </p:cTn>
                                        <p:tgtEl>
                                          <p:spTgt spid="34"/>
                                        </p:tgtEl>
                                        <p:attrNameLst>
                                          <p:attrName>style.visibility</p:attrName>
                                        </p:attrNameLst>
                                      </p:cBhvr>
                                      <p:to>
                                        <p:strVal val="visible"/>
                                      </p:to>
                                    </p:set>
                                    <p:animEffect transition="in" filter="fade">
                                      <p:cBhvr>
                                        <p:cTn id="198" dur="600"/>
                                        <p:tgtEl>
                                          <p:spTgt spid="34"/>
                                        </p:tgtEl>
                                      </p:cBhvr>
                                    </p:animEffect>
                                    <p:anim calcmode="lin" valueType="num">
                                      <p:cBhvr additive="base">
                                        <p:cTn id="199" dur="600" fill="hold"/>
                                        <p:tgtEl>
                                          <p:spTgt spid="34"/>
                                        </p:tgtEl>
                                        <p:attrNameLst>
                                          <p:attrName>ppt_y</p:attrName>
                                        </p:attrNameLst>
                                      </p:cBhvr>
                                      <p:tavLst>
                                        <p:tav tm="0">
                                          <p:val>
                                            <p:strVal val="#ppt_y+0.05"/>
                                          </p:val>
                                        </p:tav>
                                        <p:tav tm="100000">
                                          <p:val>
                                            <p:strVal val="#ppt_y"/>
                                          </p:val>
                                        </p:tav>
                                      </p:tavLst>
                                    </p:anim>
                                  </p:childTnLst>
                                </p:cTn>
                              </p:par>
                              <p:par>
                                <p:cTn id="202" presetID="42" presetClass="entr" presetSubtype="0" fill="hold" nodeType="withEffect">
                                  <p:stCondLst>
                                    <p:cond delay="1888"/>
                                  </p:stCondLst>
                                  <p:childTnLst>
                                    <p:set>
                                      <p:cBhvr>
                                        <p:cTn id="203" dur="1" fill="hold">
                                          <p:stCondLst>
                                            <p:cond delay="0"/>
                                          </p:stCondLst>
                                        </p:cTn>
                                        <p:tgtEl>
                                          <p:spTgt spid="35"/>
                                        </p:tgtEl>
                                        <p:attrNameLst>
                                          <p:attrName>style.visibility</p:attrName>
                                        </p:attrNameLst>
                                      </p:cBhvr>
                                      <p:to>
                                        <p:strVal val="visible"/>
                                      </p:to>
                                    </p:set>
                                    <p:animEffect transition="in" filter="fade">
                                      <p:cBhvr>
                                        <p:cTn id="204" dur="600"/>
                                        <p:tgtEl>
                                          <p:spTgt spid="35"/>
                                        </p:tgtEl>
                                      </p:cBhvr>
                                    </p:animEffect>
                                    <p:anim calcmode="lin" valueType="num">
                                      <p:cBhvr additive="base">
                                        <p:cTn id="205" dur="600" fill="hold"/>
                                        <p:tgtEl>
                                          <p:spTgt spid="35"/>
                                        </p:tgtEl>
                                        <p:attrNameLst>
                                          <p:attrName>ppt_y</p:attrName>
                                        </p:attrNameLst>
                                      </p:cBhvr>
                                      <p:tavLst>
                                        <p:tav tm="0">
                                          <p:val>
                                            <p:strVal val="#ppt_y+0.05"/>
                                          </p:val>
                                        </p:tav>
                                        <p:tav tm="100000">
                                          <p:val>
                                            <p:strVal val="#ppt_y"/>
                                          </p:val>
                                        </p:tav>
                                      </p:tavLst>
                                    </p:anim>
                                  </p:childTnLst>
                                </p:cTn>
                              </p:par>
                              <p:par>
                                <p:cTn id="208" presetID="42" presetClass="entr" presetSubtype="0" fill="hold" nodeType="withEffect">
                                  <p:stCondLst>
                                    <p:cond delay="1947"/>
                                  </p:stCondLst>
                                  <p:childTnLst>
                                    <p:set>
                                      <p:cBhvr>
                                        <p:cTn id="209" dur="1" fill="hold">
                                          <p:stCondLst>
                                            <p:cond delay="0"/>
                                          </p:stCondLst>
                                        </p:cTn>
                                        <p:tgtEl>
                                          <p:spTgt spid="36"/>
                                        </p:tgtEl>
                                        <p:attrNameLst>
                                          <p:attrName>style.visibility</p:attrName>
                                        </p:attrNameLst>
                                      </p:cBhvr>
                                      <p:to>
                                        <p:strVal val="visible"/>
                                      </p:to>
                                    </p:set>
                                    <p:animEffect transition="in" filter="fade">
                                      <p:cBhvr>
                                        <p:cTn id="210" dur="600"/>
                                        <p:tgtEl>
                                          <p:spTgt spid="36"/>
                                        </p:tgtEl>
                                      </p:cBhvr>
                                    </p:animEffect>
                                    <p:anim calcmode="lin" valueType="num">
                                      <p:cBhvr additive="base">
                                        <p:cTn id="211" dur="600" fill="hold"/>
                                        <p:tgtEl>
                                          <p:spTgt spid="36"/>
                                        </p:tgtEl>
                                        <p:attrNameLst>
                                          <p:attrName>ppt_y</p:attrName>
                                        </p:attrNameLst>
                                      </p:cBhvr>
                                      <p:tavLst>
                                        <p:tav tm="0">
                                          <p:val>
                                            <p:strVal val="#ppt_y+0.05"/>
                                          </p:val>
                                        </p:tav>
                                        <p:tav tm="100000">
                                          <p:val>
                                            <p:strVal val="#ppt_y"/>
                                          </p:val>
                                        </p:tav>
                                      </p:tavLst>
                                    </p:anim>
                                  </p:childTnLst>
                                </p:cTn>
                              </p:par>
                              <p:par>
                                <p:cTn id="214" presetID="42" presetClass="entr" presetSubtype="0" fill="hold" nodeType="withEffect">
                                  <p:stCondLst>
                                    <p:cond delay="2006"/>
                                  </p:stCondLst>
                                  <p:childTnLst>
                                    <p:set>
                                      <p:cBhvr>
                                        <p:cTn id="215" dur="1" fill="hold">
                                          <p:stCondLst>
                                            <p:cond delay="0"/>
                                          </p:stCondLst>
                                        </p:cTn>
                                        <p:tgtEl>
                                          <p:spTgt spid="37"/>
                                        </p:tgtEl>
                                        <p:attrNameLst>
                                          <p:attrName>style.visibility</p:attrName>
                                        </p:attrNameLst>
                                      </p:cBhvr>
                                      <p:to>
                                        <p:strVal val="visible"/>
                                      </p:to>
                                    </p:set>
                                    <p:animEffect transition="in" filter="fade">
                                      <p:cBhvr>
                                        <p:cTn id="216" dur="600"/>
                                        <p:tgtEl>
                                          <p:spTgt spid="37"/>
                                        </p:tgtEl>
                                      </p:cBhvr>
                                    </p:animEffect>
                                    <p:anim calcmode="lin" valueType="num">
                                      <p:cBhvr additive="base">
                                        <p:cTn id="217" dur="600" fill="hold"/>
                                        <p:tgtEl>
                                          <p:spTgt spid="37"/>
                                        </p:tgtEl>
                                        <p:attrNameLst>
                                          <p:attrName>ppt_y</p:attrName>
                                        </p:attrNameLst>
                                      </p:cBhvr>
                                      <p:tavLst>
                                        <p:tav tm="0">
                                          <p:val>
                                            <p:strVal val="#ppt_y+0.05"/>
                                          </p:val>
                                        </p:tav>
                                        <p:tav tm="100000">
                                          <p:val>
                                            <p:strVal val="#ppt_y"/>
                                          </p:val>
                                        </p:tav>
                                      </p:tavLst>
                                    </p:anim>
                                  </p:childTnLst>
                                </p:cTn>
                              </p:par>
                              <p:par>
                                <p:cTn id="220" presetID="42" presetClass="entr" presetSubtype="0" fill="hold" nodeType="withEffect">
                                  <p:stCondLst>
                                    <p:cond delay="2065"/>
                                  </p:stCondLst>
                                  <p:childTnLst>
                                    <p:set>
                                      <p:cBhvr>
                                        <p:cTn id="221" dur="1" fill="hold">
                                          <p:stCondLst>
                                            <p:cond delay="0"/>
                                          </p:stCondLst>
                                        </p:cTn>
                                        <p:tgtEl>
                                          <p:spTgt spid="38"/>
                                        </p:tgtEl>
                                        <p:attrNameLst>
                                          <p:attrName>style.visibility</p:attrName>
                                        </p:attrNameLst>
                                      </p:cBhvr>
                                      <p:to>
                                        <p:strVal val="visible"/>
                                      </p:to>
                                    </p:set>
                                    <p:animEffect transition="in" filter="fade">
                                      <p:cBhvr>
                                        <p:cTn id="222" dur="600"/>
                                        <p:tgtEl>
                                          <p:spTgt spid="38"/>
                                        </p:tgtEl>
                                      </p:cBhvr>
                                    </p:animEffect>
                                    <p:anim calcmode="lin" valueType="num">
                                      <p:cBhvr additive="base">
                                        <p:cTn id="223" dur="600" fill="hold"/>
                                        <p:tgtEl>
                                          <p:spTgt spid="38"/>
                                        </p:tgtEl>
                                        <p:attrNameLst>
                                          <p:attrName>ppt_y</p:attrName>
                                        </p:attrNameLst>
                                      </p:cBhvr>
                                      <p:tavLst>
                                        <p:tav tm="0">
                                          <p:val>
                                            <p:strVal val="#ppt_y+0.05"/>
                                          </p:val>
                                        </p:tav>
                                        <p:tav tm="100000">
                                          <p:val>
                                            <p:strVal val="#ppt_y"/>
                                          </p:val>
                                        </p:tav>
                                      </p:tavLst>
                                    </p:anim>
                                  </p:childTnLst>
                                </p:cTn>
                              </p:par>
                              <p:par>
                                <p:cTn id="226" presetID="42" presetClass="entr" presetSubtype="0" fill="hold" nodeType="withEffect">
                                  <p:stCondLst>
                                    <p:cond delay="2124"/>
                                  </p:stCondLst>
                                  <p:childTnLst>
                                    <p:set>
                                      <p:cBhvr>
                                        <p:cTn id="227" dur="1" fill="hold">
                                          <p:stCondLst>
                                            <p:cond delay="0"/>
                                          </p:stCondLst>
                                        </p:cTn>
                                        <p:tgtEl>
                                          <p:spTgt spid="25"/>
                                        </p:tgtEl>
                                        <p:attrNameLst>
                                          <p:attrName>style.visibility</p:attrName>
                                        </p:attrNameLst>
                                      </p:cBhvr>
                                      <p:to>
                                        <p:strVal val="visible"/>
                                      </p:to>
                                    </p:set>
                                    <p:animEffect transition="in" filter="fade">
                                      <p:cBhvr>
                                        <p:cTn id="228" dur="600"/>
                                        <p:tgtEl>
                                          <p:spTgt spid="25"/>
                                        </p:tgtEl>
                                      </p:cBhvr>
                                    </p:animEffect>
                                    <p:anim calcmode="lin" valueType="num">
                                      <p:cBhvr additive="base">
                                        <p:cTn id="229" dur="600" fill="hold"/>
                                        <p:tgtEl>
                                          <p:spTgt spid="25"/>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Data issues and how we solved them (1/2): wrong formats</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377440"/>
                <a:gridCol w="3840480"/>
                <a:gridCol w="4873752"/>
              </a:tblGrid>
              <a:tr h="4572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Issue</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232F3E"/>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Evidence</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232F3E"/>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Solution</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232F3E"/>
                    </a:solidFill>
                  </a:tcPr>
                </a:tc>
              </a:tr>
              <a:tr h="731520">
                <a:tc>
                  <a:txBody>
                    <a:bodyPr/>
                    <a:lstStyle/>
                    <a:p>
                      <a:pPr indent="0" marL="0">
                        <a:buNone/>
                      </a:pPr>
                      <a:r>
                        <a:rPr lang="en-US" sz="1500" b="1" dirty="0">
                          <a:solidFill>
                            <a:srgbClr val="232F3E"/>
                          </a:solidFill>
                          <a:latin typeface="Calibri" pitchFamily="34" charset="0"/>
                          <a:ea typeface="Calibri" pitchFamily="34" charset="-122"/>
                          <a:cs typeface="Calibri" pitchFamily="34" charset="-120"/>
                        </a:rPr>
                        <a:t>Exact duplicate rows</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2F6"/>
                    </a:solidFill>
                  </a:tcPr>
                </a:tc>
                <a:tc>
                  <a:txBody>
                    <a:bodyPr/>
                    <a:lstStyle/>
                    <a:p>
                      <a:pPr indent="0" marL="0">
                        <a:buNone/>
                      </a:pPr>
                      <a:r>
                        <a:rPr lang="en-US" sz="1500" dirty="0">
                          <a:solidFill>
                            <a:srgbClr val="131A22"/>
                          </a:solidFill>
                          <a:latin typeface="Calibri" pitchFamily="34" charset="0"/>
                          <a:ea typeface="Calibri" pitchFamily="34" charset="-122"/>
                          <a:cs typeface="Calibri" pitchFamily="34" charset="-120"/>
                        </a:rPr>
                        <a:t>21 of 340 rows were identical copies</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2F6"/>
                    </a:solidFill>
                  </a:tcPr>
                </a:tc>
                <a:tc>
                  <a:txBody>
                    <a:bodyPr/>
                    <a:lstStyle/>
                    <a:p>
                      <a:pPr indent="0" marL="0">
                        <a:buNone/>
                      </a:pPr>
                      <a:r>
                        <a:rPr lang="en-US" sz="1500" dirty="0">
                          <a:solidFill>
                            <a:srgbClr val="131A22"/>
                          </a:solidFill>
                          <a:latin typeface="Calibri" pitchFamily="34" charset="0"/>
                          <a:ea typeface="Calibri" pitchFamily="34" charset="-122"/>
                          <a:cs typeface="Calibri" pitchFamily="34" charset="-120"/>
                        </a:rPr>
                        <a:t>drop_duplicates() → 319 rows. Only exact copies were removed.</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2F6"/>
                    </a:solidFill>
                  </a:tcPr>
                </a:tc>
              </a:tr>
              <a:tr h="914400">
                <a:tc>
                  <a:txBody>
                    <a:bodyPr/>
                    <a:lstStyle/>
                    <a:p>
                      <a:pPr indent="0" marL="0">
                        <a:buNone/>
                      </a:pPr>
                      <a:r>
                        <a:rPr lang="en-US" sz="1500" b="1" dirty="0">
                          <a:solidFill>
                            <a:srgbClr val="232F3E"/>
                          </a:solidFill>
                          <a:latin typeface="Calibri" pitchFamily="34" charset="0"/>
                          <a:ea typeface="Calibri" pitchFamily="34" charset="-122"/>
                          <a:cs typeface="Calibri" pitchFamily="34" charset="-120"/>
                        </a:rPr>
                        <a:t>Prices stored as text</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rgbClr val="131A22"/>
                          </a:solidFill>
                          <a:latin typeface="Calibri" pitchFamily="34" charset="0"/>
                          <a:ea typeface="Calibri" pitchFamily="34" charset="-122"/>
                          <a:cs typeface="Calibri" pitchFamily="34" charset="-120"/>
                        </a:rPr>
                        <a:t>“$99.00 ” strings in 4 price columns, so no math or sorting</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rgbClr val="131A22"/>
                          </a:solidFill>
                          <a:latin typeface="Calibri" pitchFamily="34" charset="0"/>
                          <a:ea typeface="Calibri" pitchFamily="34" charset="-122"/>
                          <a:cs typeface="Calibri" pitchFamily="34" charset="-120"/>
                        </a:rPr>
                        <a:t>A cleaning function strips everything except digits and the dot, then converts to float. New *_num columns; raw text kept.</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914400">
                <a:tc>
                  <a:txBody>
                    <a:bodyPr/>
                    <a:lstStyle/>
                    <a:p>
                      <a:pPr indent="0" marL="0">
                        <a:buNone/>
                      </a:pPr>
                      <a:r>
                        <a:rPr lang="en-US" sz="1500" b="1" dirty="0">
                          <a:solidFill>
                            <a:srgbClr val="232F3E"/>
                          </a:solidFill>
                          <a:latin typeface="Calibri" pitchFamily="34" charset="0"/>
                          <a:ea typeface="Calibri" pitchFamily="34" charset="-122"/>
                          <a:cs typeface="Calibri" pitchFamily="34" charset="-120"/>
                        </a:rPr>
                        <a:t>Sales volume stored as text</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2F6"/>
                    </a:solidFill>
                  </a:tcPr>
                </a:tc>
                <a:tc>
                  <a:txBody>
                    <a:bodyPr/>
                    <a:lstStyle/>
                    <a:p>
                      <a:pPr indent="0" marL="0">
                        <a:buNone/>
                      </a:pPr>
                      <a:r>
                        <a:rPr lang="en-US" sz="1500" dirty="0">
                          <a:solidFill>
                            <a:srgbClr val="131A22"/>
                          </a:solidFill>
                          <a:latin typeface="Calibri" pitchFamily="34" charset="0"/>
                          <a:ea typeface="Calibri" pitchFamily="34" charset="-122"/>
                          <a:cs typeface="Calibri" pitchFamily="34" charset="-120"/>
                        </a:rPr>
                        <a:t>“4K+ bought in past month”</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2F6"/>
                    </a:solidFill>
                  </a:tcPr>
                </a:tc>
                <a:tc>
                  <a:txBody>
                    <a:bodyPr/>
                    <a:lstStyle/>
                    <a:p>
                      <a:pPr indent="0" marL="0">
                        <a:buNone/>
                      </a:pPr>
                      <a:r>
                        <a:rPr lang="en-US" sz="1500" dirty="0">
                          <a:solidFill>
                            <a:srgbClr val="131A22"/>
                          </a:solidFill>
                          <a:latin typeface="Calibri" pitchFamily="34" charset="0"/>
                          <a:ea typeface="Calibri" pitchFamily="34" charset="-122"/>
                          <a:cs typeface="Calibri" pitchFamily="34" charset="-120"/>
                        </a:rPr>
                        <a:t>Regex reads the number and the K/M suffix: 4K → 4000. Saved as sales_volume_num and described as a proxy.</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2F6"/>
                    </a:solidFill>
                  </a:tcPr>
                </a:tc>
              </a:tr>
              <a:tr h="914400">
                <a:tc>
                  <a:txBody>
                    <a:bodyPr/>
                    <a:lstStyle/>
                    <a:p>
                      <a:pPr indent="0" marL="0">
                        <a:buNone/>
                      </a:pPr>
                      <a:r>
                        <a:rPr lang="en-US" sz="1500" b="1" dirty="0">
                          <a:solidFill>
                            <a:srgbClr val="232F3E"/>
                          </a:solidFill>
                          <a:latin typeface="Calibri" pitchFamily="34" charset="0"/>
                          <a:ea typeface="Calibri" pitchFamily="34" charset="-122"/>
                          <a:cs typeface="Calibri" pitchFamily="34" charset="-120"/>
                        </a:rPr>
                        <a:t>Junk text in sales_volume</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rgbClr val="131A22"/>
                          </a:solidFill>
                          <a:latin typeface="Calibri" pitchFamily="34" charset="0"/>
                          <a:ea typeface="Calibri" pitchFamily="34" charset="-122"/>
                          <a:cs typeface="Calibri" pitchFamily="34" charset="-120"/>
                        </a:rPr>
                        <a:t>26 rows hold “More Buying Choices”, “List:”, “Typical price:”, a small-business banner</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rgbClr val="131A22"/>
                          </a:solidFill>
                          <a:latin typeface="Calibri" pitchFamily="34" charset="0"/>
                          <a:ea typeface="Calibri" pitchFamily="34" charset="-122"/>
                          <a:cs typeface="Calibri" pitchFamily="34" charset="-120"/>
                        </a:rPr>
                        <a:t>No number found, so they become NULL. 274 valid sales values remain. These are scraping leftovers, not real sales.</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bl>
          </a:graphicData>
        </a:graphic>
      </p:graphicFrame>
      <p:sp>
        <p:nvSpPr>
          <p:cNvPr id="5" name="result band"/>
          <p:cNvSpPr/>
          <p:nvPr/>
        </p:nvSpPr>
        <p:spPr>
          <a:xfrm>
            <a:off x="548640" y="5532120"/>
            <a:ext cx="11091672" cy="685800"/>
          </a:xfrm>
          <a:prstGeom prst="roundRect">
            <a:avLst>
              <a:gd name="adj" fmla="val 16000"/>
            </a:avLst>
          </a:prstGeom>
          <a:solidFill>
            <a:srgbClr val="232F3E"/>
          </a:solidFill>
          <a:ln w="12700">
            <a:solidFill>
              <a:srgbClr val="232F3E"/>
            </a:solidFill>
            <a:prstDash val="solid"/>
          </a:ln>
        </p:spPr>
      </p:sp>
      <p:sp>
        <p:nvSpPr>
          <p:cNvPr id="6" name="Text 2"/>
          <p:cNvSpPr txBox="1"/>
          <p:nvPr/>
        </p:nvSpPr>
        <p:spPr>
          <a:xfrm>
            <a:off x="777240" y="5532120"/>
            <a:ext cx="10607040" cy="6858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Result:  340 × 20 raw file   →   319 × 31 cleaned file (cleaned_phone_data.csv)</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42"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600"/>
                                        <p:tgtEl>
                                          <p:spTgt spid="2"/>
                                        </p:tgtEl>
                                      </p:cBhvr>
                                    </p:animEffect>
                                    <p:anim calcmode="lin" valueType="num">
                                      <p:cBhvr additive="base">
                                        <p:cTn id="13" dur="600" fill="hold"/>
                                        <p:tgtEl>
                                          <p:spTgt spid="2"/>
                                        </p:tgtEl>
                                        <p:attrNameLst>
                                          <p:attrName>ppt_y</p:attrName>
                                        </p:attrNameLst>
                                      </p:cBhvr>
                                      <p:tavLst>
                                        <p:tav tm="0">
                                          <p:val>
                                            <p:strVal val="#ppt_y+0.05"/>
                                          </p:val>
                                        </p:tav>
                                        <p:tav tm="100000">
                                          <p:val>
                                            <p:strVal val="#ppt_y"/>
                                          </p:val>
                                        </p:tav>
                                      </p:tavLst>
                                    </p:anim>
                                  </p:childTnLst>
                                </p:cTn>
                              </p:par>
                              <p:par>
                                <p:cTn id="16" presetID="42" presetClass="entr" presetSubtype="0" fill="hold" nodeType="withEffect">
                                  <p:stCondLst>
                                    <p:cond delay="13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additive="base">
                                        <p:cTn id="19" dur="600" fill="hold"/>
                                        <p:tgtEl>
                                          <p:spTgt spid="7"/>
                                        </p:tgtEl>
                                        <p:attrNameLst>
                                          <p:attrName>ppt_y</p:attrName>
                                        </p:attrNameLst>
                                      </p:cBhvr>
                                      <p:tavLst>
                                        <p:tav tm="0">
                                          <p:val>
                                            <p:strVal val="#ppt_y+0.05"/>
                                          </p:val>
                                        </p:tav>
                                        <p:tav tm="100000">
                                          <p:val>
                                            <p:strVal val="#ppt_y"/>
                                          </p:val>
                                        </p:tav>
                                      </p:tavLst>
                                    </p:anim>
                                  </p:childTnLst>
                                </p:cTn>
                              </p:par>
                              <p:par>
                                <p:cTn id="22" presetID="42" presetClass="entr" presetSubtype="0" fill="hold" nodeType="withEffect">
                                  <p:stCondLst>
                                    <p:cond delay="26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600"/>
                                        <p:tgtEl>
                                          <p:spTgt spid="5"/>
                                        </p:tgtEl>
                                      </p:cBhvr>
                                    </p:animEffect>
                                    <p:anim calcmode="lin" valueType="num">
                                      <p:cBhvr additive="base">
                                        <p:cTn id="25" dur="600" fill="hold"/>
                                        <p:tgtEl>
                                          <p:spTgt spid="5"/>
                                        </p:tgtEl>
                                        <p:attrNameLst>
                                          <p:attrName>ppt_y</p:attrName>
                                        </p:attrNameLst>
                                      </p:cBhvr>
                                      <p:tavLst>
                                        <p:tav tm="0">
                                          <p:val>
                                            <p:strVal val="#ppt_y+0.05"/>
                                          </p:val>
                                        </p:tav>
                                        <p:tav tm="100000">
                                          <p:val>
                                            <p:strVal val="#ppt_y"/>
                                          </p:val>
                                        </p:tav>
                                      </p:tavLst>
                                    </p:anim>
                                  </p:childTnLst>
                                </p:cTn>
                              </p:par>
                              <p:par>
                                <p:cTn id="28" presetID="42" presetClass="entr" presetSubtype="0" fill="hold" nodeType="withEffect">
                                  <p:stCondLst>
                                    <p:cond delay="39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600"/>
                                        <p:tgtEl>
                                          <p:spTgt spid="6"/>
                                        </p:tgtEl>
                                      </p:cBhvr>
                                    </p:animEffect>
                                    <p:anim calcmode="lin" valueType="num">
                                      <p:cBhvr additive="base">
                                        <p:cTn id="31" dur="600" fill="hold"/>
                                        <p:tgtEl>
                                          <p:spTgt spid="6"/>
                                        </p:tgtEl>
                                        <p:attrNameLst>
                                          <p:attrName>ppt_y</p:attrName>
                                        </p:attrNameLst>
                                      </p:cBhvr>
                                      <p:tavLst>
                                        <p:tav tm="0">
                                          <p:val>
                                            <p:strVal val="#ppt_y+0.05"/>
                                          </p:val>
                                        </p:tav>
                                        <p:tav tm="100000">
                                          <p:val>
                                            <p:strVal val="#ppt_y"/>
                                          </p:val>
                                        </p:tav>
                                      </p:tavLst>
                                    </p:anim>
                                  </p:childTnLst>
                                </p:cTn>
                              </p:par>
                              <p:par>
                                <p:cTn id="34" presetID="42" presetClass="entr" presetSubtype="0" fill="hold" nodeType="withEffect">
                                  <p:stCondLst>
                                    <p:cond delay="52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600"/>
                                        <p:tgtEl>
                                          <p:spTgt spid="25"/>
                                        </p:tgtEl>
                                      </p:cBhvr>
                                    </p:animEffect>
                                    <p:anim calcmode="lin" valueType="num">
                                      <p:cBhvr additive="base">
                                        <p:cTn id="37" dur="600" fill="hold"/>
                                        <p:tgtEl>
                                          <p:spTgt spid="25"/>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Data issues and how we solved them (2/2): missing values</a:t>
            </a:r>
            <a:endParaRPr lang="en-US" sz="3000" dirty="0"/>
          </a:p>
        </p:txBody>
      </p:sp>
      <p:graphicFrame>
        <p:nvGraphicFramePr>
          <p:cNvPr id="4" name="Chart 0" descr=""/>
          <p:cNvGraphicFramePr/>
          <p:nvPr/>
        </p:nvGraphicFramePr>
        <p:xfrm>
          <a:off x="548640" y="1371600"/>
          <a:ext cx="5760720" cy="4754880"/>
        </p:xfrm>
        <a:graphic xmlns:a="http://schemas.openxmlformats.org/drawingml/2006/main">
          <a:graphicData uri="http://schemas.openxmlformats.org/drawingml/2006/chart">
            <c:chart xmlns:c="http://schemas.openxmlformats.org/drawingml/2006/chart" r:id="rId1"/>
          </a:graphicData>
        </a:graphic>
      </p:graphicFrame>
      <p:sp>
        <p:nvSpPr>
          <p:cNvPr id="5" name="note card"/>
          <p:cNvSpPr/>
          <p:nvPr/>
        </p:nvSpPr>
        <p:spPr>
          <a:xfrm>
            <a:off x="6583680" y="1371600"/>
            <a:ext cx="5056632" cy="1097280"/>
          </a:xfrm>
          <a:prstGeom prst="roundRect">
            <a:avLst>
              <a:gd name="adj" fmla="val 10000"/>
            </a:avLst>
          </a:prstGeom>
          <a:solidFill>
            <a:srgbClr val="EEF2F6"/>
          </a:solidFill>
          <a:ln w="12700">
            <a:solidFill>
              <a:srgbClr val="EEF2F6"/>
            </a:solidFill>
            <a:prstDash val="solid"/>
          </a:ln>
        </p:spPr>
      </p:sp>
      <p:sp>
        <p:nvSpPr>
          <p:cNvPr id="6" name="Text 2"/>
          <p:cNvSpPr txBox="1"/>
          <p:nvPr/>
        </p:nvSpPr>
        <p:spPr>
          <a:xfrm>
            <a:off x="6766560" y="1463040"/>
            <a:ext cx="4663440" cy="292608"/>
          </a:xfrm>
          <a:prstGeom prst="rect">
            <a:avLst/>
          </a:prstGeom>
          <a:noFill/>
          <a:ln/>
        </p:spPr>
        <p:txBody>
          <a:bodyPr wrap="square" lIns="0" tIns="0" rIns="0" bIns="0" rtlCol="0" anchor="t"/>
          <a:lstStyle/>
          <a:p>
            <a:pPr indent="0" marL="0">
              <a:buNone/>
            </a:pPr>
            <a:r>
              <a:rPr lang="en-US" sz="1500" b="1" dirty="0">
                <a:solidFill>
                  <a:srgbClr val="232F3E"/>
                </a:solidFill>
                <a:latin typeface="Calibri" pitchFamily="34" charset="0"/>
                <a:ea typeface="Calibri" pitchFamily="34" charset="-122"/>
                <a:cs typeface="Calibri" pitchFamily="34" charset="-120"/>
              </a:rPr>
              <a:t>Blank ≠ error</a:t>
            </a:r>
            <a:endParaRPr lang="en-US" sz="1500" dirty="0"/>
          </a:p>
        </p:txBody>
      </p:sp>
      <p:sp>
        <p:nvSpPr>
          <p:cNvPr id="7" name="Text 3"/>
          <p:cNvSpPr txBox="1"/>
          <p:nvPr/>
        </p:nvSpPr>
        <p:spPr>
          <a:xfrm>
            <a:off x="6766560" y="1783080"/>
            <a:ext cx="4663440" cy="658368"/>
          </a:xfrm>
          <a:prstGeom prst="rect">
            <a:avLst/>
          </a:prstGeom>
          <a:noFill/>
          <a:ln/>
        </p:spPr>
        <p:txBody>
          <a:bodyPr wrap="square" lIns="0" tIns="0" rIns="0" bIns="0" rtlCol="0" anchor="t"/>
          <a:lstStyle/>
          <a:p>
            <a:pPr indent="0" marL="0">
              <a:buNone/>
            </a:pPr>
            <a:r>
              <a:rPr lang="en-US" sz="1300" dirty="0">
                <a:solidFill>
                  <a:srgbClr val="131A22"/>
                </a:solidFill>
                <a:latin typeface="Calibri" pitchFamily="34" charset="0"/>
                <a:ea typeface="Calibri" pitchFamily="34" charset="-122"/>
                <a:cs typeface="Calibri" pitchFamily="34" charset="-120"/>
              </a:rPr>
              <a:t>A blank original price means no discount is shown; a blank coupon means no coupon. NULLs were kept, nothing was imputed.</a:t>
            </a:r>
            <a:endParaRPr lang="en-US" sz="1300" dirty="0"/>
          </a:p>
        </p:txBody>
      </p:sp>
      <p:sp>
        <p:nvSpPr>
          <p:cNvPr id="8" name="note card"/>
          <p:cNvSpPr/>
          <p:nvPr/>
        </p:nvSpPr>
        <p:spPr>
          <a:xfrm>
            <a:off x="6583680" y="2587752"/>
            <a:ext cx="5056632" cy="1097280"/>
          </a:xfrm>
          <a:prstGeom prst="roundRect">
            <a:avLst>
              <a:gd name="adj" fmla="val 10000"/>
            </a:avLst>
          </a:prstGeom>
          <a:solidFill>
            <a:srgbClr val="EEF2F6"/>
          </a:solidFill>
          <a:ln w="12700">
            <a:solidFill>
              <a:srgbClr val="EEF2F6"/>
            </a:solidFill>
            <a:prstDash val="solid"/>
          </a:ln>
        </p:spPr>
      </p:sp>
      <p:sp>
        <p:nvSpPr>
          <p:cNvPr id="9" name="Text 5"/>
          <p:cNvSpPr txBox="1"/>
          <p:nvPr/>
        </p:nvSpPr>
        <p:spPr>
          <a:xfrm>
            <a:off x="6766560" y="2679192"/>
            <a:ext cx="4663440" cy="292608"/>
          </a:xfrm>
          <a:prstGeom prst="rect">
            <a:avLst/>
          </a:prstGeom>
          <a:noFill/>
          <a:ln/>
        </p:spPr>
        <p:txBody>
          <a:bodyPr wrap="square" lIns="0" tIns="0" rIns="0" bIns="0" rtlCol="0" anchor="t"/>
          <a:lstStyle/>
          <a:p>
            <a:pPr indent="0" marL="0">
              <a:buNone/>
            </a:pPr>
            <a:r>
              <a:rPr lang="en-US" sz="1500" b="1" dirty="0">
                <a:solidFill>
                  <a:srgbClr val="232F3E"/>
                </a:solidFill>
                <a:latin typeface="Calibri" pitchFamily="34" charset="0"/>
                <a:ea typeface="Calibri" pitchFamily="34" charset="-122"/>
                <a:cs typeface="Calibri" pitchFamily="34" charset="-120"/>
              </a:rPr>
              <a:t>Flags instead of text</a:t>
            </a:r>
            <a:endParaRPr lang="en-US" sz="1500" dirty="0"/>
          </a:p>
        </p:txBody>
      </p:sp>
      <p:sp>
        <p:nvSpPr>
          <p:cNvPr id="10" name="Text 6"/>
          <p:cNvSpPr txBox="1"/>
          <p:nvPr/>
        </p:nvSpPr>
        <p:spPr>
          <a:xfrm>
            <a:off x="6766560" y="2999232"/>
            <a:ext cx="4663440" cy="658368"/>
          </a:xfrm>
          <a:prstGeom prst="rect">
            <a:avLst/>
          </a:prstGeom>
          <a:noFill/>
          <a:ln/>
        </p:spPr>
        <p:txBody>
          <a:bodyPr wrap="square" lIns="0" tIns="0" rIns="0" bIns="0" rtlCol="0" anchor="t"/>
          <a:lstStyle/>
          <a:p>
            <a:pPr indent="0" marL="0">
              <a:buNone/>
            </a:pPr>
            <a:r>
              <a:rPr lang="en-US" sz="1300" dirty="0">
                <a:solidFill>
                  <a:srgbClr val="131A22"/>
                </a:solidFill>
                <a:latin typeface="Calibri" pitchFamily="34" charset="0"/>
                <a:ea typeface="Calibri" pitchFamily="34" charset="-122"/>
                <a:cs typeface="Calibri" pitchFamily="34" charset="-120"/>
              </a:rPr>
              <a:t>has_discount and has_coupon turn those blanks into clean True/False fields. Discount is calculated only when both prices exist.</a:t>
            </a:r>
            <a:endParaRPr lang="en-US" sz="1300" dirty="0"/>
          </a:p>
        </p:txBody>
      </p:sp>
      <p:sp>
        <p:nvSpPr>
          <p:cNvPr id="11" name="note card"/>
          <p:cNvSpPr/>
          <p:nvPr/>
        </p:nvSpPr>
        <p:spPr>
          <a:xfrm>
            <a:off x="6583680" y="3803904"/>
            <a:ext cx="5056632" cy="1097280"/>
          </a:xfrm>
          <a:prstGeom prst="roundRect">
            <a:avLst>
              <a:gd name="adj" fmla="val 10000"/>
            </a:avLst>
          </a:prstGeom>
          <a:solidFill>
            <a:srgbClr val="EEF2F6"/>
          </a:solidFill>
          <a:ln w="12700">
            <a:solidFill>
              <a:srgbClr val="EEF2F6"/>
            </a:solidFill>
            <a:prstDash val="solid"/>
          </a:ln>
        </p:spPr>
      </p:sp>
      <p:sp>
        <p:nvSpPr>
          <p:cNvPr id="12" name="Text 8"/>
          <p:cNvSpPr txBox="1"/>
          <p:nvPr/>
        </p:nvSpPr>
        <p:spPr>
          <a:xfrm>
            <a:off x="6766560" y="3895344"/>
            <a:ext cx="4663440" cy="292608"/>
          </a:xfrm>
          <a:prstGeom prst="rect">
            <a:avLst/>
          </a:prstGeom>
          <a:noFill/>
          <a:ln/>
        </p:spPr>
        <p:txBody>
          <a:bodyPr wrap="square" lIns="0" tIns="0" rIns="0" bIns="0" rtlCol="0" anchor="t"/>
          <a:lstStyle/>
          <a:p>
            <a:pPr indent="0" marL="0">
              <a:buNone/>
            </a:pPr>
            <a:r>
              <a:rPr lang="en-US" sz="1500" b="1" dirty="0">
                <a:solidFill>
                  <a:srgbClr val="232F3E"/>
                </a:solidFill>
                <a:latin typeface="Calibri" pitchFamily="34" charset="0"/>
                <a:ea typeface="Calibri" pitchFamily="34" charset="-122"/>
                <a:cs typeface="Calibri" pitchFamily="34" charset="-120"/>
              </a:rPr>
              <a:t>Rows with gaps</a:t>
            </a:r>
            <a:endParaRPr lang="en-US" sz="1500" dirty="0"/>
          </a:p>
        </p:txBody>
      </p:sp>
      <p:sp>
        <p:nvSpPr>
          <p:cNvPr id="13" name="Text 9"/>
          <p:cNvSpPr txBox="1"/>
          <p:nvPr/>
        </p:nvSpPr>
        <p:spPr>
          <a:xfrm>
            <a:off x="6766560" y="4215384"/>
            <a:ext cx="4663440" cy="658368"/>
          </a:xfrm>
          <a:prstGeom prst="rect">
            <a:avLst/>
          </a:prstGeom>
          <a:noFill/>
          <a:ln/>
        </p:spPr>
        <p:txBody>
          <a:bodyPr wrap="square" lIns="0" tIns="0" rIns="0" bIns="0" rtlCol="0" anchor="t"/>
          <a:lstStyle/>
          <a:p>
            <a:pPr indent="0" marL="0">
              <a:buNone/>
            </a:pPr>
            <a:r>
              <a:rPr lang="en-US" sz="1300" dirty="0">
                <a:solidFill>
                  <a:srgbClr val="131A22"/>
                </a:solidFill>
                <a:latin typeface="Calibri" pitchFamily="34" charset="0"/>
                <a:ea typeface="Calibri" pitchFamily="34" charset="-122"/>
                <a:cs typeface="Calibri" pitchFamily="34" charset="-120"/>
              </a:rPr>
              <a:t>4 rows have no price and 3 rows have no rating (0 ratings). They stay in the data, are labelled “Unknown”, and averages ignore them.</a:t>
            </a:r>
            <a:endParaRPr lang="en-US" sz="1300" dirty="0"/>
          </a:p>
        </p:txBody>
      </p:sp>
      <p:sp>
        <p:nvSpPr>
          <p:cNvPr id="14" name="note card"/>
          <p:cNvSpPr/>
          <p:nvPr/>
        </p:nvSpPr>
        <p:spPr>
          <a:xfrm>
            <a:off x="6583680" y="5020056"/>
            <a:ext cx="5056632" cy="1097280"/>
          </a:xfrm>
          <a:prstGeom prst="roundRect">
            <a:avLst>
              <a:gd name="adj" fmla="val 10000"/>
            </a:avLst>
          </a:prstGeom>
          <a:solidFill>
            <a:srgbClr val="EEF2F6"/>
          </a:solidFill>
          <a:ln w="12700">
            <a:solidFill>
              <a:srgbClr val="EEF2F6"/>
            </a:solidFill>
            <a:prstDash val="solid"/>
          </a:ln>
        </p:spPr>
      </p:sp>
      <p:sp>
        <p:nvSpPr>
          <p:cNvPr id="15" name="Text 11"/>
          <p:cNvSpPr txBox="1"/>
          <p:nvPr/>
        </p:nvSpPr>
        <p:spPr>
          <a:xfrm>
            <a:off x="6766560" y="5111496"/>
            <a:ext cx="4663440" cy="292608"/>
          </a:xfrm>
          <a:prstGeom prst="rect">
            <a:avLst/>
          </a:prstGeom>
          <a:noFill/>
          <a:ln/>
        </p:spPr>
        <p:txBody>
          <a:bodyPr wrap="square" lIns="0" tIns="0" rIns="0" bIns="0" rtlCol="0" anchor="t"/>
          <a:lstStyle/>
          <a:p>
            <a:pPr indent="0" marL="0">
              <a:buNone/>
            </a:pPr>
            <a:r>
              <a:rPr lang="en-US" sz="1500" b="1" dirty="0">
                <a:solidFill>
                  <a:srgbClr val="232F3E"/>
                </a:solidFill>
                <a:latin typeface="Calibri" pitchFamily="34" charset="0"/>
                <a:ea typeface="Calibri" pitchFamily="34" charset="-122"/>
                <a:cs typeface="Calibri" pitchFamily="34" charset="-120"/>
              </a:rPr>
              <a:t>Sanity checks</a:t>
            </a:r>
            <a:endParaRPr lang="en-US" sz="1500" dirty="0"/>
          </a:p>
        </p:txBody>
      </p:sp>
      <p:sp>
        <p:nvSpPr>
          <p:cNvPr id="16" name="Text 12"/>
          <p:cNvSpPr txBox="1"/>
          <p:nvPr/>
        </p:nvSpPr>
        <p:spPr>
          <a:xfrm>
            <a:off x="6766560" y="5431536"/>
            <a:ext cx="4663440" cy="658368"/>
          </a:xfrm>
          <a:prstGeom prst="rect">
            <a:avLst/>
          </a:prstGeom>
          <a:noFill/>
          <a:ln/>
        </p:spPr>
        <p:txBody>
          <a:bodyPr wrap="square" lIns="0" tIns="0" rIns="0" bIns="0" rtlCol="0" anchor="t"/>
          <a:lstStyle/>
          <a:p>
            <a:pPr indent="0" marL="0">
              <a:buNone/>
            </a:pPr>
            <a:r>
              <a:rPr lang="en-US" sz="1300" dirty="0">
                <a:solidFill>
                  <a:srgbClr val="131A22"/>
                </a:solidFill>
                <a:latin typeface="Calibri" pitchFamily="34" charset="0"/>
                <a:ea typeface="Calibri" pitchFamily="34" charset="-122"/>
                <a:cs typeface="Calibri" pitchFamily="34" charset="-120"/>
              </a:rPr>
              <a:t>Ratings range 1.6–5.0, lowest price $7.99, discounts 4.8%–75%. No negative or impossible values; a guard sets any negative discount to NULL.</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42"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600"/>
                                        <p:tgtEl>
                                          <p:spTgt spid="2"/>
                                        </p:tgtEl>
                                      </p:cBhvr>
                                    </p:animEffect>
                                    <p:anim calcmode="lin" valueType="num">
                                      <p:cBhvr additive="base">
                                        <p:cTn id="13" dur="600" fill="hold"/>
                                        <p:tgtEl>
                                          <p:spTgt spid="2"/>
                                        </p:tgtEl>
                                        <p:attrNameLst>
                                          <p:attrName>ppt_y</p:attrName>
                                        </p:attrNameLst>
                                      </p:cBhvr>
                                      <p:tavLst>
                                        <p:tav tm="0">
                                          <p:val>
                                            <p:strVal val="#ppt_y+0.05"/>
                                          </p:val>
                                        </p:tav>
                                        <p:tav tm="100000">
                                          <p:val>
                                            <p:strVal val="#ppt_y"/>
                                          </p:val>
                                        </p:tav>
                                      </p:tavLst>
                                    </p:anim>
                                  </p:childTnLst>
                                </p:cTn>
                              </p:par>
                              <p:par>
                                <p:cTn id="16" presetID="42" presetClass="entr" presetSubtype="0" fill="hold" nodeType="withEffect">
                                  <p:stCondLst>
                                    <p:cond delay="13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600"/>
                                        <p:tgtEl>
                                          <p:spTgt spid="4"/>
                                        </p:tgtEl>
                                      </p:cBhvr>
                                    </p:animEffect>
                                    <p:anim calcmode="lin" valueType="num">
                                      <p:cBhvr additive="base">
                                        <p:cTn id="19" dur="600" fill="hold"/>
                                        <p:tgtEl>
                                          <p:spTgt spid="4"/>
                                        </p:tgtEl>
                                        <p:attrNameLst>
                                          <p:attrName>ppt_y</p:attrName>
                                        </p:attrNameLst>
                                      </p:cBhvr>
                                      <p:tavLst>
                                        <p:tav tm="0">
                                          <p:val>
                                            <p:strVal val="#ppt_y+0.05"/>
                                          </p:val>
                                        </p:tav>
                                        <p:tav tm="100000">
                                          <p:val>
                                            <p:strVal val="#ppt_y"/>
                                          </p:val>
                                        </p:tav>
                                      </p:tavLst>
                                    </p:anim>
                                  </p:childTnLst>
                                </p:cTn>
                              </p:par>
                              <p:par>
                                <p:cTn id="22" presetID="42" presetClass="entr" presetSubtype="0" fill="hold" nodeType="withEffect">
                                  <p:stCondLst>
                                    <p:cond delay="26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600"/>
                                        <p:tgtEl>
                                          <p:spTgt spid="5"/>
                                        </p:tgtEl>
                                      </p:cBhvr>
                                    </p:animEffect>
                                    <p:anim calcmode="lin" valueType="num">
                                      <p:cBhvr additive="base">
                                        <p:cTn id="25" dur="600" fill="hold"/>
                                        <p:tgtEl>
                                          <p:spTgt spid="5"/>
                                        </p:tgtEl>
                                        <p:attrNameLst>
                                          <p:attrName>ppt_y</p:attrName>
                                        </p:attrNameLst>
                                      </p:cBhvr>
                                      <p:tavLst>
                                        <p:tav tm="0">
                                          <p:val>
                                            <p:strVal val="#ppt_y+0.05"/>
                                          </p:val>
                                        </p:tav>
                                        <p:tav tm="100000">
                                          <p:val>
                                            <p:strVal val="#ppt_y"/>
                                          </p:val>
                                        </p:tav>
                                      </p:tavLst>
                                    </p:anim>
                                  </p:childTnLst>
                                </p:cTn>
                              </p:par>
                              <p:par>
                                <p:cTn id="28" presetID="42" presetClass="entr" presetSubtype="0" fill="hold" nodeType="withEffect">
                                  <p:stCondLst>
                                    <p:cond delay="39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600"/>
                                        <p:tgtEl>
                                          <p:spTgt spid="6"/>
                                        </p:tgtEl>
                                      </p:cBhvr>
                                    </p:animEffect>
                                    <p:anim calcmode="lin" valueType="num">
                                      <p:cBhvr additive="base">
                                        <p:cTn id="31" dur="600" fill="hold"/>
                                        <p:tgtEl>
                                          <p:spTgt spid="6"/>
                                        </p:tgtEl>
                                        <p:attrNameLst>
                                          <p:attrName>ppt_y</p:attrName>
                                        </p:attrNameLst>
                                      </p:cBhvr>
                                      <p:tavLst>
                                        <p:tav tm="0">
                                          <p:val>
                                            <p:strVal val="#ppt_y+0.05"/>
                                          </p:val>
                                        </p:tav>
                                        <p:tav tm="100000">
                                          <p:val>
                                            <p:strVal val="#ppt_y"/>
                                          </p:val>
                                        </p:tav>
                                      </p:tavLst>
                                    </p:anim>
                                  </p:childTnLst>
                                </p:cTn>
                              </p:par>
                              <p:par>
                                <p:cTn id="34" presetID="42" presetClass="entr" presetSubtype="0" fill="hold" nodeType="withEffect">
                                  <p:stCondLst>
                                    <p:cond delay="52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600"/>
                                        <p:tgtEl>
                                          <p:spTgt spid="7"/>
                                        </p:tgtEl>
                                      </p:cBhvr>
                                    </p:animEffect>
                                    <p:anim calcmode="lin" valueType="num">
                                      <p:cBhvr additive="base">
                                        <p:cTn id="37" dur="600" fill="hold"/>
                                        <p:tgtEl>
                                          <p:spTgt spid="7"/>
                                        </p:tgtEl>
                                        <p:attrNameLst>
                                          <p:attrName>ppt_y</p:attrName>
                                        </p:attrNameLst>
                                      </p:cBhvr>
                                      <p:tavLst>
                                        <p:tav tm="0">
                                          <p:val>
                                            <p:strVal val="#ppt_y+0.05"/>
                                          </p:val>
                                        </p:tav>
                                        <p:tav tm="100000">
                                          <p:val>
                                            <p:strVal val="#ppt_y"/>
                                          </p:val>
                                        </p:tav>
                                      </p:tavLst>
                                    </p:anim>
                                  </p:childTnLst>
                                </p:cTn>
                              </p:par>
                              <p:par>
                                <p:cTn id="40" presetID="42" presetClass="entr" presetSubtype="0" fill="hold" nodeType="withEffect">
                                  <p:stCondLst>
                                    <p:cond delay="65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600"/>
                                        <p:tgtEl>
                                          <p:spTgt spid="8"/>
                                        </p:tgtEl>
                                      </p:cBhvr>
                                    </p:animEffect>
                                    <p:anim calcmode="lin" valueType="num">
                                      <p:cBhvr additive="base">
                                        <p:cTn id="43" dur="600" fill="hold"/>
                                        <p:tgtEl>
                                          <p:spTgt spid="8"/>
                                        </p:tgtEl>
                                        <p:attrNameLst>
                                          <p:attrName>ppt_y</p:attrName>
                                        </p:attrNameLst>
                                      </p:cBhvr>
                                      <p:tavLst>
                                        <p:tav tm="0">
                                          <p:val>
                                            <p:strVal val="#ppt_y+0.05"/>
                                          </p:val>
                                        </p:tav>
                                        <p:tav tm="100000">
                                          <p:val>
                                            <p:strVal val="#ppt_y"/>
                                          </p:val>
                                        </p:tav>
                                      </p:tavLst>
                                    </p:anim>
                                  </p:childTnLst>
                                </p:cTn>
                              </p:par>
                              <p:par>
                                <p:cTn id="46" presetID="42" presetClass="entr" presetSubtype="0" fill="hold" nodeType="withEffect">
                                  <p:stCondLst>
                                    <p:cond delay="78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600"/>
                                        <p:tgtEl>
                                          <p:spTgt spid="9"/>
                                        </p:tgtEl>
                                      </p:cBhvr>
                                    </p:animEffect>
                                    <p:anim calcmode="lin" valueType="num">
                                      <p:cBhvr additive="base">
                                        <p:cTn id="49" dur="600" fill="hold"/>
                                        <p:tgtEl>
                                          <p:spTgt spid="9"/>
                                        </p:tgtEl>
                                        <p:attrNameLst>
                                          <p:attrName>ppt_y</p:attrName>
                                        </p:attrNameLst>
                                      </p:cBhvr>
                                      <p:tavLst>
                                        <p:tav tm="0">
                                          <p:val>
                                            <p:strVal val="#ppt_y+0.05"/>
                                          </p:val>
                                        </p:tav>
                                        <p:tav tm="100000">
                                          <p:val>
                                            <p:strVal val="#ppt_y"/>
                                          </p:val>
                                        </p:tav>
                                      </p:tavLst>
                                    </p:anim>
                                  </p:childTnLst>
                                </p:cTn>
                              </p:par>
                              <p:par>
                                <p:cTn id="52" presetID="42" presetClass="entr" presetSubtype="0" fill="hold" nodeType="withEffect">
                                  <p:stCondLst>
                                    <p:cond delay="910"/>
                                  </p:stCondLst>
                                  <p:childTnLst>
                                    <p:set>
                                      <p:cBhvr>
                                        <p:cTn id="53" dur="1" fill="hold">
                                          <p:stCondLst>
                                            <p:cond delay="0"/>
                                          </p:stCondLst>
                                        </p:cTn>
                                        <p:tgtEl>
                                          <p:spTgt spid="10"/>
                                        </p:tgtEl>
                                        <p:attrNameLst>
                                          <p:attrName>style.visibility</p:attrName>
                                        </p:attrNameLst>
                                      </p:cBhvr>
                                      <p:to>
                                        <p:strVal val="visible"/>
                                      </p:to>
                                    </p:set>
                                    <p:animEffect transition="in" filter="fade">
                                      <p:cBhvr>
                                        <p:cTn id="54" dur="600"/>
                                        <p:tgtEl>
                                          <p:spTgt spid="10"/>
                                        </p:tgtEl>
                                      </p:cBhvr>
                                    </p:animEffect>
                                    <p:anim calcmode="lin" valueType="num">
                                      <p:cBhvr additive="base">
                                        <p:cTn id="55" dur="600" fill="hold"/>
                                        <p:tgtEl>
                                          <p:spTgt spid="10"/>
                                        </p:tgtEl>
                                        <p:attrNameLst>
                                          <p:attrName>ppt_y</p:attrName>
                                        </p:attrNameLst>
                                      </p:cBhvr>
                                      <p:tavLst>
                                        <p:tav tm="0">
                                          <p:val>
                                            <p:strVal val="#ppt_y+0.05"/>
                                          </p:val>
                                        </p:tav>
                                        <p:tav tm="100000">
                                          <p:val>
                                            <p:strVal val="#ppt_y"/>
                                          </p:val>
                                        </p:tav>
                                      </p:tavLst>
                                    </p:anim>
                                  </p:childTnLst>
                                </p:cTn>
                              </p:par>
                              <p:par>
                                <p:cTn id="58" presetID="42" presetClass="entr" presetSubtype="0" fill="hold" nodeType="withEffect">
                                  <p:stCondLst>
                                    <p:cond delay="1040"/>
                                  </p:stCondLst>
                                  <p:childTnLst>
                                    <p:set>
                                      <p:cBhvr>
                                        <p:cTn id="59" dur="1" fill="hold">
                                          <p:stCondLst>
                                            <p:cond delay="0"/>
                                          </p:stCondLst>
                                        </p:cTn>
                                        <p:tgtEl>
                                          <p:spTgt spid="11"/>
                                        </p:tgtEl>
                                        <p:attrNameLst>
                                          <p:attrName>style.visibility</p:attrName>
                                        </p:attrNameLst>
                                      </p:cBhvr>
                                      <p:to>
                                        <p:strVal val="visible"/>
                                      </p:to>
                                    </p:set>
                                    <p:animEffect transition="in" filter="fade">
                                      <p:cBhvr>
                                        <p:cTn id="60" dur="600"/>
                                        <p:tgtEl>
                                          <p:spTgt spid="11"/>
                                        </p:tgtEl>
                                      </p:cBhvr>
                                    </p:animEffect>
                                    <p:anim calcmode="lin" valueType="num">
                                      <p:cBhvr additive="base">
                                        <p:cTn id="61" dur="600" fill="hold"/>
                                        <p:tgtEl>
                                          <p:spTgt spid="11"/>
                                        </p:tgtEl>
                                        <p:attrNameLst>
                                          <p:attrName>ppt_y</p:attrName>
                                        </p:attrNameLst>
                                      </p:cBhvr>
                                      <p:tavLst>
                                        <p:tav tm="0">
                                          <p:val>
                                            <p:strVal val="#ppt_y+0.05"/>
                                          </p:val>
                                        </p:tav>
                                        <p:tav tm="100000">
                                          <p:val>
                                            <p:strVal val="#ppt_y"/>
                                          </p:val>
                                        </p:tav>
                                      </p:tavLst>
                                    </p:anim>
                                  </p:childTnLst>
                                </p:cTn>
                              </p:par>
                              <p:par>
                                <p:cTn id="64" presetID="42" presetClass="entr" presetSubtype="0" fill="hold" nodeType="withEffect">
                                  <p:stCondLst>
                                    <p:cond delay="1170"/>
                                  </p:stCondLst>
                                  <p:childTnLst>
                                    <p:set>
                                      <p:cBhvr>
                                        <p:cTn id="65" dur="1" fill="hold">
                                          <p:stCondLst>
                                            <p:cond delay="0"/>
                                          </p:stCondLst>
                                        </p:cTn>
                                        <p:tgtEl>
                                          <p:spTgt spid="12"/>
                                        </p:tgtEl>
                                        <p:attrNameLst>
                                          <p:attrName>style.visibility</p:attrName>
                                        </p:attrNameLst>
                                      </p:cBhvr>
                                      <p:to>
                                        <p:strVal val="visible"/>
                                      </p:to>
                                    </p:set>
                                    <p:animEffect transition="in" filter="fade">
                                      <p:cBhvr>
                                        <p:cTn id="66" dur="600"/>
                                        <p:tgtEl>
                                          <p:spTgt spid="12"/>
                                        </p:tgtEl>
                                      </p:cBhvr>
                                    </p:animEffect>
                                    <p:anim calcmode="lin" valueType="num">
                                      <p:cBhvr additive="base">
                                        <p:cTn id="67" dur="600" fill="hold"/>
                                        <p:tgtEl>
                                          <p:spTgt spid="12"/>
                                        </p:tgtEl>
                                        <p:attrNameLst>
                                          <p:attrName>ppt_y</p:attrName>
                                        </p:attrNameLst>
                                      </p:cBhvr>
                                      <p:tavLst>
                                        <p:tav tm="0">
                                          <p:val>
                                            <p:strVal val="#ppt_y+0.05"/>
                                          </p:val>
                                        </p:tav>
                                        <p:tav tm="100000">
                                          <p:val>
                                            <p:strVal val="#ppt_y"/>
                                          </p:val>
                                        </p:tav>
                                      </p:tavLst>
                                    </p:anim>
                                  </p:childTnLst>
                                </p:cTn>
                              </p:par>
                              <p:par>
                                <p:cTn id="70" presetID="42" presetClass="entr" presetSubtype="0" fill="hold" nodeType="withEffect">
                                  <p:stCondLst>
                                    <p:cond delay="1300"/>
                                  </p:stCondLst>
                                  <p:childTnLst>
                                    <p:set>
                                      <p:cBhvr>
                                        <p:cTn id="71" dur="1" fill="hold">
                                          <p:stCondLst>
                                            <p:cond delay="0"/>
                                          </p:stCondLst>
                                        </p:cTn>
                                        <p:tgtEl>
                                          <p:spTgt spid="13"/>
                                        </p:tgtEl>
                                        <p:attrNameLst>
                                          <p:attrName>style.visibility</p:attrName>
                                        </p:attrNameLst>
                                      </p:cBhvr>
                                      <p:to>
                                        <p:strVal val="visible"/>
                                      </p:to>
                                    </p:set>
                                    <p:animEffect transition="in" filter="fade">
                                      <p:cBhvr>
                                        <p:cTn id="72" dur="600"/>
                                        <p:tgtEl>
                                          <p:spTgt spid="13"/>
                                        </p:tgtEl>
                                      </p:cBhvr>
                                    </p:animEffect>
                                    <p:anim calcmode="lin" valueType="num">
                                      <p:cBhvr additive="base">
                                        <p:cTn id="73" dur="600" fill="hold"/>
                                        <p:tgtEl>
                                          <p:spTgt spid="13"/>
                                        </p:tgtEl>
                                        <p:attrNameLst>
                                          <p:attrName>ppt_y</p:attrName>
                                        </p:attrNameLst>
                                      </p:cBhvr>
                                      <p:tavLst>
                                        <p:tav tm="0">
                                          <p:val>
                                            <p:strVal val="#ppt_y+0.05"/>
                                          </p:val>
                                        </p:tav>
                                        <p:tav tm="100000">
                                          <p:val>
                                            <p:strVal val="#ppt_y"/>
                                          </p:val>
                                        </p:tav>
                                      </p:tavLst>
                                    </p:anim>
                                  </p:childTnLst>
                                </p:cTn>
                              </p:par>
                              <p:par>
                                <p:cTn id="76" presetID="42" presetClass="entr" presetSubtype="0" fill="hold" nodeType="withEffect">
                                  <p:stCondLst>
                                    <p:cond delay="1430"/>
                                  </p:stCondLst>
                                  <p:childTnLst>
                                    <p:set>
                                      <p:cBhvr>
                                        <p:cTn id="77" dur="1" fill="hold">
                                          <p:stCondLst>
                                            <p:cond delay="0"/>
                                          </p:stCondLst>
                                        </p:cTn>
                                        <p:tgtEl>
                                          <p:spTgt spid="14"/>
                                        </p:tgtEl>
                                        <p:attrNameLst>
                                          <p:attrName>style.visibility</p:attrName>
                                        </p:attrNameLst>
                                      </p:cBhvr>
                                      <p:to>
                                        <p:strVal val="visible"/>
                                      </p:to>
                                    </p:set>
                                    <p:animEffect transition="in" filter="fade">
                                      <p:cBhvr>
                                        <p:cTn id="78" dur="600"/>
                                        <p:tgtEl>
                                          <p:spTgt spid="14"/>
                                        </p:tgtEl>
                                      </p:cBhvr>
                                    </p:animEffect>
                                    <p:anim calcmode="lin" valueType="num">
                                      <p:cBhvr additive="base">
                                        <p:cTn id="79" dur="600" fill="hold"/>
                                        <p:tgtEl>
                                          <p:spTgt spid="14"/>
                                        </p:tgtEl>
                                        <p:attrNameLst>
                                          <p:attrName>ppt_y</p:attrName>
                                        </p:attrNameLst>
                                      </p:cBhvr>
                                      <p:tavLst>
                                        <p:tav tm="0">
                                          <p:val>
                                            <p:strVal val="#ppt_y+0.05"/>
                                          </p:val>
                                        </p:tav>
                                        <p:tav tm="100000">
                                          <p:val>
                                            <p:strVal val="#ppt_y"/>
                                          </p:val>
                                        </p:tav>
                                      </p:tavLst>
                                    </p:anim>
                                  </p:childTnLst>
                                </p:cTn>
                              </p:par>
                              <p:par>
                                <p:cTn id="82" presetID="42" presetClass="entr" presetSubtype="0" fill="hold" nodeType="withEffect">
                                  <p:stCondLst>
                                    <p:cond delay="1560"/>
                                  </p:stCondLst>
                                  <p:childTnLst>
                                    <p:set>
                                      <p:cBhvr>
                                        <p:cTn id="83" dur="1" fill="hold">
                                          <p:stCondLst>
                                            <p:cond delay="0"/>
                                          </p:stCondLst>
                                        </p:cTn>
                                        <p:tgtEl>
                                          <p:spTgt spid="15"/>
                                        </p:tgtEl>
                                        <p:attrNameLst>
                                          <p:attrName>style.visibility</p:attrName>
                                        </p:attrNameLst>
                                      </p:cBhvr>
                                      <p:to>
                                        <p:strVal val="visible"/>
                                      </p:to>
                                    </p:set>
                                    <p:animEffect transition="in" filter="fade">
                                      <p:cBhvr>
                                        <p:cTn id="84" dur="600"/>
                                        <p:tgtEl>
                                          <p:spTgt spid="15"/>
                                        </p:tgtEl>
                                      </p:cBhvr>
                                    </p:animEffect>
                                    <p:anim calcmode="lin" valueType="num">
                                      <p:cBhvr additive="base">
                                        <p:cTn id="85" dur="600" fill="hold"/>
                                        <p:tgtEl>
                                          <p:spTgt spid="15"/>
                                        </p:tgtEl>
                                        <p:attrNameLst>
                                          <p:attrName>ppt_y</p:attrName>
                                        </p:attrNameLst>
                                      </p:cBhvr>
                                      <p:tavLst>
                                        <p:tav tm="0">
                                          <p:val>
                                            <p:strVal val="#ppt_y+0.05"/>
                                          </p:val>
                                        </p:tav>
                                        <p:tav tm="100000">
                                          <p:val>
                                            <p:strVal val="#ppt_y"/>
                                          </p:val>
                                        </p:tav>
                                      </p:tavLst>
                                    </p:anim>
                                  </p:childTnLst>
                                </p:cTn>
                              </p:par>
                              <p:par>
                                <p:cTn id="88" presetID="42" presetClass="entr" presetSubtype="0" fill="hold" nodeType="withEffect">
                                  <p:stCondLst>
                                    <p:cond delay="1690"/>
                                  </p:stCondLst>
                                  <p:childTnLst>
                                    <p:set>
                                      <p:cBhvr>
                                        <p:cTn id="89" dur="1" fill="hold">
                                          <p:stCondLst>
                                            <p:cond delay="0"/>
                                          </p:stCondLst>
                                        </p:cTn>
                                        <p:tgtEl>
                                          <p:spTgt spid="16"/>
                                        </p:tgtEl>
                                        <p:attrNameLst>
                                          <p:attrName>style.visibility</p:attrName>
                                        </p:attrNameLst>
                                      </p:cBhvr>
                                      <p:to>
                                        <p:strVal val="visible"/>
                                      </p:to>
                                    </p:set>
                                    <p:animEffect transition="in" filter="fade">
                                      <p:cBhvr>
                                        <p:cTn id="90" dur="600"/>
                                        <p:tgtEl>
                                          <p:spTgt spid="16"/>
                                        </p:tgtEl>
                                      </p:cBhvr>
                                    </p:animEffect>
                                    <p:anim calcmode="lin" valueType="num">
                                      <p:cBhvr additive="base">
                                        <p:cTn id="91" dur="600" fill="hold"/>
                                        <p:tgtEl>
                                          <p:spTgt spid="16"/>
                                        </p:tgtEl>
                                        <p:attrNameLst>
                                          <p:attrName>ppt_y</p:attrName>
                                        </p:attrNameLst>
                                      </p:cBhvr>
                                      <p:tavLst>
                                        <p:tav tm="0">
                                          <p:val>
                                            <p:strVal val="#ppt_y+0.05"/>
                                          </p:val>
                                        </p:tav>
                                        <p:tav tm="100000">
                                          <p:val>
                                            <p:strVal val="#ppt_y"/>
                                          </p:val>
                                        </p:tav>
                                      </p:tavLst>
                                    </p:anim>
                                  </p:childTnLst>
                                </p:cTn>
                              </p:par>
                              <p:par>
                                <p:cTn id="94" presetID="42" presetClass="entr" presetSubtype="0" fill="hold" nodeType="withEffect">
                                  <p:stCondLst>
                                    <p:cond delay="1820"/>
                                  </p:stCondLst>
                                  <p:childTnLst>
                                    <p:set>
                                      <p:cBhvr>
                                        <p:cTn id="95" dur="1" fill="hold">
                                          <p:stCondLst>
                                            <p:cond delay="0"/>
                                          </p:stCondLst>
                                        </p:cTn>
                                        <p:tgtEl>
                                          <p:spTgt spid="25"/>
                                        </p:tgtEl>
                                        <p:attrNameLst>
                                          <p:attrName>style.visibility</p:attrName>
                                        </p:attrNameLst>
                                      </p:cBhvr>
                                      <p:to>
                                        <p:strVal val="visible"/>
                                      </p:to>
                                    </p:set>
                                    <p:animEffect transition="in" filter="fade">
                                      <p:cBhvr>
                                        <p:cTn id="96" dur="600"/>
                                        <p:tgtEl>
                                          <p:spTgt spid="25"/>
                                        </p:tgtEl>
                                      </p:cBhvr>
                                    </p:animEffect>
                                    <p:anim calcmode="lin" valueType="num">
                                      <p:cBhvr additive="base">
                                        <p:cTn id="97" dur="600" fill="hold"/>
                                        <p:tgtEl>
                                          <p:spTgt spid="25"/>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Quality review: three issues we kept visible</a:t>
            </a:r>
            <a:endParaRPr lang="en-US" sz="3000" dirty="0"/>
          </a:p>
        </p:txBody>
      </p:sp>
      <p:sp>
        <p:nvSpPr>
          <p:cNvPr id="4" name="issue card"/>
          <p:cNvSpPr/>
          <p:nvPr/>
        </p:nvSpPr>
        <p:spPr>
          <a:xfrm>
            <a:off x="548640" y="1417320"/>
            <a:ext cx="3593592" cy="4663440"/>
          </a:xfrm>
          <a:prstGeom prst="roundRect">
            <a:avLst>
              <a:gd name="adj" fmla="val 3053"/>
            </a:avLst>
          </a:prstGeom>
          <a:solidFill>
            <a:srgbClr val="EEF2F6"/>
          </a:solidFill>
          <a:ln w="12700">
            <a:solidFill>
              <a:srgbClr val="EEF2F6"/>
            </a:solidFill>
            <a:prstDash val="solid"/>
          </a:ln>
        </p:spPr>
      </p:sp>
      <p:sp>
        <p:nvSpPr>
          <p:cNvPr id="5" name="number badge"/>
          <p:cNvSpPr/>
          <p:nvPr/>
        </p:nvSpPr>
        <p:spPr>
          <a:xfrm>
            <a:off x="777240" y="1645920"/>
            <a:ext cx="438912" cy="438912"/>
          </a:xfrm>
          <a:prstGeom prst="ellipse">
            <a:avLst/>
          </a:prstGeom>
          <a:solidFill>
            <a:srgbClr val="FF9900"/>
          </a:solidFill>
          <a:ln w="12700">
            <a:solidFill>
              <a:srgbClr val="FF9900"/>
            </a:solidFill>
            <a:prstDash val="solid"/>
          </a:ln>
        </p:spPr>
      </p:sp>
      <p:sp>
        <p:nvSpPr>
          <p:cNvPr id="6" name="Text 3"/>
          <p:cNvSpPr txBox="1"/>
          <p:nvPr/>
        </p:nvSpPr>
        <p:spPr>
          <a:xfrm>
            <a:off x="777240" y="1645920"/>
            <a:ext cx="438912" cy="438912"/>
          </a:xfrm>
          <a:prstGeom prst="rect">
            <a:avLst/>
          </a:prstGeom>
          <a:noFill/>
          <a:ln/>
        </p:spPr>
        <p:txBody>
          <a:bodyPr wrap="square" lIns="0" tIns="0" rIns="0" bIns="0" rtlCol="0" anchor="ctr"/>
          <a:lstStyle/>
          <a:p>
            <a:pPr algn="ctr" indent="0" marL="0">
              <a:buNone/>
            </a:pPr>
            <a:r>
              <a:rPr lang="en-US" sz="1600" b="1" dirty="0">
                <a:solidFill>
                  <a:srgbClr val="131A22"/>
                </a:solidFill>
                <a:latin typeface="Calibri" pitchFamily="34" charset="0"/>
                <a:ea typeface="Calibri" pitchFamily="34" charset="-122"/>
                <a:cs typeface="Calibri" pitchFamily="34" charset="-120"/>
              </a:rPr>
              <a:t>1</a:t>
            </a:r>
            <a:endParaRPr lang="en-US" sz="1600" dirty="0"/>
          </a:p>
        </p:txBody>
      </p:sp>
      <p:sp>
        <p:nvSpPr>
          <p:cNvPr id="7" name="Text 4"/>
          <p:cNvSpPr txBox="1"/>
          <p:nvPr/>
        </p:nvSpPr>
        <p:spPr>
          <a:xfrm>
            <a:off x="777240" y="2240280"/>
            <a:ext cx="3154680" cy="685800"/>
          </a:xfrm>
          <a:prstGeom prst="rect">
            <a:avLst/>
          </a:prstGeom>
          <a:noFill/>
          <a:ln/>
        </p:spPr>
        <p:txBody>
          <a:bodyPr wrap="square" lIns="0" tIns="0" rIns="0" bIns="0" rtlCol="0" anchor="t"/>
          <a:lstStyle/>
          <a:p>
            <a:pPr indent="0" marL="0">
              <a:buNone/>
            </a:pPr>
            <a:r>
              <a:rPr lang="en-US" sz="1900" b="1" dirty="0">
                <a:solidFill>
                  <a:srgbClr val="232F3E"/>
                </a:solidFill>
                <a:latin typeface="Cambria" pitchFamily="34" charset="0"/>
                <a:ea typeface="Cambria" pitchFamily="34" charset="-122"/>
                <a:cs typeface="Cambria" pitchFamily="34" charset="-120"/>
              </a:rPr>
              <a:t>4 ASINs still appear twice</a:t>
            </a:r>
            <a:endParaRPr lang="en-US" sz="1900" dirty="0"/>
          </a:p>
        </p:txBody>
      </p:sp>
      <p:sp>
        <p:nvSpPr>
          <p:cNvPr id="8" name="Text 5"/>
          <p:cNvSpPr txBox="1"/>
          <p:nvPr/>
        </p:nvSpPr>
        <p:spPr>
          <a:xfrm>
            <a:off x="777240" y="2971800"/>
            <a:ext cx="3154680" cy="274320"/>
          </a:xfrm>
          <a:prstGeom prst="rect">
            <a:avLst/>
          </a:prstGeom>
          <a:noFill/>
          <a:ln/>
        </p:spPr>
        <p:txBody>
          <a:bodyPr wrap="square" lIns="0" tIns="0" rIns="0" bIns="0" rtlCol="0" anchor="t"/>
          <a:lstStyle/>
          <a:p>
            <a:pPr indent="0" marL="0">
              <a:buNone/>
            </a:pPr>
            <a:r>
              <a:rPr lang="en-US" sz="1200" b="1" dirty="0">
                <a:solidFill>
                  <a:srgbClr val="D1495B"/>
                </a:solidFill>
                <a:latin typeface="Calibri" pitchFamily="34" charset="0"/>
                <a:ea typeface="Calibri" pitchFamily="34" charset="-122"/>
                <a:cs typeface="Calibri" pitchFamily="34" charset="-120"/>
              </a:rPr>
              <a:t>What we found</a:t>
            </a:r>
            <a:endParaRPr lang="en-US" sz="1200" dirty="0"/>
          </a:p>
        </p:txBody>
      </p:sp>
      <p:sp>
        <p:nvSpPr>
          <p:cNvPr id="9" name="Text 6"/>
          <p:cNvSpPr txBox="1"/>
          <p:nvPr/>
        </p:nvSpPr>
        <p:spPr>
          <a:xfrm>
            <a:off x="777240" y="3246120"/>
            <a:ext cx="3154680" cy="1234440"/>
          </a:xfrm>
          <a:prstGeom prst="rect">
            <a:avLst/>
          </a:prstGeom>
          <a:noFill/>
          <a:ln/>
        </p:spPr>
        <p:txBody>
          <a:bodyPr wrap="square" lIns="0" tIns="0" rIns="0" bIns="0" rtlCol="0" anchor="t"/>
          <a:lstStyle/>
          <a:p>
            <a:pPr indent="0" marL="0">
              <a:buNone/>
            </a:pPr>
            <a:r>
              <a:rPr lang="en-US" sz="1400" dirty="0">
                <a:solidFill>
                  <a:srgbClr val="131A22"/>
                </a:solidFill>
                <a:latin typeface="Calibri" pitchFamily="34" charset="0"/>
                <a:ea typeface="Calibri" pitchFamily="34" charset="-122"/>
                <a:cs typeface="Calibri" pitchFamily="34" charset="-120"/>
              </a:rPr>
              <a:t>Near-duplicates (8 rows) that differ in price, delivery text or number of offers, so exact-duplicate removal could not catch them.</a:t>
            </a:r>
            <a:endParaRPr lang="en-US" sz="1400" dirty="0"/>
          </a:p>
        </p:txBody>
      </p:sp>
      <p:sp>
        <p:nvSpPr>
          <p:cNvPr id="10" name="Text 7"/>
          <p:cNvSpPr txBox="1"/>
          <p:nvPr/>
        </p:nvSpPr>
        <p:spPr>
          <a:xfrm>
            <a:off x="777240" y="4526280"/>
            <a:ext cx="3154680" cy="274320"/>
          </a:xfrm>
          <a:prstGeom prst="rect">
            <a:avLst/>
          </a:prstGeom>
          <a:noFill/>
          <a:ln/>
        </p:spPr>
        <p:txBody>
          <a:bodyPr wrap="square" lIns="0" tIns="0" rIns="0" bIns="0" rtlCol="0" anchor="t"/>
          <a:lstStyle/>
          <a:p>
            <a:pPr indent="0" marL="0">
              <a:buNone/>
            </a:pPr>
            <a:r>
              <a:rPr lang="en-US" sz="1200" b="1" dirty="0">
                <a:solidFill>
                  <a:srgbClr val="1B8A9A"/>
                </a:solidFill>
                <a:latin typeface="Calibri" pitchFamily="34" charset="0"/>
                <a:ea typeface="Calibri" pitchFamily="34" charset="-122"/>
                <a:cs typeface="Calibri" pitchFamily="34" charset="-120"/>
              </a:rPr>
              <a:t>How we handle it</a:t>
            </a:r>
            <a:endParaRPr lang="en-US" sz="1200" dirty="0"/>
          </a:p>
        </p:txBody>
      </p:sp>
      <p:sp>
        <p:nvSpPr>
          <p:cNvPr id="11" name="Text 8"/>
          <p:cNvSpPr txBox="1"/>
          <p:nvPr/>
        </p:nvSpPr>
        <p:spPr>
          <a:xfrm>
            <a:off x="777240" y="4800600"/>
            <a:ext cx="3154680" cy="1234440"/>
          </a:xfrm>
          <a:prstGeom prst="rect">
            <a:avLst/>
          </a:prstGeom>
          <a:noFill/>
          <a:ln/>
        </p:spPr>
        <p:txBody>
          <a:bodyPr wrap="square" lIns="0" tIns="0" rIns="0" bIns="0" rtlCol="0" anchor="t"/>
          <a:lstStyle/>
          <a:p>
            <a:pPr indent="0" marL="0">
              <a:buNone/>
            </a:pPr>
            <a:r>
              <a:rPr lang="en-US" sz="1400" dirty="0">
                <a:solidFill>
                  <a:srgbClr val="131A22"/>
                </a:solidFill>
                <a:latin typeface="Calibri" pitchFamily="34" charset="0"/>
                <a:ea typeface="Calibri" pitchFamily="34" charset="-122"/>
                <a:cs typeface="Calibri" pitchFamily="34" charset="-120"/>
              </a:rPr>
              <a:t>KPIs use DISTINCTCOUNT(asin) = 315 products. Averages shift by only about 1% (avg price $173.59 vs $171.83 with one row per ASIN).</a:t>
            </a:r>
            <a:endParaRPr lang="en-US" sz="1400" dirty="0"/>
          </a:p>
        </p:txBody>
      </p:sp>
      <p:sp>
        <p:nvSpPr>
          <p:cNvPr id="12" name="issue card"/>
          <p:cNvSpPr/>
          <p:nvPr/>
        </p:nvSpPr>
        <p:spPr>
          <a:xfrm>
            <a:off x="4297680" y="1417320"/>
            <a:ext cx="3593592" cy="4663440"/>
          </a:xfrm>
          <a:prstGeom prst="roundRect">
            <a:avLst>
              <a:gd name="adj" fmla="val 3053"/>
            </a:avLst>
          </a:prstGeom>
          <a:solidFill>
            <a:srgbClr val="EEF2F6"/>
          </a:solidFill>
          <a:ln w="12700">
            <a:solidFill>
              <a:srgbClr val="EEF2F6"/>
            </a:solidFill>
            <a:prstDash val="solid"/>
          </a:ln>
        </p:spPr>
      </p:sp>
      <p:sp>
        <p:nvSpPr>
          <p:cNvPr id="13" name="number badge"/>
          <p:cNvSpPr/>
          <p:nvPr/>
        </p:nvSpPr>
        <p:spPr>
          <a:xfrm>
            <a:off x="4526280" y="1645920"/>
            <a:ext cx="438912" cy="438912"/>
          </a:xfrm>
          <a:prstGeom prst="ellipse">
            <a:avLst/>
          </a:prstGeom>
          <a:solidFill>
            <a:srgbClr val="FF9900"/>
          </a:solidFill>
          <a:ln w="12700">
            <a:solidFill>
              <a:srgbClr val="FF9900"/>
            </a:solidFill>
            <a:prstDash val="solid"/>
          </a:ln>
        </p:spPr>
      </p:sp>
      <p:sp>
        <p:nvSpPr>
          <p:cNvPr id="14" name="Text 11"/>
          <p:cNvSpPr txBox="1"/>
          <p:nvPr/>
        </p:nvSpPr>
        <p:spPr>
          <a:xfrm>
            <a:off x="4526280" y="1645920"/>
            <a:ext cx="438912" cy="438912"/>
          </a:xfrm>
          <a:prstGeom prst="rect">
            <a:avLst/>
          </a:prstGeom>
          <a:noFill/>
          <a:ln/>
        </p:spPr>
        <p:txBody>
          <a:bodyPr wrap="square" lIns="0" tIns="0" rIns="0" bIns="0" rtlCol="0" anchor="ctr"/>
          <a:lstStyle/>
          <a:p>
            <a:pPr algn="ctr" indent="0" marL="0">
              <a:buNone/>
            </a:pPr>
            <a:r>
              <a:rPr lang="en-US" sz="1600" b="1" dirty="0">
                <a:solidFill>
                  <a:srgbClr val="131A22"/>
                </a:solidFill>
                <a:latin typeface="Calibri" pitchFamily="34" charset="0"/>
                <a:ea typeface="Calibri" pitchFamily="34" charset="-122"/>
                <a:cs typeface="Calibri" pitchFamily="34" charset="-120"/>
              </a:rPr>
              <a:t>2</a:t>
            </a:r>
            <a:endParaRPr lang="en-US" sz="1600" dirty="0"/>
          </a:p>
        </p:txBody>
      </p:sp>
      <p:sp>
        <p:nvSpPr>
          <p:cNvPr id="15" name="Text 12"/>
          <p:cNvSpPr txBox="1"/>
          <p:nvPr/>
        </p:nvSpPr>
        <p:spPr>
          <a:xfrm>
            <a:off x="4526280" y="2240280"/>
            <a:ext cx="3154680" cy="685800"/>
          </a:xfrm>
          <a:prstGeom prst="rect">
            <a:avLst/>
          </a:prstGeom>
          <a:noFill/>
          <a:ln/>
        </p:spPr>
        <p:txBody>
          <a:bodyPr wrap="square" lIns="0" tIns="0" rIns="0" bIns="0" rtlCol="0" anchor="t"/>
          <a:lstStyle/>
          <a:p>
            <a:pPr indent="0" marL="0">
              <a:buNone/>
            </a:pPr>
            <a:r>
              <a:rPr lang="en-US" sz="1900" b="1" dirty="0">
                <a:solidFill>
                  <a:srgbClr val="232F3E"/>
                </a:solidFill>
                <a:latin typeface="Cambria" pitchFamily="34" charset="0"/>
                <a:ea typeface="Cambria" pitchFamily="34" charset="-122"/>
                <a:cs typeface="Cambria" pitchFamily="34" charset="-120"/>
              </a:rPr>
              <a:t>HTML codes in titles</a:t>
            </a:r>
            <a:endParaRPr lang="en-US" sz="1900" dirty="0"/>
          </a:p>
        </p:txBody>
      </p:sp>
      <p:sp>
        <p:nvSpPr>
          <p:cNvPr id="16" name="Text 13"/>
          <p:cNvSpPr txBox="1"/>
          <p:nvPr/>
        </p:nvSpPr>
        <p:spPr>
          <a:xfrm>
            <a:off x="4526280" y="2971800"/>
            <a:ext cx="3154680" cy="274320"/>
          </a:xfrm>
          <a:prstGeom prst="rect">
            <a:avLst/>
          </a:prstGeom>
          <a:noFill/>
          <a:ln/>
        </p:spPr>
        <p:txBody>
          <a:bodyPr wrap="square" lIns="0" tIns="0" rIns="0" bIns="0" rtlCol="0" anchor="t"/>
          <a:lstStyle/>
          <a:p>
            <a:pPr indent="0" marL="0">
              <a:buNone/>
            </a:pPr>
            <a:r>
              <a:rPr lang="en-US" sz="1200" b="1" dirty="0">
                <a:solidFill>
                  <a:srgbClr val="D1495B"/>
                </a:solidFill>
                <a:latin typeface="Calibri" pitchFamily="34" charset="0"/>
                <a:ea typeface="Calibri" pitchFamily="34" charset="-122"/>
                <a:cs typeface="Calibri" pitchFamily="34" charset="-120"/>
              </a:rPr>
              <a:t>What we found</a:t>
            </a:r>
            <a:endParaRPr lang="en-US" sz="1200" dirty="0"/>
          </a:p>
        </p:txBody>
      </p:sp>
      <p:sp>
        <p:nvSpPr>
          <p:cNvPr id="17" name="Text 14"/>
          <p:cNvSpPr txBox="1"/>
          <p:nvPr/>
        </p:nvSpPr>
        <p:spPr>
          <a:xfrm>
            <a:off x="4526280" y="3246120"/>
            <a:ext cx="3154680" cy="1234440"/>
          </a:xfrm>
          <a:prstGeom prst="rect">
            <a:avLst/>
          </a:prstGeom>
          <a:noFill/>
          <a:ln/>
        </p:spPr>
        <p:txBody>
          <a:bodyPr wrap="square" lIns="0" tIns="0" rIns="0" bIns="0" rtlCol="0" anchor="t"/>
          <a:lstStyle/>
          <a:p>
            <a:pPr indent="0" marL="0">
              <a:buNone/>
            </a:pPr>
            <a:r>
              <a:rPr lang="en-US" sz="1400" dirty="0">
                <a:solidFill>
                  <a:srgbClr val="131A22"/>
                </a:solidFill>
                <a:latin typeface="Calibri" pitchFamily="34" charset="0"/>
                <a:ea typeface="Calibri" pitchFamily="34" charset="-122"/>
                <a:cs typeface="Calibri" pitchFamily="34" charset="-120"/>
              </a:rPr>
              <a:t>At least 64 titles show codes such as AT&amp;amp;T or 6.7&amp;quot; instead of the real symbols.</a:t>
            </a:r>
            <a:endParaRPr lang="en-US" sz="1400" dirty="0"/>
          </a:p>
        </p:txBody>
      </p:sp>
      <p:sp>
        <p:nvSpPr>
          <p:cNvPr id="18" name="Text 15"/>
          <p:cNvSpPr txBox="1"/>
          <p:nvPr/>
        </p:nvSpPr>
        <p:spPr>
          <a:xfrm>
            <a:off x="4526280" y="4526280"/>
            <a:ext cx="3154680" cy="274320"/>
          </a:xfrm>
          <a:prstGeom prst="rect">
            <a:avLst/>
          </a:prstGeom>
          <a:noFill/>
          <a:ln/>
        </p:spPr>
        <p:txBody>
          <a:bodyPr wrap="square" lIns="0" tIns="0" rIns="0" bIns="0" rtlCol="0" anchor="t"/>
          <a:lstStyle/>
          <a:p>
            <a:pPr indent="0" marL="0">
              <a:buNone/>
            </a:pPr>
            <a:r>
              <a:rPr lang="en-US" sz="1200" b="1" dirty="0">
                <a:solidFill>
                  <a:srgbClr val="1B8A9A"/>
                </a:solidFill>
                <a:latin typeface="Calibri" pitchFamily="34" charset="0"/>
                <a:ea typeface="Calibri" pitchFamily="34" charset="-122"/>
                <a:cs typeface="Calibri" pitchFamily="34" charset="-120"/>
              </a:rPr>
              <a:t>How we handle it</a:t>
            </a:r>
            <a:endParaRPr lang="en-US" sz="1200" dirty="0"/>
          </a:p>
        </p:txBody>
      </p:sp>
      <p:sp>
        <p:nvSpPr>
          <p:cNvPr id="19" name="Text 16"/>
          <p:cNvSpPr txBox="1"/>
          <p:nvPr/>
        </p:nvSpPr>
        <p:spPr>
          <a:xfrm>
            <a:off x="4526280" y="4800600"/>
            <a:ext cx="3154680" cy="1234440"/>
          </a:xfrm>
          <a:prstGeom prst="rect">
            <a:avLst/>
          </a:prstGeom>
          <a:noFill/>
          <a:ln/>
        </p:spPr>
        <p:txBody>
          <a:bodyPr wrap="square" lIns="0" tIns="0" rIns="0" bIns="0" rtlCol="0" anchor="t"/>
          <a:lstStyle/>
          <a:p>
            <a:pPr indent="0" marL="0">
              <a:buNone/>
            </a:pPr>
            <a:r>
              <a:rPr lang="en-US" sz="1400" dirty="0">
                <a:solidFill>
                  <a:srgbClr val="131A22"/>
                </a:solidFill>
                <a:latin typeface="Calibri" pitchFamily="34" charset="0"/>
                <a:ea typeface="Calibri" pitchFamily="34" charset="-122"/>
                <a:cs typeface="Calibri" pitchFamily="34" charset="-120"/>
              </a:rPr>
              <a:t>Cosmetic only; no number is affected. Fix: html.unescape() on product_title.</a:t>
            </a:r>
            <a:endParaRPr lang="en-US" sz="1400" dirty="0"/>
          </a:p>
        </p:txBody>
      </p:sp>
      <p:sp>
        <p:nvSpPr>
          <p:cNvPr id="20" name="issue card"/>
          <p:cNvSpPr/>
          <p:nvPr/>
        </p:nvSpPr>
        <p:spPr>
          <a:xfrm>
            <a:off x="8046720" y="1417320"/>
            <a:ext cx="3593592" cy="4663440"/>
          </a:xfrm>
          <a:prstGeom prst="roundRect">
            <a:avLst>
              <a:gd name="adj" fmla="val 3053"/>
            </a:avLst>
          </a:prstGeom>
          <a:solidFill>
            <a:srgbClr val="EEF2F6"/>
          </a:solidFill>
          <a:ln w="12700">
            <a:solidFill>
              <a:srgbClr val="EEF2F6"/>
            </a:solidFill>
            <a:prstDash val="solid"/>
          </a:ln>
        </p:spPr>
      </p:sp>
      <p:sp>
        <p:nvSpPr>
          <p:cNvPr id="21" name="number badge"/>
          <p:cNvSpPr/>
          <p:nvPr/>
        </p:nvSpPr>
        <p:spPr>
          <a:xfrm>
            <a:off x="8275320" y="1645920"/>
            <a:ext cx="438912" cy="438912"/>
          </a:xfrm>
          <a:prstGeom prst="ellipse">
            <a:avLst/>
          </a:prstGeom>
          <a:solidFill>
            <a:srgbClr val="FF9900"/>
          </a:solidFill>
          <a:ln w="12700">
            <a:solidFill>
              <a:srgbClr val="FF9900"/>
            </a:solidFill>
            <a:prstDash val="solid"/>
          </a:ln>
        </p:spPr>
      </p:sp>
      <p:sp>
        <p:nvSpPr>
          <p:cNvPr id="22" name="Text 19"/>
          <p:cNvSpPr txBox="1"/>
          <p:nvPr/>
        </p:nvSpPr>
        <p:spPr>
          <a:xfrm>
            <a:off x="8275320" y="1645920"/>
            <a:ext cx="438912" cy="438912"/>
          </a:xfrm>
          <a:prstGeom prst="rect">
            <a:avLst/>
          </a:prstGeom>
          <a:noFill/>
          <a:ln/>
        </p:spPr>
        <p:txBody>
          <a:bodyPr wrap="square" lIns="0" tIns="0" rIns="0" bIns="0" rtlCol="0" anchor="ctr"/>
          <a:lstStyle/>
          <a:p>
            <a:pPr algn="ctr" indent="0" marL="0">
              <a:buNone/>
            </a:pPr>
            <a:r>
              <a:rPr lang="en-US" sz="1600" b="1" dirty="0">
                <a:solidFill>
                  <a:srgbClr val="131A22"/>
                </a:solidFill>
                <a:latin typeface="Calibri" pitchFamily="34" charset="0"/>
                <a:ea typeface="Calibri" pitchFamily="34" charset="-122"/>
                <a:cs typeface="Calibri" pitchFamily="34" charset="-120"/>
              </a:rPr>
              <a:t>3</a:t>
            </a:r>
            <a:endParaRPr lang="en-US" sz="1600" dirty="0"/>
          </a:p>
        </p:txBody>
      </p:sp>
      <p:sp>
        <p:nvSpPr>
          <p:cNvPr id="23" name="Text 20"/>
          <p:cNvSpPr txBox="1"/>
          <p:nvPr/>
        </p:nvSpPr>
        <p:spPr>
          <a:xfrm>
            <a:off x="8275320" y="2240280"/>
            <a:ext cx="3154680" cy="685800"/>
          </a:xfrm>
          <a:prstGeom prst="rect">
            <a:avLst/>
          </a:prstGeom>
          <a:noFill/>
          <a:ln/>
        </p:spPr>
        <p:txBody>
          <a:bodyPr wrap="square" lIns="0" tIns="0" rIns="0" bIns="0" rtlCol="0" anchor="t"/>
          <a:lstStyle/>
          <a:p>
            <a:pPr indent="0" marL="0">
              <a:buNone/>
            </a:pPr>
            <a:r>
              <a:rPr lang="en-US" sz="1900" b="1" dirty="0">
                <a:solidFill>
                  <a:srgbClr val="232F3E"/>
                </a:solidFill>
                <a:latin typeface="Cambria" pitchFamily="34" charset="0"/>
                <a:ea typeface="Cambria" pitchFamily="34" charset="-122"/>
                <a:cs typeface="Cambria" pitchFamily="34" charset="-120"/>
              </a:rPr>
              <a:t>Not every listing is a phone</a:t>
            </a:r>
            <a:endParaRPr lang="en-US" sz="1900" dirty="0"/>
          </a:p>
        </p:txBody>
      </p:sp>
      <p:sp>
        <p:nvSpPr>
          <p:cNvPr id="24" name="Text 21"/>
          <p:cNvSpPr txBox="1"/>
          <p:nvPr/>
        </p:nvSpPr>
        <p:spPr>
          <a:xfrm>
            <a:off x="8275320" y="2971800"/>
            <a:ext cx="3154680" cy="274320"/>
          </a:xfrm>
          <a:prstGeom prst="rect">
            <a:avLst/>
          </a:prstGeom>
          <a:noFill/>
          <a:ln/>
        </p:spPr>
        <p:txBody>
          <a:bodyPr wrap="square" lIns="0" tIns="0" rIns="0" bIns="0" rtlCol="0" anchor="t"/>
          <a:lstStyle/>
          <a:p>
            <a:pPr indent="0" marL="0">
              <a:buNone/>
            </a:pPr>
            <a:r>
              <a:rPr lang="en-US" sz="1200" b="1" dirty="0">
                <a:solidFill>
                  <a:srgbClr val="D1495B"/>
                </a:solidFill>
                <a:latin typeface="Calibri" pitchFamily="34" charset="0"/>
                <a:ea typeface="Calibri" pitchFamily="34" charset="-122"/>
                <a:cs typeface="Calibri" pitchFamily="34" charset="-120"/>
              </a:rPr>
              <a:t>What we found</a:t>
            </a:r>
            <a:endParaRPr lang="en-US" sz="1200" dirty="0"/>
          </a:p>
        </p:txBody>
      </p:sp>
      <p:sp>
        <p:nvSpPr>
          <p:cNvPr id="25" name="Text 22"/>
          <p:cNvSpPr txBox="1"/>
          <p:nvPr/>
        </p:nvSpPr>
        <p:spPr>
          <a:xfrm>
            <a:off x="8275320" y="3246120"/>
            <a:ext cx="3154680" cy="1234440"/>
          </a:xfrm>
          <a:prstGeom prst="rect">
            <a:avLst/>
          </a:prstGeom>
          <a:noFill/>
          <a:ln/>
        </p:spPr>
        <p:txBody>
          <a:bodyPr wrap="square" lIns="0" tIns="0" rIns="0" bIns="0" rtlCol="0" anchor="t"/>
          <a:lstStyle/>
          <a:p>
            <a:pPr indent="0" marL="0">
              <a:buNone/>
            </a:pPr>
            <a:r>
              <a:rPr lang="en-US" sz="1400" dirty="0">
                <a:solidFill>
                  <a:srgbClr val="131A22"/>
                </a:solidFill>
                <a:latin typeface="Calibri" pitchFamily="34" charset="0"/>
                <a:ea typeface="Calibri" pitchFamily="34" charset="-122"/>
                <a:cs typeface="Calibri" pitchFamily="34" charset="-120"/>
              </a:rPr>
              <a:t>About 26% of rows are cordless / landline phones (69) or accessories such as cases, tripods and chargers (13), found by title keywords.</a:t>
            </a:r>
            <a:endParaRPr lang="en-US" sz="1400" dirty="0"/>
          </a:p>
        </p:txBody>
      </p:sp>
      <p:sp>
        <p:nvSpPr>
          <p:cNvPr id="26" name="Text 23"/>
          <p:cNvSpPr txBox="1"/>
          <p:nvPr/>
        </p:nvSpPr>
        <p:spPr>
          <a:xfrm>
            <a:off x="8275320" y="4526280"/>
            <a:ext cx="3154680" cy="274320"/>
          </a:xfrm>
          <a:prstGeom prst="rect">
            <a:avLst/>
          </a:prstGeom>
          <a:noFill/>
          <a:ln/>
        </p:spPr>
        <p:txBody>
          <a:bodyPr wrap="square" lIns="0" tIns="0" rIns="0" bIns="0" rtlCol="0" anchor="t"/>
          <a:lstStyle/>
          <a:p>
            <a:pPr indent="0" marL="0">
              <a:buNone/>
            </a:pPr>
            <a:r>
              <a:rPr lang="en-US" sz="1200" b="1" dirty="0">
                <a:solidFill>
                  <a:srgbClr val="1B8A9A"/>
                </a:solidFill>
                <a:latin typeface="Calibri" pitchFamily="34" charset="0"/>
                <a:ea typeface="Calibri" pitchFamily="34" charset="-122"/>
                <a:cs typeface="Calibri" pitchFamily="34" charset="-120"/>
              </a:rPr>
              <a:t>How we handle it</a:t>
            </a:r>
            <a:endParaRPr lang="en-US" sz="1200" dirty="0"/>
          </a:p>
        </p:txBody>
      </p:sp>
      <p:sp>
        <p:nvSpPr>
          <p:cNvPr id="27" name="Text 24"/>
          <p:cNvSpPr txBox="1"/>
          <p:nvPr/>
        </p:nvSpPr>
        <p:spPr>
          <a:xfrm>
            <a:off x="8275320" y="4800600"/>
            <a:ext cx="3154680" cy="1234440"/>
          </a:xfrm>
          <a:prstGeom prst="rect">
            <a:avLst/>
          </a:prstGeom>
          <a:noFill/>
          <a:ln/>
        </p:spPr>
        <p:txBody>
          <a:bodyPr wrap="square" lIns="0" tIns="0" rIns="0" bIns="0" rtlCol="0" anchor="t"/>
          <a:lstStyle/>
          <a:p>
            <a:pPr indent="0" marL="0">
              <a:buNone/>
            </a:pPr>
            <a:r>
              <a:rPr lang="en-US" sz="1400" dirty="0">
                <a:solidFill>
                  <a:srgbClr val="131A22"/>
                </a:solidFill>
                <a:latin typeface="Calibri" pitchFamily="34" charset="0"/>
                <a:ea typeface="Calibri" pitchFamily="34" charset="-122"/>
                <a:cs typeface="Calibri" pitchFamily="34" charset="-120"/>
              </a:rPr>
              <a:t>Segmented by product type in our analysis (slide 13) so results are not read as “smartphone-only”.</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42"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600"/>
                                        <p:tgtEl>
                                          <p:spTgt spid="2"/>
                                        </p:tgtEl>
                                      </p:cBhvr>
                                    </p:animEffect>
                                    <p:anim calcmode="lin" valueType="num">
                                      <p:cBhvr additive="base">
                                        <p:cTn id="13" dur="600" fill="hold"/>
                                        <p:tgtEl>
                                          <p:spTgt spid="2"/>
                                        </p:tgtEl>
                                        <p:attrNameLst>
                                          <p:attrName>ppt_y</p:attrName>
                                        </p:attrNameLst>
                                      </p:cBhvr>
                                      <p:tavLst>
                                        <p:tav tm="0">
                                          <p:val>
                                            <p:strVal val="#ppt_y+0.05"/>
                                          </p:val>
                                        </p:tav>
                                        <p:tav tm="100000">
                                          <p:val>
                                            <p:strVal val="#ppt_y"/>
                                          </p:val>
                                        </p:tav>
                                      </p:tavLst>
                                    </p:anim>
                                  </p:childTnLst>
                                </p:cTn>
                              </p:par>
                              <p:par>
                                <p:cTn id="16" presetID="42" presetClass="entr" presetSubtype="0" fill="hold" nodeType="withEffect">
                                  <p:stCondLst>
                                    <p:cond delay="84"/>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600"/>
                                        <p:tgtEl>
                                          <p:spTgt spid="4"/>
                                        </p:tgtEl>
                                      </p:cBhvr>
                                    </p:animEffect>
                                    <p:anim calcmode="lin" valueType="num">
                                      <p:cBhvr additive="base">
                                        <p:cTn id="19" dur="600" fill="hold"/>
                                        <p:tgtEl>
                                          <p:spTgt spid="4"/>
                                        </p:tgtEl>
                                        <p:attrNameLst>
                                          <p:attrName>ppt_y</p:attrName>
                                        </p:attrNameLst>
                                      </p:cBhvr>
                                      <p:tavLst>
                                        <p:tav tm="0">
                                          <p:val>
                                            <p:strVal val="#ppt_y+0.05"/>
                                          </p:val>
                                        </p:tav>
                                        <p:tav tm="100000">
                                          <p:val>
                                            <p:strVal val="#ppt_y"/>
                                          </p:val>
                                        </p:tav>
                                      </p:tavLst>
                                    </p:anim>
                                  </p:childTnLst>
                                </p:cTn>
                              </p:par>
                              <p:par>
                                <p:cTn id="22" presetID="42" presetClass="entr" presetSubtype="0" fill="hold" nodeType="withEffect">
                                  <p:stCondLst>
                                    <p:cond delay="168"/>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600"/>
                                        <p:tgtEl>
                                          <p:spTgt spid="5"/>
                                        </p:tgtEl>
                                      </p:cBhvr>
                                    </p:animEffect>
                                    <p:anim calcmode="lin" valueType="num">
                                      <p:cBhvr additive="base">
                                        <p:cTn id="25" dur="600" fill="hold"/>
                                        <p:tgtEl>
                                          <p:spTgt spid="5"/>
                                        </p:tgtEl>
                                        <p:attrNameLst>
                                          <p:attrName>ppt_y</p:attrName>
                                        </p:attrNameLst>
                                      </p:cBhvr>
                                      <p:tavLst>
                                        <p:tav tm="0">
                                          <p:val>
                                            <p:strVal val="#ppt_y+0.05"/>
                                          </p:val>
                                        </p:tav>
                                        <p:tav tm="100000">
                                          <p:val>
                                            <p:strVal val="#ppt_y"/>
                                          </p:val>
                                        </p:tav>
                                      </p:tavLst>
                                    </p:anim>
                                  </p:childTnLst>
                                </p:cTn>
                              </p:par>
                              <p:par>
                                <p:cTn id="28" presetID="42" presetClass="entr" presetSubtype="0" fill="hold" nodeType="withEffect">
                                  <p:stCondLst>
                                    <p:cond delay="252"/>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600"/>
                                        <p:tgtEl>
                                          <p:spTgt spid="6"/>
                                        </p:tgtEl>
                                      </p:cBhvr>
                                    </p:animEffect>
                                    <p:anim calcmode="lin" valueType="num">
                                      <p:cBhvr additive="base">
                                        <p:cTn id="31" dur="600" fill="hold"/>
                                        <p:tgtEl>
                                          <p:spTgt spid="6"/>
                                        </p:tgtEl>
                                        <p:attrNameLst>
                                          <p:attrName>ppt_y</p:attrName>
                                        </p:attrNameLst>
                                      </p:cBhvr>
                                      <p:tavLst>
                                        <p:tav tm="0">
                                          <p:val>
                                            <p:strVal val="#ppt_y+0.05"/>
                                          </p:val>
                                        </p:tav>
                                        <p:tav tm="100000">
                                          <p:val>
                                            <p:strVal val="#ppt_y"/>
                                          </p:val>
                                        </p:tav>
                                      </p:tavLst>
                                    </p:anim>
                                  </p:childTnLst>
                                </p:cTn>
                              </p:par>
                              <p:par>
                                <p:cTn id="34" presetID="42" presetClass="entr" presetSubtype="0" fill="hold" nodeType="withEffect">
                                  <p:stCondLst>
                                    <p:cond delay="336"/>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600"/>
                                        <p:tgtEl>
                                          <p:spTgt spid="7"/>
                                        </p:tgtEl>
                                      </p:cBhvr>
                                    </p:animEffect>
                                    <p:anim calcmode="lin" valueType="num">
                                      <p:cBhvr additive="base">
                                        <p:cTn id="37" dur="600" fill="hold"/>
                                        <p:tgtEl>
                                          <p:spTgt spid="7"/>
                                        </p:tgtEl>
                                        <p:attrNameLst>
                                          <p:attrName>ppt_y</p:attrName>
                                        </p:attrNameLst>
                                      </p:cBhvr>
                                      <p:tavLst>
                                        <p:tav tm="0">
                                          <p:val>
                                            <p:strVal val="#ppt_y+0.05"/>
                                          </p:val>
                                        </p:tav>
                                        <p:tav tm="100000">
                                          <p:val>
                                            <p:strVal val="#ppt_y"/>
                                          </p:val>
                                        </p:tav>
                                      </p:tavLst>
                                    </p:anim>
                                  </p:childTnLst>
                                </p:cTn>
                              </p:par>
                              <p:par>
                                <p:cTn id="40" presetID="42" presetClass="entr" presetSubtype="0" fill="hold" nodeType="withEffect">
                                  <p:stCondLst>
                                    <p:cond delay="42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600"/>
                                        <p:tgtEl>
                                          <p:spTgt spid="8"/>
                                        </p:tgtEl>
                                      </p:cBhvr>
                                    </p:animEffect>
                                    <p:anim calcmode="lin" valueType="num">
                                      <p:cBhvr additive="base">
                                        <p:cTn id="43" dur="600" fill="hold"/>
                                        <p:tgtEl>
                                          <p:spTgt spid="8"/>
                                        </p:tgtEl>
                                        <p:attrNameLst>
                                          <p:attrName>ppt_y</p:attrName>
                                        </p:attrNameLst>
                                      </p:cBhvr>
                                      <p:tavLst>
                                        <p:tav tm="0">
                                          <p:val>
                                            <p:strVal val="#ppt_y+0.05"/>
                                          </p:val>
                                        </p:tav>
                                        <p:tav tm="100000">
                                          <p:val>
                                            <p:strVal val="#ppt_y"/>
                                          </p:val>
                                        </p:tav>
                                      </p:tavLst>
                                    </p:anim>
                                  </p:childTnLst>
                                </p:cTn>
                              </p:par>
                              <p:par>
                                <p:cTn id="46" presetID="42" presetClass="entr" presetSubtype="0" fill="hold" nodeType="withEffect">
                                  <p:stCondLst>
                                    <p:cond delay="504"/>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600"/>
                                        <p:tgtEl>
                                          <p:spTgt spid="9"/>
                                        </p:tgtEl>
                                      </p:cBhvr>
                                    </p:animEffect>
                                    <p:anim calcmode="lin" valueType="num">
                                      <p:cBhvr additive="base">
                                        <p:cTn id="49" dur="600" fill="hold"/>
                                        <p:tgtEl>
                                          <p:spTgt spid="9"/>
                                        </p:tgtEl>
                                        <p:attrNameLst>
                                          <p:attrName>ppt_y</p:attrName>
                                        </p:attrNameLst>
                                      </p:cBhvr>
                                      <p:tavLst>
                                        <p:tav tm="0">
                                          <p:val>
                                            <p:strVal val="#ppt_y+0.05"/>
                                          </p:val>
                                        </p:tav>
                                        <p:tav tm="100000">
                                          <p:val>
                                            <p:strVal val="#ppt_y"/>
                                          </p:val>
                                        </p:tav>
                                      </p:tavLst>
                                    </p:anim>
                                  </p:childTnLst>
                                </p:cTn>
                              </p:par>
                              <p:par>
                                <p:cTn id="52" presetID="42" presetClass="entr" presetSubtype="0" fill="hold" nodeType="withEffect">
                                  <p:stCondLst>
                                    <p:cond delay="588"/>
                                  </p:stCondLst>
                                  <p:childTnLst>
                                    <p:set>
                                      <p:cBhvr>
                                        <p:cTn id="53" dur="1" fill="hold">
                                          <p:stCondLst>
                                            <p:cond delay="0"/>
                                          </p:stCondLst>
                                        </p:cTn>
                                        <p:tgtEl>
                                          <p:spTgt spid="10"/>
                                        </p:tgtEl>
                                        <p:attrNameLst>
                                          <p:attrName>style.visibility</p:attrName>
                                        </p:attrNameLst>
                                      </p:cBhvr>
                                      <p:to>
                                        <p:strVal val="visible"/>
                                      </p:to>
                                    </p:set>
                                    <p:animEffect transition="in" filter="fade">
                                      <p:cBhvr>
                                        <p:cTn id="54" dur="600"/>
                                        <p:tgtEl>
                                          <p:spTgt spid="10"/>
                                        </p:tgtEl>
                                      </p:cBhvr>
                                    </p:animEffect>
                                    <p:anim calcmode="lin" valueType="num">
                                      <p:cBhvr additive="base">
                                        <p:cTn id="55" dur="600" fill="hold"/>
                                        <p:tgtEl>
                                          <p:spTgt spid="10"/>
                                        </p:tgtEl>
                                        <p:attrNameLst>
                                          <p:attrName>ppt_y</p:attrName>
                                        </p:attrNameLst>
                                      </p:cBhvr>
                                      <p:tavLst>
                                        <p:tav tm="0">
                                          <p:val>
                                            <p:strVal val="#ppt_y+0.05"/>
                                          </p:val>
                                        </p:tav>
                                        <p:tav tm="100000">
                                          <p:val>
                                            <p:strVal val="#ppt_y"/>
                                          </p:val>
                                        </p:tav>
                                      </p:tavLst>
                                    </p:anim>
                                  </p:childTnLst>
                                </p:cTn>
                              </p:par>
                              <p:par>
                                <p:cTn id="58" presetID="42" presetClass="entr" presetSubtype="0" fill="hold" nodeType="withEffect">
                                  <p:stCondLst>
                                    <p:cond delay="672"/>
                                  </p:stCondLst>
                                  <p:childTnLst>
                                    <p:set>
                                      <p:cBhvr>
                                        <p:cTn id="59" dur="1" fill="hold">
                                          <p:stCondLst>
                                            <p:cond delay="0"/>
                                          </p:stCondLst>
                                        </p:cTn>
                                        <p:tgtEl>
                                          <p:spTgt spid="11"/>
                                        </p:tgtEl>
                                        <p:attrNameLst>
                                          <p:attrName>style.visibility</p:attrName>
                                        </p:attrNameLst>
                                      </p:cBhvr>
                                      <p:to>
                                        <p:strVal val="visible"/>
                                      </p:to>
                                    </p:set>
                                    <p:animEffect transition="in" filter="fade">
                                      <p:cBhvr>
                                        <p:cTn id="60" dur="600"/>
                                        <p:tgtEl>
                                          <p:spTgt spid="11"/>
                                        </p:tgtEl>
                                      </p:cBhvr>
                                    </p:animEffect>
                                    <p:anim calcmode="lin" valueType="num">
                                      <p:cBhvr additive="base">
                                        <p:cTn id="61" dur="600" fill="hold"/>
                                        <p:tgtEl>
                                          <p:spTgt spid="11"/>
                                        </p:tgtEl>
                                        <p:attrNameLst>
                                          <p:attrName>ppt_y</p:attrName>
                                        </p:attrNameLst>
                                      </p:cBhvr>
                                      <p:tavLst>
                                        <p:tav tm="0">
                                          <p:val>
                                            <p:strVal val="#ppt_y+0.05"/>
                                          </p:val>
                                        </p:tav>
                                        <p:tav tm="100000">
                                          <p:val>
                                            <p:strVal val="#ppt_y"/>
                                          </p:val>
                                        </p:tav>
                                      </p:tavLst>
                                    </p:anim>
                                  </p:childTnLst>
                                </p:cTn>
                              </p:par>
                              <p:par>
                                <p:cTn id="64" presetID="42" presetClass="entr" presetSubtype="0" fill="hold" nodeType="withEffect">
                                  <p:stCondLst>
                                    <p:cond delay="756"/>
                                  </p:stCondLst>
                                  <p:childTnLst>
                                    <p:set>
                                      <p:cBhvr>
                                        <p:cTn id="65" dur="1" fill="hold">
                                          <p:stCondLst>
                                            <p:cond delay="0"/>
                                          </p:stCondLst>
                                        </p:cTn>
                                        <p:tgtEl>
                                          <p:spTgt spid="12"/>
                                        </p:tgtEl>
                                        <p:attrNameLst>
                                          <p:attrName>style.visibility</p:attrName>
                                        </p:attrNameLst>
                                      </p:cBhvr>
                                      <p:to>
                                        <p:strVal val="visible"/>
                                      </p:to>
                                    </p:set>
                                    <p:animEffect transition="in" filter="fade">
                                      <p:cBhvr>
                                        <p:cTn id="66" dur="600"/>
                                        <p:tgtEl>
                                          <p:spTgt spid="12"/>
                                        </p:tgtEl>
                                      </p:cBhvr>
                                    </p:animEffect>
                                    <p:anim calcmode="lin" valueType="num">
                                      <p:cBhvr additive="base">
                                        <p:cTn id="67" dur="600" fill="hold"/>
                                        <p:tgtEl>
                                          <p:spTgt spid="12"/>
                                        </p:tgtEl>
                                        <p:attrNameLst>
                                          <p:attrName>ppt_y</p:attrName>
                                        </p:attrNameLst>
                                      </p:cBhvr>
                                      <p:tavLst>
                                        <p:tav tm="0">
                                          <p:val>
                                            <p:strVal val="#ppt_y+0.05"/>
                                          </p:val>
                                        </p:tav>
                                        <p:tav tm="100000">
                                          <p:val>
                                            <p:strVal val="#ppt_y"/>
                                          </p:val>
                                        </p:tav>
                                      </p:tavLst>
                                    </p:anim>
                                  </p:childTnLst>
                                </p:cTn>
                              </p:par>
                              <p:par>
                                <p:cTn id="70" presetID="42" presetClass="entr" presetSubtype="0" fill="hold" nodeType="withEffect">
                                  <p:stCondLst>
                                    <p:cond delay="840"/>
                                  </p:stCondLst>
                                  <p:childTnLst>
                                    <p:set>
                                      <p:cBhvr>
                                        <p:cTn id="71" dur="1" fill="hold">
                                          <p:stCondLst>
                                            <p:cond delay="0"/>
                                          </p:stCondLst>
                                        </p:cTn>
                                        <p:tgtEl>
                                          <p:spTgt spid="13"/>
                                        </p:tgtEl>
                                        <p:attrNameLst>
                                          <p:attrName>style.visibility</p:attrName>
                                        </p:attrNameLst>
                                      </p:cBhvr>
                                      <p:to>
                                        <p:strVal val="visible"/>
                                      </p:to>
                                    </p:set>
                                    <p:animEffect transition="in" filter="fade">
                                      <p:cBhvr>
                                        <p:cTn id="72" dur="600"/>
                                        <p:tgtEl>
                                          <p:spTgt spid="13"/>
                                        </p:tgtEl>
                                      </p:cBhvr>
                                    </p:animEffect>
                                    <p:anim calcmode="lin" valueType="num">
                                      <p:cBhvr additive="base">
                                        <p:cTn id="73" dur="600" fill="hold"/>
                                        <p:tgtEl>
                                          <p:spTgt spid="13"/>
                                        </p:tgtEl>
                                        <p:attrNameLst>
                                          <p:attrName>ppt_y</p:attrName>
                                        </p:attrNameLst>
                                      </p:cBhvr>
                                      <p:tavLst>
                                        <p:tav tm="0">
                                          <p:val>
                                            <p:strVal val="#ppt_y+0.05"/>
                                          </p:val>
                                        </p:tav>
                                        <p:tav tm="100000">
                                          <p:val>
                                            <p:strVal val="#ppt_y"/>
                                          </p:val>
                                        </p:tav>
                                      </p:tavLst>
                                    </p:anim>
                                  </p:childTnLst>
                                </p:cTn>
                              </p:par>
                              <p:par>
                                <p:cTn id="76" presetID="42" presetClass="entr" presetSubtype="0" fill="hold" nodeType="withEffect">
                                  <p:stCondLst>
                                    <p:cond delay="924"/>
                                  </p:stCondLst>
                                  <p:childTnLst>
                                    <p:set>
                                      <p:cBhvr>
                                        <p:cTn id="77" dur="1" fill="hold">
                                          <p:stCondLst>
                                            <p:cond delay="0"/>
                                          </p:stCondLst>
                                        </p:cTn>
                                        <p:tgtEl>
                                          <p:spTgt spid="14"/>
                                        </p:tgtEl>
                                        <p:attrNameLst>
                                          <p:attrName>style.visibility</p:attrName>
                                        </p:attrNameLst>
                                      </p:cBhvr>
                                      <p:to>
                                        <p:strVal val="visible"/>
                                      </p:to>
                                    </p:set>
                                    <p:animEffect transition="in" filter="fade">
                                      <p:cBhvr>
                                        <p:cTn id="78" dur="600"/>
                                        <p:tgtEl>
                                          <p:spTgt spid="14"/>
                                        </p:tgtEl>
                                      </p:cBhvr>
                                    </p:animEffect>
                                    <p:anim calcmode="lin" valueType="num">
                                      <p:cBhvr additive="base">
                                        <p:cTn id="79" dur="600" fill="hold"/>
                                        <p:tgtEl>
                                          <p:spTgt spid="14"/>
                                        </p:tgtEl>
                                        <p:attrNameLst>
                                          <p:attrName>ppt_y</p:attrName>
                                        </p:attrNameLst>
                                      </p:cBhvr>
                                      <p:tavLst>
                                        <p:tav tm="0">
                                          <p:val>
                                            <p:strVal val="#ppt_y+0.05"/>
                                          </p:val>
                                        </p:tav>
                                        <p:tav tm="100000">
                                          <p:val>
                                            <p:strVal val="#ppt_y"/>
                                          </p:val>
                                        </p:tav>
                                      </p:tavLst>
                                    </p:anim>
                                  </p:childTnLst>
                                </p:cTn>
                              </p:par>
                              <p:par>
                                <p:cTn id="82" presetID="42" presetClass="entr" presetSubtype="0" fill="hold" nodeType="withEffect">
                                  <p:stCondLst>
                                    <p:cond delay="1008"/>
                                  </p:stCondLst>
                                  <p:childTnLst>
                                    <p:set>
                                      <p:cBhvr>
                                        <p:cTn id="83" dur="1" fill="hold">
                                          <p:stCondLst>
                                            <p:cond delay="0"/>
                                          </p:stCondLst>
                                        </p:cTn>
                                        <p:tgtEl>
                                          <p:spTgt spid="15"/>
                                        </p:tgtEl>
                                        <p:attrNameLst>
                                          <p:attrName>style.visibility</p:attrName>
                                        </p:attrNameLst>
                                      </p:cBhvr>
                                      <p:to>
                                        <p:strVal val="visible"/>
                                      </p:to>
                                    </p:set>
                                    <p:animEffect transition="in" filter="fade">
                                      <p:cBhvr>
                                        <p:cTn id="84" dur="600"/>
                                        <p:tgtEl>
                                          <p:spTgt spid="15"/>
                                        </p:tgtEl>
                                      </p:cBhvr>
                                    </p:animEffect>
                                    <p:anim calcmode="lin" valueType="num">
                                      <p:cBhvr additive="base">
                                        <p:cTn id="85" dur="600" fill="hold"/>
                                        <p:tgtEl>
                                          <p:spTgt spid="15"/>
                                        </p:tgtEl>
                                        <p:attrNameLst>
                                          <p:attrName>ppt_y</p:attrName>
                                        </p:attrNameLst>
                                      </p:cBhvr>
                                      <p:tavLst>
                                        <p:tav tm="0">
                                          <p:val>
                                            <p:strVal val="#ppt_y+0.05"/>
                                          </p:val>
                                        </p:tav>
                                        <p:tav tm="100000">
                                          <p:val>
                                            <p:strVal val="#ppt_y"/>
                                          </p:val>
                                        </p:tav>
                                      </p:tavLst>
                                    </p:anim>
                                  </p:childTnLst>
                                </p:cTn>
                              </p:par>
                              <p:par>
                                <p:cTn id="88" presetID="42" presetClass="entr" presetSubtype="0" fill="hold" nodeType="withEffect">
                                  <p:stCondLst>
                                    <p:cond delay="1092"/>
                                  </p:stCondLst>
                                  <p:childTnLst>
                                    <p:set>
                                      <p:cBhvr>
                                        <p:cTn id="89" dur="1" fill="hold">
                                          <p:stCondLst>
                                            <p:cond delay="0"/>
                                          </p:stCondLst>
                                        </p:cTn>
                                        <p:tgtEl>
                                          <p:spTgt spid="16"/>
                                        </p:tgtEl>
                                        <p:attrNameLst>
                                          <p:attrName>style.visibility</p:attrName>
                                        </p:attrNameLst>
                                      </p:cBhvr>
                                      <p:to>
                                        <p:strVal val="visible"/>
                                      </p:to>
                                    </p:set>
                                    <p:animEffect transition="in" filter="fade">
                                      <p:cBhvr>
                                        <p:cTn id="90" dur="600"/>
                                        <p:tgtEl>
                                          <p:spTgt spid="16"/>
                                        </p:tgtEl>
                                      </p:cBhvr>
                                    </p:animEffect>
                                    <p:anim calcmode="lin" valueType="num">
                                      <p:cBhvr additive="base">
                                        <p:cTn id="91" dur="600" fill="hold"/>
                                        <p:tgtEl>
                                          <p:spTgt spid="16"/>
                                        </p:tgtEl>
                                        <p:attrNameLst>
                                          <p:attrName>ppt_y</p:attrName>
                                        </p:attrNameLst>
                                      </p:cBhvr>
                                      <p:tavLst>
                                        <p:tav tm="0">
                                          <p:val>
                                            <p:strVal val="#ppt_y+0.05"/>
                                          </p:val>
                                        </p:tav>
                                        <p:tav tm="100000">
                                          <p:val>
                                            <p:strVal val="#ppt_y"/>
                                          </p:val>
                                        </p:tav>
                                      </p:tavLst>
                                    </p:anim>
                                  </p:childTnLst>
                                </p:cTn>
                              </p:par>
                              <p:par>
                                <p:cTn id="94" presetID="42" presetClass="entr" presetSubtype="0" fill="hold" nodeType="withEffect">
                                  <p:stCondLst>
                                    <p:cond delay="1176"/>
                                  </p:stCondLst>
                                  <p:childTnLst>
                                    <p:set>
                                      <p:cBhvr>
                                        <p:cTn id="95" dur="1" fill="hold">
                                          <p:stCondLst>
                                            <p:cond delay="0"/>
                                          </p:stCondLst>
                                        </p:cTn>
                                        <p:tgtEl>
                                          <p:spTgt spid="17"/>
                                        </p:tgtEl>
                                        <p:attrNameLst>
                                          <p:attrName>style.visibility</p:attrName>
                                        </p:attrNameLst>
                                      </p:cBhvr>
                                      <p:to>
                                        <p:strVal val="visible"/>
                                      </p:to>
                                    </p:set>
                                    <p:animEffect transition="in" filter="fade">
                                      <p:cBhvr>
                                        <p:cTn id="96" dur="600"/>
                                        <p:tgtEl>
                                          <p:spTgt spid="17"/>
                                        </p:tgtEl>
                                      </p:cBhvr>
                                    </p:animEffect>
                                    <p:anim calcmode="lin" valueType="num">
                                      <p:cBhvr additive="base">
                                        <p:cTn id="97" dur="600" fill="hold"/>
                                        <p:tgtEl>
                                          <p:spTgt spid="17"/>
                                        </p:tgtEl>
                                        <p:attrNameLst>
                                          <p:attrName>ppt_y</p:attrName>
                                        </p:attrNameLst>
                                      </p:cBhvr>
                                      <p:tavLst>
                                        <p:tav tm="0">
                                          <p:val>
                                            <p:strVal val="#ppt_y+0.05"/>
                                          </p:val>
                                        </p:tav>
                                        <p:tav tm="100000">
                                          <p:val>
                                            <p:strVal val="#ppt_y"/>
                                          </p:val>
                                        </p:tav>
                                      </p:tavLst>
                                    </p:anim>
                                  </p:childTnLst>
                                </p:cTn>
                              </p:par>
                              <p:par>
                                <p:cTn id="100" presetID="42" presetClass="entr" presetSubtype="0" fill="hold" nodeType="withEffect">
                                  <p:stCondLst>
                                    <p:cond delay="1260"/>
                                  </p:stCondLst>
                                  <p:childTnLst>
                                    <p:set>
                                      <p:cBhvr>
                                        <p:cTn id="101" dur="1" fill="hold">
                                          <p:stCondLst>
                                            <p:cond delay="0"/>
                                          </p:stCondLst>
                                        </p:cTn>
                                        <p:tgtEl>
                                          <p:spTgt spid="18"/>
                                        </p:tgtEl>
                                        <p:attrNameLst>
                                          <p:attrName>style.visibility</p:attrName>
                                        </p:attrNameLst>
                                      </p:cBhvr>
                                      <p:to>
                                        <p:strVal val="visible"/>
                                      </p:to>
                                    </p:set>
                                    <p:animEffect transition="in" filter="fade">
                                      <p:cBhvr>
                                        <p:cTn id="102" dur="600"/>
                                        <p:tgtEl>
                                          <p:spTgt spid="18"/>
                                        </p:tgtEl>
                                      </p:cBhvr>
                                    </p:animEffect>
                                    <p:anim calcmode="lin" valueType="num">
                                      <p:cBhvr additive="base">
                                        <p:cTn id="103" dur="600" fill="hold"/>
                                        <p:tgtEl>
                                          <p:spTgt spid="18"/>
                                        </p:tgtEl>
                                        <p:attrNameLst>
                                          <p:attrName>ppt_y</p:attrName>
                                        </p:attrNameLst>
                                      </p:cBhvr>
                                      <p:tavLst>
                                        <p:tav tm="0">
                                          <p:val>
                                            <p:strVal val="#ppt_y+0.05"/>
                                          </p:val>
                                        </p:tav>
                                        <p:tav tm="100000">
                                          <p:val>
                                            <p:strVal val="#ppt_y"/>
                                          </p:val>
                                        </p:tav>
                                      </p:tavLst>
                                    </p:anim>
                                  </p:childTnLst>
                                </p:cTn>
                              </p:par>
                              <p:par>
                                <p:cTn id="106" presetID="42" presetClass="entr" presetSubtype="0" fill="hold" nodeType="withEffect">
                                  <p:stCondLst>
                                    <p:cond delay="1344"/>
                                  </p:stCondLst>
                                  <p:childTnLst>
                                    <p:set>
                                      <p:cBhvr>
                                        <p:cTn id="107" dur="1" fill="hold">
                                          <p:stCondLst>
                                            <p:cond delay="0"/>
                                          </p:stCondLst>
                                        </p:cTn>
                                        <p:tgtEl>
                                          <p:spTgt spid="19"/>
                                        </p:tgtEl>
                                        <p:attrNameLst>
                                          <p:attrName>style.visibility</p:attrName>
                                        </p:attrNameLst>
                                      </p:cBhvr>
                                      <p:to>
                                        <p:strVal val="visible"/>
                                      </p:to>
                                    </p:set>
                                    <p:animEffect transition="in" filter="fade">
                                      <p:cBhvr>
                                        <p:cTn id="108" dur="600"/>
                                        <p:tgtEl>
                                          <p:spTgt spid="19"/>
                                        </p:tgtEl>
                                      </p:cBhvr>
                                    </p:animEffect>
                                    <p:anim calcmode="lin" valueType="num">
                                      <p:cBhvr additive="base">
                                        <p:cTn id="109" dur="600" fill="hold"/>
                                        <p:tgtEl>
                                          <p:spTgt spid="19"/>
                                        </p:tgtEl>
                                        <p:attrNameLst>
                                          <p:attrName>ppt_y</p:attrName>
                                        </p:attrNameLst>
                                      </p:cBhvr>
                                      <p:tavLst>
                                        <p:tav tm="0">
                                          <p:val>
                                            <p:strVal val="#ppt_y+0.05"/>
                                          </p:val>
                                        </p:tav>
                                        <p:tav tm="100000">
                                          <p:val>
                                            <p:strVal val="#ppt_y"/>
                                          </p:val>
                                        </p:tav>
                                      </p:tavLst>
                                    </p:anim>
                                  </p:childTnLst>
                                </p:cTn>
                              </p:par>
                              <p:par>
                                <p:cTn id="112" presetID="42" presetClass="entr" presetSubtype="0" fill="hold" nodeType="withEffect">
                                  <p:stCondLst>
                                    <p:cond delay="1428"/>
                                  </p:stCondLst>
                                  <p:childTnLst>
                                    <p:set>
                                      <p:cBhvr>
                                        <p:cTn id="113" dur="1" fill="hold">
                                          <p:stCondLst>
                                            <p:cond delay="0"/>
                                          </p:stCondLst>
                                        </p:cTn>
                                        <p:tgtEl>
                                          <p:spTgt spid="20"/>
                                        </p:tgtEl>
                                        <p:attrNameLst>
                                          <p:attrName>style.visibility</p:attrName>
                                        </p:attrNameLst>
                                      </p:cBhvr>
                                      <p:to>
                                        <p:strVal val="visible"/>
                                      </p:to>
                                    </p:set>
                                    <p:animEffect transition="in" filter="fade">
                                      <p:cBhvr>
                                        <p:cTn id="114" dur="600"/>
                                        <p:tgtEl>
                                          <p:spTgt spid="20"/>
                                        </p:tgtEl>
                                      </p:cBhvr>
                                    </p:animEffect>
                                    <p:anim calcmode="lin" valueType="num">
                                      <p:cBhvr additive="base">
                                        <p:cTn id="115" dur="600" fill="hold"/>
                                        <p:tgtEl>
                                          <p:spTgt spid="20"/>
                                        </p:tgtEl>
                                        <p:attrNameLst>
                                          <p:attrName>ppt_y</p:attrName>
                                        </p:attrNameLst>
                                      </p:cBhvr>
                                      <p:tavLst>
                                        <p:tav tm="0">
                                          <p:val>
                                            <p:strVal val="#ppt_y+0.05"/>
                                          </p:val>
                                        </p:tav>
                                        <p:tav tm="100000">
                                          <p:val>
                                            <p:strVal val="#ppt_y"/>
                                          </p:val>
                                        </p:tav>
                                      </p:tavLst>
                                    </p:anim>
                                  </p:childTnLst>
                                </p:cTn>
                              </p:par>
                              <p:par>
                                <p:cTn id="118" presetID="42" presetClass="entr" presetSubtype="0" fill="hold" nodeType="withEffect">
                                  <p:stCondLst>
                                    <p:cond delay="1512"/>
                                  </p:stCondLst>
                                  <p:childTnLst>
                                    <p:set>
                                      <p:cBhvr>
                                        <p:cTn id="119" dur="1" fill="hold">
                                          <p:stCondLst>
                                            <p:cond delay="0"/>
                                          </p:stCondLst>
                                        </p:cTn>
                                        <p:tgtEl>
                                          <p:spTgt spid="21"/>
                                        </p:tgtEl>
                                        <p:attrNameLst>
                                          <p:attrName>style.visibility</p:attrName>
                                        </p:attrNameLst>
                                      </p:cBhvr>
                                      <p:to>
                                        <p:strVal val="visible"/>
                                      </p:to>
                                    </p:set>
                                    <p:animEffect transition="in" filter="fade">
                                      <p:cBhvr>
                                        <p:cTn id="120" dur="600"/>
                                        <p:tgtEl>
                                          <p:spTgt spid="21"/>
                                        </p:tgtEl>
                                      </p:cBhvr>
                                    </p:animEffect>
                                    <p:anim calcmode="lin" valueType="num">
                                      <p:cBhvr additive="base">
                                        <p:cTn id="121" dur="600" fill="hold"/>
                                        <p:tgtEl>
                                          <p:spTgt spid="21"/>
                                        </p:tgtEl>
                                        <p:attrNameLst>
                                          <p:attrName>ppt_y</p:attrName>
                                        </p:attrNameLst>
                                      </p:cBhvr>
                                      <p:tavLst>
                                        <p:tav tm="0">
                                          <p:val>
                                            <p:strVal val="#ppt_y+0.05"/>
                                          </p:val>
                                        </p:tav>
                                        <p:tav tm="100000">
                                          <p:val>
                                            <p:strVal val="#ppt_y"/>
                                          </p:val>
                                        </p:tav>
                                      </p:tavLst>
                                    </p:anim>
                                  </p:childTnLst>
                                </p:cTn>
                              </p:par>
                              <p:par>
                                <p:cTn id="124" presetID="42" presetClass="entr" presetSubtype="0" fill="hold" nodeType="withEffect">
                                  <p:stCondLst>
                                    <p:cond delay="1596"/>
                                  </p:stCondLst>
                                  <p:childTnLst>
                                    <p:set>
                                      <p:cBhvr>
                                        <p:cTn id="125" dur="1" fill="hold">
                                          <p:stCondLst>
                                            <p:cond delay="0"/>
                                          </p:stCondLst>
                                        </p:cTn>
                                        <p:tgtEl>
                                          <p:spTgt spid="22"/>
                                        </p:tgtEl>
                                        <p:attrNameLst>
                                          <p:attrName>style.visibility</p:attrName>
                                        </p:attrNameLst>
                                      </p:cBhvr>
                                      <p:to>
                                        <p:strVal val="visible"/>
                                      </p:to>
                                    </p:set>
                                    <p:animEffect transition="in" filter="fade">
                                      <p:cBhvr>
                                        <p:cTn id="126" dur="600"/>
                                        <p:tgtEl>
                                          <p:spTgt spid="22"/>
                                        </p:tgtEl>
                                      </p:cBhvr>
                                    </p:animEffect>
                                    <p:anim calcmode="lin" valueType="num">
                                      <p:cBhvr additive="base">
                                        <p:cTn id="127" dur="600" fill="hold"/>
                                        <p:tgtEl>
                                          <p:spTgt spid="22"/>
                                        </p:tgtEl>
                                        <p:attrNameLst>
                                          <p:attrName>ppt_y</p:attrName>
                                        </p:attrNameLst>
                                      </p:cBhvr>
                                      <p:tavLst>
                                        <p:tav tm="0">
                                          <p:val>
                                            <p:strVal val="#ppt_y+0.05"/>
                                          </p:val>
                                        </p:tav>
                                        <p:tav tm="100000">
                                          <p:val>
                                            <p:strVal val="#ppt_y"/>
                                          </p:val>
                                        </p:tav>
                                      </p:tavLst>
                                    </p:anim>
                                  </p:childTnLst>
                                </p:cTn>
                              </p:par>
                              <p:par>
                                <p:cTn id="130" presetID="42" presetClass="entr" presetSubtype="0" fill="hold" nodeType="withEffect">
                                  <p:stCondLst>
                                    <p:cond delay="1680"/>
                                  </p:stCondLst>
                                  <p:childTnLst>
                                    <p:set>
                                      <p:cBhvr>
                                        <p:cTn id="131" dur="1" fill="hold">
                                          <p:stCondLst>
                                            <p:cond delay="0"/>
                                          </p:stCondLst>
                                        </p:cTn>
                                        <p:tgtEl>
                                          <p:spTgt spid="23"/>
                                        </p:tgtEl>
                                        <p:attrNameLst>
                                          <p:attrName>style.visibility</p:attrName>
                                        </p:attrNameLst>
                                      </p:cBhvr>
                                      <p:to>
                                        <p:strVal val="visible"/>
                                      </p:to>
                                    </p:set>
                                    <p:animEffect transition="in" filter="fade">
                                      <p:cBhvr>
                                        <p:cTn id="132" dur="600"/>
                                        <p:tgtEl>
                                          <p:spTgt spid="23"/>
                                        </p:tgtEl>
                                      </p:cBhvr>
                                    </p:animEffect>
                                    <p:anim calcmode="lin" valueType="num">
                                      <p:cBhvr additive="base">
                                        <p:cTn id="133" dur="600" fill="hold"/>
                                        <p:tgtEl>
                                          <p:spTgt spid="23"/>
                                        </p:tgtEl>
                                        <p:attrNameLst>
                                          <p:attrName>ppt_y</p:attrName>
                                        </p:attrNameLst>
                                      </p:cBhvr>
                                      <p:tavLst>
                                        <p:tav tm="0">
                                          <p:val>
                                            <p:strVal val="#ppt_y+0.05"/>
                                          </p:val>
                                        </p:tav>
                                        <p:tav tm="100000">
                                          <p:val>
                                            <p:strVal val="#ppt_y"/>
                                          </p:val>
                                        </p:tav>
                                      </p:tavLst>
                                    </p:anim>
                                  </p:childTnLst>
                                </p:cTn>
                              </p:par>
                              <p:par>
                                <p:cTn id="136" presetID="42" presetClass="entr" presetSubtype="0" fill="hold" nodeType="withEffect">
                                  <p:stCondLst>
                                    <p:cond delay="1764"/>
                                  </p:stCondLst>
                                  <p:childTnLst>
                                    <p:set>
                                      <p:cBhvr>
                                        <p:cTn id="137" dur="1" fill="hold">
                                          <p:stCondLst>
                                            <p:cond delay="0"/>
                                          </p:stCondLst>
                                        </p:cTn>
                                        <p:tgtEl>
                                          <p:spTgt spid="24"/>
                                        </p:tgtEl>
                                        <p:attrNameLst>
                                          <p:attrName>style.visibility</p:attrName>
                                        </p:attrNameLst>
                                      </p:cBhvr>
                                      <p:to>
                                        <p:strVal val="visible"/>
                                      </p:to>
                                    </p:set>
                                    <p:animEffect transition="in" filter="fade">
                                      <p:cBhvr>
                                        <p:cTn id="138" dur="600"/>
                                        <p:tgtEl>
                                          <p:spTgt spid="24"/>
                                        </p:tgtEl>
                                      </p:cBhvr>
                                    </p:animEffect>
                                    <p:anim calcmode="lin" valueType="num">
                                      <p:cBhvr additive="base">
                                        <p:cTn id="139" dur="600" fill="hold"/>
                                        <p:tgtEl>
                                          <p:spTgt spid="24"/>
                                        </p:tgtEl>
                                        <p:attrNameLst>
                                          <p:attrName>ppt_y</p:attrName>
                                        </p:attrNameLst>
                                      </p:cBhvr>
                                      <p:tavLst>
                                        <p:tav tm="0">
                                          <p:val>
                                            <p:strVal val="#ppt_y+0.05"/>
                                          </p:val>
                                        </p:tav>
                                        <p:tav tm="100000">
                                          <p:val>
                                            <p:strVal val="#ppt_y"/>
                                          </p:val>
                                        </p:tav>
                                      </p:tavLst>
                                    </p:anim>
                                  </p:childTnLst>
                                </p:cTn>
                              </p:par>
                              <p:par>
                                <p:cTn id="142" presetID="42" presetClass="entr" presetSubtype="0" fill="hold" nodeType="withEffect">
                                  <p:stCondLst>
                                    <p:cond delay="1848"/>
                                  </p:stCondLst>
                                  <p:childTnLst>
                                    <p:set>
                                      <p:cBhvr>
                                        <p:cTn id="143" dur="1" fill="hold">
                                          <p:stCondLst>
                                            <p:cond delay="0"/>
                                          </p:stCondLst>
                                        </p:cTn>
                                        <p:tgtEl>
                                          <p:spTgt spid="25"/>
                                        </p:tgtEl>
                                        <p:attrNameLst>
                                          <p:attrName>style.visibility</p:attrName>
                                        </p:attrNameLst>
                                      </p:cBhvr>
                                      <p:to>
                                        <p:strVal val="visible"/>
                                      </p:to>
                                    </p:set>
                                    <p:animEffect transition="in" filter="fade">
                                      <p:cBhvr>
                                        <p:cTn id="144" dur="600"/>
                                        <p:tgtEl>
                                          <p:spTgt spid="25"/>
                                        </p:tgtEl>
                                      </p:cBhvr>
                                    </p:animEffect>
                                    <p:anim calcmode="lin" valueType="num">
                                      <p:cBhvr additive="base">
                                        <p:cTn id="145" dur="600" fill="hold"/>
                                        <p:tgtEl>
                                          <p:spTgt spid="25"/>
                                        </p:tgtEl>
                                        <p:attrNameLst>
                                          <p:attrName>ppt_y</p:attrName>
                                        </p:attrNameLst>
                                      </p:cBhvr>
                                      <p:tavLst>
                                        <p:tav tm="0">
                                          <p:val>
                                            <p:strVal val="#ppt_y+0.05"/>
                                          </p:val>
                                        </p:tav>
                                        <p:tav tm="100000">
                                          <p:val>
                                            <p:strVal val="#ppt_y"/>
                                          </p:val>
                                        </p:tav>
                                      </p:tavLst>
                                    </p:anim>
                                  </p:childTnLst>
                                </p:cTn>
                              </p:par>
                              <p:par>
                                <p:cTn id="148" presetID="42" presetClass="entr" presetSubtype="0" fill="hold" nodeType="withEffect">
                                  <p:stCondLst>
                                    <p:cond delay="1932"/>
                                  </p:stCondLst>
                                  <p:childTnLst>
                                    <p:set>
                                      <p:cBhvr>
                                        <p:cTn id="149" dur="1" fill="hold">
                                          <p:stCondLst>
                                            <p:cond delay="0"/>
                                          </p:stCondLst>
                                        </p:cTn>
                                        <p:tgtEl>
                                          <p:spTgt spid="26"/>
                                        </p:tgtEl>
                                        <p:attrNameLst>
                                          <p:attrName>style.visibility</p:attrName>
                                        </p:attrNameLst>
                                      </p:cBhvr>
                                      <p:to>
                                        <p:strVal val="visible"/>
                                      </p:to>
                                    </p:set>
                                    <p:animEffect transition="in" filter="fade">
                                      <p:cBhvr>
                                        <p:cTn id="150" dur="600"/>
                                        <p:tgtEl>
                                          <p:spTgt spid="26"/>
                                        </p:tgtEl>
                                      </p:cBhvr>
                                    </p:animEffect>
                                    <p:anim calcmode="lin" valueType="num">
                                      <p:cBhvr additive="base">
                                        <p:cTn id="151" dur="600" fill="hold"/>
                                        <p:tgtEl>
                                          <p:spTgt spid="26"/>
                                        </p:tgtEl>
                                        <p:attrNameLst>
                                          <p:attrName>ppt_y</p:attrName>
                                        </p:attrNameLst>
                                      </p:cBhvr>
                                      <p:tavLst>
                                        <p:tav tm="0">
                                          <p:val>
                                            <p:strVal val="#ppt_y+0.05"/>
                                          </p:val>
                                        </p:tav>
                                        <p:tav tm="100000">
                                          <p:val>
                                            <p:strVal val="#ppt_y"/>
                                          </p:val>
                                        </p:tav>
                                      </p:tavLst>
                                    </p:anim>
                                  </p:childTnLst>
                                </p:cTn>
                              </p:par>
                              <p:par>
                                <p:cTn id="154" presetID="42" presetClass="entr" presetSubtype="0" fill="hold" nodeType="withEffect">
                                  <p:stCondLst>
                                    <p:cond delay="2016"/>
                                  </p:stCondLst>
                                  <p:childTnLst>
                                    <p:set>
                                      <p:cBhvr>
                                        <p:cTn id="155" dur="1" fill="hold">
                                          <p:stCondLst>
                                            <p:cond delay="0"/>
                                          </p:stCondLst>
                                        </p:cTn>
                                        <p:tgtEl>
                                          <p:spTgt spid="27"/>
                                        </p:tgtEl>
                                        <p:attrNameLst>
                                          <p:attrName>style.visibility</p:attrName>
                                        </p:attrNameLst>
                                      </p:cBhvr>
                                      <p:to>
                                        <p:strVal val="visible"/>
                                      </p:to>
                                    </p:set>
                                    <p:animEffect transition="in" filter="fade">
                                      <p:cBhvr>
                                        <p:cTn id="156" dur="600"/>
                                        <p:tgtEl>
                                          <p:spTgt spid="27"/>
                                        </p:tgtEl>
                                      </p:cBhvr>
                                    </p:animEffect>
                                    <p:anim calcmode="lin" valueType="num">
                                      <p:cBhvr additive="base">
                                        <p:cTn id="157" dur="600" fill="hold"/>
                                        <p:tgtEl>
                                          <p:spTgt spid="27"/>
                                        </p:tgtEl>
                                        <p:attrNameLst>
                                          <p:attrName>ppt_y</p:attrName>
                                        </p:attrNameLst>
                                      </p:cBhvr>
                                      <p:tavLst>
                                        <p:tav tm="0">
                                          <p:val>
                                            <p:strVal val="#ppt_y+0.05"/>
                                          </p:val>
                                        </p:tav>
                                        <p:tav tm="100000">
                                          <p:val>
                                            <p:strVal val="#ppt_y"/>
                                          </p:val>
                                        </p:tav>
                                      </p:tavLst>
                                    </p:anim>
                                  </p:childTnLst>
                                </p:cTn>
                              </p:par>
                              <p:par>
                                <p:cTn id="160" presetID="42" presetClass="entr" presetSubtype="0" fill="hold" nodeType="withEffect">
                                  <p:stCondLst>
                                    <p:cond delay="2100"/>
                                  </p:stCondLst>
                                  <p:childTnLst>
                                    <p:set>
                                      <p:cBhvr>
                                        <p:cTn id="161" dur="1" fill="hold">
                                          <p:stCondLst>
                                            <p:cond delay="0"/>
                                          </p:stCondLst>
                                        </p:cTn>
                                        <p:tgtEl>
                                          <p:spTgt spid="25"/>
                                        </p:tgtEl>
                                        <p:attrNameLst>
                                          <p:attrName>style.visibility</p:attrName>
                                        </p:attrNameLst>
                                      </p:cBhvr>
                                      <p:to>
                                        <p:strVal val="visible"/>
                                      </p:to>
                                    </p:set>
                                    <p:animEffect transition="in" filter="fade">
                                      <p:cBhvr>
                                        <p:cTn id="162" dur="600"/>
                                        <p:tgtEl>
                                          <p:spTgt spid="25"/>
                                        </p:tgtEl>
                                      </p:cBhvr>
                                    </p:animEffect>
                                    <p:anim calcmode="lin" valueType="num">
                                      <p:cBhvr additive="base">
                                        <p:cTn id="163" dur="600" fill="hold"/>
                                        <p:tgtEl>
                                          <p:spTgt spid="25"/>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How Python, SQL and Power BI work together</a:t>
            </a:r>
            <a:endParaRPr lang="en-US" sz="3000" dirty="0"/>
          </a:p>
        </p:txBody>
      </p:sp>
      <p:sp>
        <p:nvSpPr>
          <p:cNvPr id="4" name="tool card"/>
          <p:cNvSpPr/>
          <p:nvPr/>
        </p:nvSpPr>
        <p:spPr>
          <a:xfrm>
            <a:off x="548640" y="1417320"/>
            <a:ext cx="3593592" cy="4663440"/>
          </a:xfrm>
          <a:prstGeom prst="roundRect">
            <a:avLst>
              <a:gd name="adj" fmla="val 3053"/>
            </a:avLst>
          </a:prstGeom>
          <a:solidFill>
            <a:srgbClr val="EEF2F6"/>
          </a:solidFill>
          <a:ln w="12700">
            <a:solidFill>
              <a:srgbClr val="EEF2F6"/>
            </a:solidFill>
            <a:prstDash val="solid"/>
          </a:ln>
        </p:spPr>
      </p:sp>
      <p:sp>
        <p:nvSpPr>
          <p:cNvPr id="5" name="tool icon circle"/>
          <p:cNvSpPr/>
          <p:nvPr/>
        </p:nvSpPr>
        <p:spPr>
          <a:xfrm>
            <a:off x="777240" y="1645920"/>
            <a:ext cx="685800" cy="685800"/>
          </a:xfrm>
          <a:prstGeom prst="ellipse">
            <a:avLst/>
          </a:prstGeom>
          <a:solidFill>
            <a:srgbClr val="232F3E"/>
          </a:solidFill>
          <a:ln w="12700">
            <a:solidFill>
              <a:srgbClr val="232F3E"/>
            </a:solidFill>
            <a:prstDash val="solid"/>
          </a:ln>
        </p:spPr>
      </p:sp>
      <p:pic>
        <p:nvPicPr>
          <p:cNvPr id="6" name="Image 0" descr="Python icon">    </p:cNvPr>
          <p:cNvPicPr>
            <a:picLocks noChangeAspect="1"/>
          </p:cNvPicPr>
          <p:nvPr/>
        </p:nvPicPr>
        <p:blipFill>
          <a:blip r:embed="rId1"/>
          <a:stretch>
            <a:fillRect/>
          </a:stretch>
        </p:blipFill>
        <p:spPr>
          <a:xfrm>
            <a:off x="941832" y="1810512"/>
            <a:ext cx="356616" cy="356616"/>
          </a:xfrm>
          <a:prstGeom prst="rect">
            <a:avLst/>
          </a:prstGeom>
        </p:spPr>
      </p:pic>
      <p:sp>
        <p:nvSpPr>
          <p:cNvPr id="7" name="Text 3"/>
          <p:cNvSpPr txBox="1"/>
          <p:nvPr/>
        </p:nvSpPr>
        <p:spPr>
          <a:xfrm>
            <a:off x="1600200" y="1645920"/>
            <a:ext cx="2377440" cy="685800"/>
          </a:xfrm>
          <a:prstGeom prst="rect">
            <a:avLst/>
          </a:prstGeom>
          <a:noFill/>
          <a:ln/>
        </p:spPr>
        <p:txBody>
          <a:bodyPr wrap="square" lIns="0" tIns="0" rIns="0" bIns="0" rtlCol="0" anchor="ctr"/>
          <a:lstStyle/>
          <a:p>
            <a:pPr indent="0" marL="0">
              <a:buNone/>
            </a:pPr>
            <a:r>
              <a:rPr lang="en-US" sz="2200" b="1" dirty="0">
                <a:solidFill>
                  <a:srgbClr val="232F3E"/>
                </a:solidFill>
                <a:latin typeface="Cambria" pitchFamily="34" charset="0"/>
                <a:ea typeface="Cambria" pitchFamily="34" charset="-122"/>
                <a:cs typeface="Cambria" pitchFamily="34" charset="-120"/>
              </a:rPr>
              <a:t>Python</a:t>
            </a:r>
            <a:endParaRPr lang="en-US" sz="2200" dirty="0"/>
          </a:p>
        </p:txBody>
      </p:sp>
      <p:sp>
        <p:nvSpPr>
          <p:cNvPr id="8" name="Text 4"/>
          <p:cNvSpPr txBox="1"/>
          <p:nvPr/>
        </p:nvSpPr>
        <p:spPr>
          <a:xfrm>
            <a:off x="777240" y="2606040"/>
            <a:ext cx="3154680" cy="32918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31A22"/>
                </a:solidFill>
                <a:latin typeface="Calibri" pitchFamily="34" charset="0"/>
                <a:ea typeface="Calibri" pitchFamily="34" charset="-122"/>
                <a:cs typeface="Calibri" pitchFamily="34" charset="-120"/>
              </a:rPr>
              <a:t>Jupyter notebook, 50 cells</a:t>
            </a:r>
            <a:endParaRPr lang="en-US" sz="1600" dirty="0"/>
          </a:p>
          <a:p>
            <a:pPr marL="342900" indent="-342900">
              <a:spcAft>
                <a:spcPts val="1200"/>
              </a:spcAft>
              <a:buSzPct val="100000"/>
              <a:buChar char="•"/>
            </a:pPr>
            <a:r>
              <a:rPr lang="en-US" sz="1600" dirty="0">
                <a:solidFill>
                  <a:srgbClr val="131A22"/>
                </a:solidFill>
                <a:latin typeface="Calibri" pitchFamily="34" charset="0"/>
                <a:ea typeface="Calibri" pitchFamily="34" charset="-122"/>
                <a:cs typeface="Calibri" pitchFamily="34" charset="-120"/>
              </a:rPr>
              <a:t>Profiling: shape, types, missing values, duplicates</a:t>
            </a:r>
            <a:endParaRPr lang="en-US" sz="1600" dirty="0"/>
          </a:p>
          <a:p>
            <a:pPr marL="342900" indent="-342900">
              <a:spcAft>
                <a:spcPts val="1200"/>
              </a:spcAft>
              <a:buSzPct val="100000"/>
              <a:buChar char="•"/>
            </a:pPr>
            <a:r>
              <a:rPr lang="en-US" sz="1600" dirty="0">
                <a:solidFill>
                  <a:srgbClr val="131A22"/>
                </a:solidFill>
                <a:latin typeface="Calibri" pitchFamily="34" charset="0"/>
                <a:ea typeface="Calibri" pitchFamily="34" charset="-122"/>
                <a:cs typeface="Calibri" pitchFamily="34" charset="-120"/>
              </a:rPr>
              <a:t>Cleaning and 11 new columns</a:t>
            </a:r>
            <a:endParaRPr lang="en-US" sz="1600" dirty="0"/>
          </a:p>
          <a:p>
            <a:pPr marL="342900" indent="-342900">
              <a:spcAft>
                <a:spcPts val="1200"/>
              </a:spcAft>
              <a:buSzPct val="100000"/>
              <a:buChar char="•"/>
            </a:pPr>
            <a:r>
              <a:rPr lang="en-US" sz="1600" dirty="0">
                <a:solidFill>
                  <a:srgbClr val="131A22"/>
                </a:solidFill>
                <a:latin typeface="Calibri" pitchFamily="34" charset="0"/>
                <a:ea typeface="Calibri" pitchFamily="34" charset="-122"/>
                <a:cs typeface="Calibri" pitchFamily="34" charset="-120"/>
              </a:rPr>
              <a:t>EDA charts: histograms, scatter, heatmap</a:t>
            </a:r>
            <a:endParaRPr lang="en-US" sz="1600" dirty="0"/>
          </a:p>
          <a:p>
            <a:pPr marL="342900" indent="-342900">
              <a:spcAft>
                <a:spcPts val="1200"/>
              </a:spcAft>
              <a:buSzPct val="100000"/>
              <a:buChar char="•"/>
            </a:pPr>
            <a:r>
              <a:rPr lang="en-US" sz="1600" dirty="0">
                <a:solidFill>
                  <a:srgbClr val="131A22"/>
                </a:solidFill>
                <a:latin typeface="Calibri" pitchFamily="34" charset="0"/>
                <a:ea typeface="Calibri" pitchFamily="34" charset="-122"/>
                <a:cs typeface="Calibri" pitchFamily="34" charset="-120"/>
              </a:rPr>
              <a:t>Exports cleaned_phone_data.csv</a:t>
            </a:r>
            <a:endParaRPr lang="en-US" sz="1600" dirty="0"/>
          </a:p>
        </p:txBody>
      </p:sp>
      <p:sp>
        <p:nvSpPr>
          <p:cNvPr id="9" name="tool card"/>
          <p:cNvSpPr/>
          <p:nvPr/>
        </p:nvSpPr>
        <p:spPr>
          <a:xfrm>
            <a:off x="4297680" y="1417320"/>
            <a:ext cx="3593592" cy="4663440"/>
          </a:xfrm>
          <a:prstGeom prst="roundRect">
            <a:avLst>
              <a:gd name="adj" fmla="val 3053"/>
            </a:avLst>
          </a:prstGeom>
          <a:solidFill>
            <a:srgbClr val="EEF2F6"/>
          </a:solidFill>
          <a:ln w="12700">
            <a:solidFill>
              <a:srgbClr val="EEF2F6"/>
            </a:solidFill>
            <a:prstDash val="solid"/>
          </a:ln>
        </p:spPr>
      </p:sp>
      <p:sp>
        <p:nvSpPr>
          <p:cNvPr id="10" name="tool icon circle"/>
          <p:cNvSpPr/>
          <p:nvPr/>
        </p:nvSpPr>
        <p:spPr>
          <a:xfrm>
            <a:off x="4526280" y="1645920"/>
            <a:ext cx="685800" cy="685800"/>
          </a:xfrm>
          <a:prstGeom prst="ellipse">
            <a:avLst/>
          </a:prstGeom>
          <a:solidFill>
            <a:srgbClr val="232F3E"/>
          </a:solidFill>
          <a:ln w="12700">
            <a:solidFill>
              <a:srgbClr val="232F3E"/>
            </a:solidFill>
            <a:prstDash val="solid"/>
          </a:ln>
        </p:spPr>
      </p:sp>
      <p:pic>
        <p:nvPicPr>
          <p:cNvPr id="11" name="Image 1" descr="SQL (SQL Server) icon">    </p:cNvPr>
          <p:cNvPicPr>
            <a:picLocks noChangeAspect="1"/>
          </p:cNvPicPr>
          <p:nvPr/>
        </p:nvPicPr>
        <p:blipFill>
          <a:blip r:embed="rId2"/>
          <a:stretch>
            <a:fillRect/>
          </a:stretch>
        </p:blipFill>
        <p:spPr>
          <a:xfrm>
            <a:off x="4690872" y="1810512"/>
            <a:ext cx="356616" cy="356616"/>
          </a:xfrm>
          <a:prstGeom prst="rect">
            <a:avLst/>
          </a:prstGeom>
        </p:spPr>
      </p:pic>
      <p:sp>
        <p:nvSpPr>
          <p:cNvPr id="12" name="Text 7"/>
          <p:cNvSpPr txBox="1"/>
          <p:nvPr/>
        </p:nvSpPr>
        <p:spPr>
          <a:xfrm>
            <a:off x="5349240" y="1645920"/>
            <a:ext cx="2377440" cy="685800"/>
          </a:xfrm>
          <a:prstGeom prst="rect">
            <a:avLst/>
          </a:prstGeom>
          <a:noFill/>
          <a:ln/>
        </p:spPr>
        <p:txBody>
          <a:bodyPr wrap="square" lIns="0" tIns="0" rIns="0" bIns="0" rtlCol="0" anchor="ctr"/>
          <a:lstStyle/>
          <a:p>
            <a:pPr indent="0" marL="0">
              <a:buNone/>
            </a:pPr>
            <a:r>
              <a:rPr lang="en-US" sz="2200" b="1" dirty="0">
                <a:solidFill>
                  <a:srgbClr val="232F3E"/>
                </a:solidFill>
                <a:latin typeface="Cambria" pitchFamily="34" charset="0"/>
                <a:ea typeface="Cambria" pitchFamily="34" charset="-122"/>
                <a:cs typeface="Cambria" pitchFamily="34" charset="-120"/>
              </a:rPr>
              <a:t>SQL (SQL Server)</a:t>
            </a:r>
            <a:endParaRPr lang="en-US" sz="2200" dirty="0"/>
          </a:p>
        </p:txBody>
      </p:sp>
      <p:sp>
        <p:nvSpPr>
          <p:cNvPr id="13" name="Text 8"/>
          <p:cNvSpPr txBox="1"/>
          <p:nvPr/>
        </p:nvSpPr>
        <p:spPr>
          <a:xfrm>
            <a:off x="4526280" y="2606040"/>
            <a:ext cx="3154680" cy="32918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31A22"/>
                </a:solidFill>
                <a:latin typeface="Calibri" pitchFamily="34" charset="0"/>
                <a:ea typeface="Calibri" pitchFamily="34" charset="-122"/>
                <a:cs typeface="Calibri" pitchFamily="34" charset="-120"/>
              </a:rPr>
              <a:t>20 numbered query blocks</a:t>
            </a:r>
            <a:endParaRPr lang="en-US" sz="1600" dirty="0"/>
          </a:p>
          <a:p>
            <a:pPr marL="342900" indent="-342900">
              <a:spcAft>
                <a:spcPts val="1200"/>
              </a:spcAft>
              <a:buSzPct val="100000"/>
              <a:buChar char="•"/>
            </a:pPr>
            <a:r>
              <a:rPr lang="en-US" sz="1600" dirty="0">
                <a:solidFill>
                  <a:srgbClr val="131A22"/>
                </a:solidFill>
                <a:latin typeface="Calibri" pitchFamily="34" charset="0"/>
                <a:ea typeface="Calibri" pitchFamily="34" charset="-122"/>
                <a:cs typeface="Calibri" pitchFamily="34" charset="-120"/>
              </a:rPr>
              <a:t>Quality checks: nulls, invalid ratings / prices / discounts, duplicate ASINs</a:t>
            </a:r>
            <a:endParaRPr lang="en-US" sz="1600" dirty="0"/>
          </a:p>
          <a:p>
            <a:pPr marL="342900" indent="-342900">
              <a:spcAft>
                <a:spcPts val="1200"/>
              </a:spcAft>
              <a:buSzPct val="100000"/>
              <a:buChar char="•"/>
            </a:pPr>
            <a:r>
              <a:rPr lang="en-US" sz="1600" dirty="0">
                <a:solidFill>
                  <a:srgbClr val="131A22"/>
                </a:solidFill>
                <a:latin typeface="Calibri" pitchFamily="34" charset="0"/>
                <a:ea typeface="Calibri" pitchFamily="34" charset="-122"/>
                <a:cs typeface="Calibri" pitchFamily="34" charset="-120"/>
              </a:rPr>
              <a:t>KPIs and price / rating bands</a:t>
            </a:r>
            <a:endParaRPr lang="en-US" sz="1600" dirty="0"/>
          </a:p>
          <a:p>
            <a:pPr marL="342900" indent="-342900">
              <a:spcAft>
                <a:spcPts val="1200"/>
              </a:spcAft>
              <a:buSzPct val="100000"/>
              <a:buChar char="•"/>
            </a:pPr>
            <a:r>
              <a:rPr lang="en-US" sz="1600" dirty="0">
                <a:solidFill>
                  <a:srgbClr val="131A22"/>
                </a:solidFill>
                <a:latin typeface="Calibri" pitchFamily="34" charset="0"/>
                <a:ea typeface="Calibri" pitchFamily="34" charset="-122"/>
                <a:cs typeface="Calibri" pitchFamily="34" charset="-120"/>
              </a:rPr>
              <a:t>Prime, Best Seller, discount and coupon comparisons</a:t>
            </a:r>
            <a:endParaRPr lang="en-US" sz="1600" dirty="0"/>
          </a:p>
          <a:p>
            <a:pPr marL="342900" indent="-342900">
              <a:spcAft>
                <a:spcPts val="1200"/>
              </a:spcAft>
              <a:buSzPct val="100000"/>
              <a:buChar char="•"/>
            </a:pPr>
            <a:r>
              <a:rPr lang="en-US" sz="1600" dirty="0">
                <a:solidFill>
                  <a:srgbClr val="131A22"/>
                </a:solidFill>
                <a:latin typeface="Calibri" pitchFamily="34" charset="0"/>
                <a:ea typeface="Calibri" pitchFamily="34" charset="-122"/>
                <a:cs typeface="Calibri" pitchFamily="34" charset="-120"/>
              </a:rPr>
              <a:t>Top-10 lists and sales-proxy view</a:t>
            </a:r>
            <a:endParaRPr lang="en-US" sz="1600" dirty="0"/>
          </a:p>
        </p:txBody>
      </p:sp>
      <p:sp>
        <p:nvSpPr>
          <p:cNvPr id="14" name="tool card"/>
          <p:cNvSpPr/>
          <p:nvPr/>
        </p:nvSpPr>
        <p:spPr>
          <a:xfrm>
            <a:off x="8046720" y="1417320"/>
            <a:ext cx="3593592" cy="4663440"/>
          </a:xfrm>
          <a:prstGeom prst="roundRect">
            <a:avLst>
              <a:gd name="adj" fmla="val 3053"/>
            </a:avLst>
          </a:prstGeom>
          <a:solidFill>
            <a:srgbClr val="EEF2F6"/>
          </a:solidFill>
          <a:ln w="12700">
            <a:solidFill>
              <a:srgbClr val="EEF2F6"/>
            </a:solidFill>
            <a:prstDash val="solid"/>
          </a:ln>
        </p:spPr>
      </p:sp>
      <p:sp>
        <p:nvSpPr>
          <p:cNvPr id="15" name="tool icon circle"/>
          <p:cNvSpPr/>
          <p:nvPr/>
        </p:nvSpPr>
        <p:spPr>
          <a:xfrm>
            <a:off x="8275320" y="1645920"/>
            <a:ext cx="685800" cy="685800"/>
          </a:xfrm>
          <a:prstGeom prst="ellipse">
            <a:avLst/>
          </a:prstGeom>
          <a:solidFill>
            <a:srgbClr val="FF9900"/>
          </a:solidFill>
          <a:ln w="12700">
            <a:solidFill>
              <a:srgbClr val="232F3E"/>
            </a:solidFill>
            <a:prstDash val="solid"/>
          </a:ln>
        </p:spPr>
      </p:sp>
      <p:pic>
        <p:nvPicPr>
          <p:cNvPr id="16" name="Image 2" descr="Power BI icon">    </p:cNvPr>
          <p:cNvPicPr>
            <a:picLocks noChangeAspect="1"/>
          </p:cNvPicPr>
          <p:nvPr/>
        </p:nvPicPr>
        <p:blipFill>
          <a:blip r:embed="rId3"/>
          <a:stretch>
            <a:fillRect/>
          </a:stretch>
        </p:blipFill>
        <p:spPr>
          <a:xfrm>
            <a:off x="8439912" y="1810512"/>
            <a:ext cx="356616" cy="356616"/>
          </a:xfrm>
          <a:prstGeom prst="rect">
            <a:avLst/>
          </a:prstGeom>
        </p:spPr>
      </p:pic>
      <p:sp>
        <p:nvSpPr>
          <p:cNvPr id="17" name="Text 11"/>
          <p:cNvSpPr txBox="1"/>
          <p:nvPr/>
        </p:nvSpPr>
        <p:spPr>
          <a:xfrm>
            <a:off x="9098280" y="1645920"/>
            <a:ext cx="2377440" cy="685800"/>
          </a:xfrm>
          <a:prstGeom prst="rect">
            <a:avLst/>
          </a:prstGeom>
          <a:noFill/>
          <a:ln/>
        </p:spPr>
        <p:txBody>
          <a:bodyPr wrap="square" lIns="0" tIns="0" rIns="0" bIns="0" rtlCol="0" anchor="ctr"/>
          <a:lstStyle/>
          <a:p>
            <a:pPr indent="0" marL="0">
              <a:buNone/>
            </a:pPr>
            <a:r>
              <a:rPr lang="en-US" sz="2200" b="1" dirty="0">
                <a:solidFill>
                  <a:srgbClr val="232F3E"/>
                </a:solidFill>
                <a:latin typeface="Cambria" pitchFamily="34" charset="0"/>
                <a:ea typeface="Cambria" pitchFamily="34" charset="-122"/>
                <a:cs typeface="Cambria" pitchFamily="34" charset="-120"/>
              </a:rPr>
              <a:t>Power BI</a:t>
            </a:r>
            <a:endParaRPr lang="en-US" sz="2200" dirty="0"/>
          </a:p>
        </p:txBody>
      </p:sp>
      <p:sp>
        <p:nvSpPr>
          <p:cNvPr id="18" name="Text 12"/>
          <p:cNvSpPr txBox="1"/>
          <p:nvPr/>
        </p:nvSpPr>
        <p:spPr>
          <a:xfrm>
            <a:off x="8275320" y="2606040"/>
            <a:ext cx="3154680" cy="32918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31A22"/>
                </a:solidFill>
                <a:latin typeface="Calibri" pitchFamily="34" charset="0"/>
                <a:ea typeface="Calibri" pitchFamily="34" charset="-122"/>
                <a:cs typeface="Calibri" pitchFamily="34" charset="-120"/>
              </a:rPr>
              <a:t>Imports the cleaned CSV as table PhoneProducts</a:t>
            </a:r>
            <a:endParaRPr lang="en-US" sz="1600" dirty="0"/>
          </a:p>
          <a:p>
            <a:pPr marL="342900" indent="-342900">
              <a:spcAft>
                <a:spcPts val="1200"/>
              </a:spcAft>
              <a:buSzPct val="100000"/>
              <a:buChar char="•"/>
            </a:pPr>
            <a:r>
              <a:rPr lang="en-US" sz="1600" dirty="0">
                <a:solidFill>
                  <a:srgbClr val="131A22"/>
                </a:solidFill>
                <a:latin typeface="Calibri" pitchFamily="34" charset="0"/>
                <a:ea typeface="Calibri" pitchFamily="34" charset="-122"/>
                <a:cs typeface="Calibri" pitchFamily="34" charset="-120"/>
              </a:rPr>
              <a:t>Data types set in Power Query</a:t>
            </a:r>
            <a:endParaRPr lang="en-US" sz="1600" dirty="0"/>
          </a:p>
          <a:p>
            <a:pPr marL="342900" indent="-342900">
              <a:spcAft>
                <a:spcPts val="1200"/>
              </a:spcAft>
              <a:buSzPct val="100000"/>
              <a:buChar char="•"/>
            </a:pPr>
            <a:r>
              <a:rPr lang="en-US" sz="1600" dirty="0">
                <a:solidFill>
                  <a:srgbClr val="131A22"/>
                </a:solidFill>
                <a:latin typeface="Calibri" pitchFamily="34" charset="0"/>
                <a:ea typeface="Calibri" pitchFamily="34" charset="-122"/>
                <a:cs typeface="Calibri" pitchFamily="34" charset="-120"/>
              </a:rPr>
              <a:t>DAX measures for every KPI card</a:t>
            </a:r>
            <a:endParaRPr lang="en-US" sz="1600" dirty="0"/>
          </a:p>
          <a:p>
            <a:pPr marL="342900" indent="-342900">
              <a:spcAft>
                <a:spcPts val="1200"/>
              </a:spcAft>
              <a:buSzPct val="100000"/>
              <a:buChar char="•"/>
            </a:pPr>
            <a:r>
              <a:rPr lang="en-US" sz="1600" dirty="0">
                <a:solidFill>
                  <a:srgbClr val="131A22"/>
                </a:solidFill>
                <a:latin typeface="Calibri" pitchFamily="34" charset="0"/>
                <a:ea typeface="Calibri" pitchFamily="34" charset="-122"/>
                <a:cs typeface="Calibri" pitchFamily="34" charset="-120"/>
              </a:rPr>
              <a:t>3-page interactive dashboard with slicers</a:t>
            </a:r>
            <a:endParaRPr lang="en-US" sz="1600" dirty="0"/>
          </a:p>
          <a:p>
            <a:pPr marL="342900" indent="-342900">
              <a:spcAft>
                <a:spcPts val="1200"/>
              </a:spcAft>
              <a:buSzPct val="100000"/>
              <a:buChar char="•"/>
            </a:pPr>
            <a:r>
              <a:rPr lang="en-US" sz="1600" dirty="0">
                <a:solidFill>
                  <a:srgbClr val="131A22"/>
                </a:solidFill>
                <a:latin typeface="Calibri" pitchFamily="34" charset="0"/>
                <a:ea typeface="Calibri" pitchFamily="34" charset="-122"/>
                <a:cs typeface="Calibri" pitchFamily="34" charset="-120"/>
              </a:rPr>
              <a:t>Navigation between pages</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42"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600"/>
                                        <p:tgtEl>
                                          <p:spTgt spid="2"/>
                                        </p:tgtEl>
                                      </p:cBhvr>
                                    </p:animEffect>
                                    <p:anim calcmode="lin" valueType="num">
                                      <p:cBhvr additive="base">
                                        <p:cTn id="13" dur="600" fill="hold"/>
                                        <p:tgtEl>
                                          <p:spTgt spid="2"/>
                                        </p:tgtEl>
                                        <p:attrNameLst>
                                          <p:attrName>ppt_y</p:attrName>
                                        </p:attrNameLst>
                                      </p:cBhvr>
                                      <p:tavLst>
                                        <p:tav tm="0">
                                          <p:val>
                                            <p:strVal val="#ppt_y+0.05"/>
                                          </p:val>
                                        </p:tav>
                                        <p:tav tm="100000">
                                          <p:val>
                                            <p:strVal val="#ppt_y"/>
                                          </p:val>
                                        </p:tav>
                                      </p:tavLst>
                                    </p:anim>
                                  </p:childTnLst>
                                </p:cTn>
                              </p:par>
                              <p:par>
                                <p:cTn id="16" presetID="42" presetClass="entr" presetSubtype="0" fill="hold" nodeType="withEffect">
                                  <p:stCondLst>
                                    <p:cond delay="129"/>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600"/>
                                        <p:tgtEl>
                                          <p:spTgt spid="4"/>
                                        </p:tgtEl>
                                      </p:cBhvr>
                                    </p:animEffect>
                                    <p:anim calcmode="lin" valueType="num">
                                      <p:cBhvr additive="base">
                                        <p:cTn id="19" dur="600" fill="hold"/>
                                        <p:tgtEl>
                                          <p:spTgt spid="4"/>
                                        </p:tgtEl>
                                        <p:attrNameLst>
                                          <p:attrName>ppt_y</p:attrName>
                                        </p:attrNameLst>
                                      </p:cBhvr>
                                      <p:tavLst>
                                        <p:tav tm="0">
                                          <p:val>
                                            <p:strVal val="#ppt_y+0.05"/>
                                          </p:val>
                                        </p:tav>
                                        <p:tav tm="100000">
                                          <p:val>
                                            <p:strVal val="#ppt_y"/>
                                          </p:val>
                                        </p:tav>
                                      </p:tavLst>
                                    </p:anim>
                                  </p:childTnLst>
                                </p:cTn>
                              </p:par>
                              <p:par>
                                <p:cTn id="22" presetID="42" presetClass="entr" presetSubtype="0" fill="hold" nodeType="withEffect">
                                  <p:stCondLst>
                                    <p:cond delay="258"/>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600"/>
                                        <p:tgtEl>
                                          <p:spTgt spid="5"/>
                                        </p:tgtEl>
                                      </p:cBhvr>
                                    </p:animEffect>
                                    <p:anim calcmode="lin" valueType="num">
                                      <p:cBhvr additive="base">
                                        <p:cTn id="25" dur="600" fill="hold"/>
                                        <p:tgtEl>
                                          <p:spTgt spid="5"/>
                                        </p:tgtEl>
                                        <p:attrNameLst>
                                          <p:attrName>ppt_y</p:attrName>
                                        </p:attrNameLst>
                                      </p:cBhvr>
                                      <p:tavLst>
                                        <p:tav tm="0">
                                          <p:val>
                                            <p:strVal val="#ppt_y+0.05"/>
                                          </p:val>
                                        </p:tav>
                                        <p:tav tm="100000">
                                          <p:val>
                                            <p:strVal val="#ppt_y"/>
                                          </p:val>
                                        </p:tav>
                                      </p:tavLst>
                                    </p:anim>
                                  </p:childTnLst>
                                </p:cTn>
                              </p:par>
                              <p:par>
                                <p:cTn id="28" presetID="42" presetClass="entr" presetSubtype="0" fill="hold" nodeType="withEffect">
                                  <p:stCondLst>
                                    <p:cond delay="387"/>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600"/>
                                        <p:tgtEl>
                                          <p:spTgt spid="6"/>
                                        </p:tgtEl>
                                      </p:cBhvr>
                                    </p:animEffect>
                                    <p:anim calcmode="lin" valueType="num">
                                      <p:cBhvr additive="base">
                                        <p:cTn id="31" dur="600" fill="hold"/>
                                        <p:tgtEl>
                                          <p:spTgt spid="6"/>
                                        </p:tgtEl>
                                        <p:attrNameLst>
                                          <p:attrName>ppt_y</p:attrName>
                                        </p:attrNameLst>
                                      </p:cBhvr>
                                      <p:tavLst>
                                        <p:tav tm="0">
                                          <p:val>
                                            <p:strVal val="#ppt_y+0.05"/>
                                          </p:val>
                                        </p:tav>
                                        <p:tav tm="100000">
                                          <p:val>
                                            <p:strVal val="#ppt_y"/>
                                          </p:val>
                                        </p:tav>
                                      </p:tavLst>
                                    </p:anim>
                                  </p:childTnLst>
                                </p:cTn>
                              </p:par>
                              <p:par>
                                <p:cTn id="34" presetID="42" presetClass="entr" presetSubtype="0" fill="hold" nodeType="withEffect">
                                  <p:stCondLst>
                                    <p:cond delay="516"/>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600"/>
                                        <p:tgtEl>
                                          <p:spTgt spid="7"/>
                                        </p:tgtEl>
                                      </p:cBhvr>
                                    </p:animEffect>
                                    <p:anim calcmode="lin" valueType="num">
                                      <p:cBhvr additive="base">
                                        <p:cTn id="37" dur="600" fill="hold"/>
                                        <p:tgtEl>
                                          <p:spTgt spid="7"/>
                                        </p:tgtEl>
                                        <p:attrNameLst>
                                          <p:attrName>ppt_y</p:attrName>
                                        </p:attrNameLst>
                                      </p:cBhvr>
                                      <p:tavLst>
                                        <p:tav tm="0">
                                          <p:val>
                                            <p:strVal val="#ppt_y+0.05"/>
                                          </p:val>
                                        </p:tav>
                                        <p:tav tm="100000">
                                          <p:val>
                                            <p:strVal val="#ppt_y"/>
                                          </p:val>
                                        </p:tav>
                                      </p:tavLst>
                                    </p:anim>
                                  </p:childTnLst>
                                </p:cTn>
                              </p:par>
                              <p:par>
                                <p:cTn id="40" presetID="42" presetClass="entr" presetSubtype="0" fill="hold" nodeType="withEffect">
                                  <p:stCondLst>
                                    <p:cond delay="645"/>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600"/>
                                        <p:tgtEl>
                                          <p:spTgt spid="8"/>
                                        </p:tgtEl>
                                      </p:cBhvr>
                                    </p:animEffect>
                                    <p:anim calcmode="lin" valueType="num">
                                      <p:cBhvr additive="base">
                                        <p:cTn id="43" dur="600" fill="hold"/>
                                        <p:tgtEl>
                                          <p:spTgt spid="8"/>
                                        </p:tgtEl>
                                        <p:attrNameLst>
                                          <p:attrName>ppt_y</p:attrName>
                                        </p:attrNameLst>
                                      </p:cBhvr>
                                      <p:tavLst>
                                        <p:tav tm="0">
                                          <p:val>
                                            <p:strVal val="#ppt_y+0.05"/>
                                          </p:val>
                                        </p:tav>
                                        <p:tav tm="100000">
                                          <p:val>
                                            <p:strVal val="#ppt_y"/>
                                          </p:val>
                                        </p:tav>
                                      </p:tavLst>
                                    </p:anim>
                                  </p:childTnLst>
                                </p:cTn>
                              </p:par>
                              <p:par>
                                <p:cTn id="46" presetID="42" presetClass="entr" presetSubtype="0" fill="hold" nodeType="withEffect">
                                  <p:stCondLst>
                                    <p:cond delay="774"/>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600"/>
                                        <p:tgtEl>
                                          <p:spTgt spid="9"/>
                                        </p:tgtEl>
                                      </p:cBhvr>
                                    </p:animEffect>
                                    <p:anim calcmode="lin" valueType="num">
                                      <p:cBhvr additive="base">
                                        <p:cTn id="49" dur="600" fill="hold"/>
                                        <p:tgtEl>
                                          <p:spTgt spid="9"/>
                                        </p:tgtEl>
                                        <p:attrNameLst>
                                          <p:attrName>ppt_y</p:attrName>
                                        </p:attrNameLst>
                                      </p:cBhvr>
                                      <p:tavLst>
                                        <p:tav tm="0">
                                          <p:val>
                                            <p:strVal val="#ppt_y+0.05"/>
                                          </p:val>
                                        </p:tav>
                                        <p:tav tm="100000">
                                          <p:val>
                                            <p:strVal val="#ppt_y"/>
                                          </p:val>
                                        </p:tav>
                                      </p:tavLst>
                                    </p:anim>
                                  </p:childTnLst>
                                </p:cTn>
                              </p:par>
                              <p:par>
                                <p:cTn id="52" presetID="42" presetClass="entr" presetSubtype="0" fill="hold" nodeType="withEffect">
                                  <p:stCondLst>
                                    <p:cond delay="903"/>
                                  </p:stCondLst>
                                  <p:childTnLst>
                                    <p:set>
                                      <p:cBhvr>
                                        <p:cTn id="53" dur="1" fill="hold">
                                          <p:stCondLst>
                                            <p:cond delay="0"/>
                                          </p:stCondLst>
                                        </p:cTn>
                                        <p:tgtEl>
                                          <p:spTgt spid="10"/>
                                        </p:tgtEl>
                                        <p:attrNameLst>
                                          <p:attrName>style.visibility</p:attrName>
                                        </p:attrNameLst>
                                      </p:cBhvr>
                                      <p:to>
                                        <p:strVal val="visible"/>
                                      </p:to>
                                    </p:set>
                                    <p:animEffect transition="in" filter="fade">
                                      <p:cBhvr>
                                        <p:cTn id="54" dur="600"/>
                                        <p:tgtEl>
                                          <p:spTgt spid="10"/>
                                        </p:tgtEl>
                                      </p:cBhvr>
                                    </p:animEffect>
                                    <p:anim calcmode="lin" valueType="num">
                                      <p:cBhvr additive="base">
                                        <p:cTn id="55" dur="600" fill="hold"/>
                                        <p:tgtEl>
                                          <p:spTgt spid="10"/>
                                        </p:tgtEl>
                                        <p:attrNameLst>
                                          <p:attrName>ppt_y</p:attrName>
                                        </p:attrNameLst>
                                      </p:cBhvr>
                                      <p:tavLst>
                                        <p:tav tm="0">
                                          <p:val>
                                            <p:strVal val="#ppt_y+0.05"/>
                                          </p:val>
                                        </p:tav>
                                        <p:tav tm="100000">
                                          <p:val>
                                            <p:strVal val="#ppt_y"/>
                                          </p:val>
                                        </p:tav>
                                      </p:tavLst>
                                    </p:anim>
                                  </p:childTnLst>
                                </p:cTn>
                              </p:par>
                              <p:par>
                                <p:cTn id="58" presetID="42" presetClass="entr" presetSubtype="0" fill="hold" nodeType="withEffect">
                                  <p:stCondLst>
                                    <p:cond delay="1032"/>
                                  </p:stCondLst>
                                  <p:childTnLst>
                                    <p:set>
                                      <p:cBhvr>
                                        <p:cTn id="59" dur="1" fill="hold">
                                          <p:stCondLst>
                                            <p:cond delay="0"/>
                                          </p:stCondLst>
                                        </p:cTn>
                                        <p:tgtEl>
                                          <p:spTgt spid="11"/>
                                        </p:tgtEl>
                                        <p:attrNameLst>
                                          <p:attrName>style.visibility</p:attrName>
                                        </p:attrNameLst>
                                      </p:cBhvr>
                                      <p:to>
                                        <p:strVal val="visible"/>
                                      </p:to>
                                    </p:set>
                                    <p:animEffect transition="in" filter="fade">
                                      <p:cBhvr>
                                        <p:cTn id="60" dur="600"/>
                                        <p:tgtEl>
                                          <p:spTgt spid="11"/>
                                        </p:tgtEl>
                                      </p:cBhvr>
                                    </p:animEffect>
                                    <p:anim calcmode="lin" valueType="num">
                                      <p:cBhvr additive="base">
                                        <p:cTn id="61" dur="600" fill="hold"/>
                                        <p:tgtEl>
                                          <p:spTgt spid="11"/>
                                        </p:tgtEl>
                                        <p:attrNameLst>
                                          <p:attrName>ppt_y</p:attrName>
                                        </p:attrNameLst>
                                      </p:cBhvr>
                                      <p:tavLst>
                                        <p:tav tm="0">
                                          <p:val>
                                            <p:strVal val="#ppt_y+0.05"/>
                                          </p:val>
                                        </p:tav>
                                        <p:tav tm="100000">
                                          <p:val>
                                            <p:strVal val="#ppt_y"/>
                                          </p:val>
                                        </p:tav>
                                      </p:tavLst>
                                    </p:anim>
                                  </p:childTnLst>
                                </p:cTn>
                              </p:par>
                              <p:par>
                                <p:cTn id="64" presetID="42" presetClass="entr" presetSubtype="0" fill="hold" nodeType="withEffect">
                                  <p:stCondLst>
                                    <p:cond delay="1161"/>
                                  </p:stCondLst>
                                  <p:childTnLst>
                                    <p:set>
                                      <p:cBhvr>
                                        <p:cTn id="65" dur="1" fill="hold">
                                          <p:stCondLst>
                                            <p:cond delay="0"/>
                                          </p:stCondLst>
                                        </p:cTn>
                                        <p:tgtEl>
                                          <p:spTgt spid="12"/>
                                        </p:tgtEl>
                                        <p:attrNameLst>
                                          <p:attrName>style.visibility</p:attrName>
                                        </p:attrNameLst>
                                      </p:cBhvr>
                                      <p:to>
                                        <p:strVal val="visible"/>
                                      </p:to>
                                    </p:set>
                                    <p:animEffect transition="in" filter="fade">
                                      <p:cBhvr>
                                        <p:cTn id="66" dur="600"/>
                                        <p:tgtEl>
                                          <p:spTgt spid="12"/>
                                        </p:tgtEl>
                                      </p:cBhvr>
                                    </p:animEffect>
                                    <p:anim calcmode="lin" valueType="num">
                                      <p:cBhvr additive="base">
                                        <p:cTn id="67" dur="600" fill="hold"/>
                                        <p:tgtEl>
                                          <p:spTgt spid="12"/>
                                        </p:tgtEl>
                                        <p:attrNameLst>
                                          <p:attrName>ppt_y</p:attrName>
                                        </p:attrNameLst>
                                      </p:cBhvr>
                                      <p:tavLst>
                                        <p:tav tm="0">
                                          <p:val>
                                            <p:strVal val="#ppt_y+0.05"/>
                                          </p:val>
                                        </p:tav>
                                        <p:tav tm="100000">
                                          <p:val>
                                            <p:strVal val="#ppt_y"/>
                                          </p:val>
                                        </p:tav>
                                      </p:tavLst>
                                    </p:anim>
                                  </p:childTnLst>
                                </p:cTn>
                              </p:par>
                              <p:par>
                                <p:cTn id="70" presetID="42" presetClass="entr" presetSubtype="0" fill="hold" nodeType="withEffect">
                                  <p:stCondLst>
                                    <p:cond delay="1290"/>
                                  </p:stCondLst>
                                  <p:childTnLst>
                                    <p:set>
                                      <p:cBhvr>
                                        <p:cTn id="71" dur="1" fill="hold">
                                          <p:stCondLst>
                                            <p:cond delay="0"/>
                                          </p:stCondLst>
                                        </p:cTn>
                                        <p:tgtEl>
                                          <p:spTgt spid="13"/>
                                        </p:tgtEl>
                                        <p:attrNameLst>
                                          <p:attrName>style.visibility</p:attrName>
                                        </p:attrNameLst>
                                      </p:cBhvr>
                                      <p:to>
                                        <p:strVal val="visible"/>
                                      </p:to>
                                    </p:set>
                                    <p:animEffect transition="in" filter="fade">
                                      <p:cBhvr>
                                        <p:cTn id="72" dur="600"/>
                                        <p:tgtEl>
                                          <p:spTgt spid="13"/>
                                        </p:tgtEl>
                                      </p:cBhvr>
                                    </p:animEffect>
                                    <p:anim calcmode="lin" valueType="num">
                                      <p:cBhvr additive="base">
                                        <p:cTn id="73" dur="600" fill="hold"/>
                                        <p:tgtEl>
                                          <p:spTgt spid="13"/>
                                        </p:tgtEl>
                                        <p:attrNameLst>
                                          <p:attrName>ppt_y</p:attrName>
                                        </p:attrNameLst>
                                      </p:cBhvr>
                                      <p:tavLst>
                                        <p:tav tm="0">
                                          <p:val>
                                            <p:strVal val="#ppt_y+0.05"/>
                                          </p:val>
                                        </p:tav>
                                        <p:tav tm="100000">
                                          <p:val>
                                            <p:strVal val="#ppt_y"/>
                                          </p:val>
                                        </p:tav>
                                      </p:tavLst>
                                    </p:anim>
                                  </p:childTnLst>
                                </p:cTn>
                              </p:par>
                              <p:par>
                                <p:cTn id="76" presetID="42" presetClass="entr" presetSubtype="0" fill="hold" nodeType="withEffect">
                                  <p:stCondLst>
                                    <p:cond delay="1419"/>
                                  </p:stCondLst>
                                  <p:childTnLst>
                                    <p:set>
                                      <p:cBhvr>
                                        <p:cTn id="77" dur="1" fill="hold">
                                          <p:stCondLst>
                                            <p:cond delay="0"/>
                                          </p:stCondLst>
                                        </p:cTn>
                                        <p:tgtEl>
                                          <p:spTgt spid="14"/>
                                        </p:tgtEl>
                                        <p:attrNameLst>
                                          <p:attrName>style.visibility</p:attrName>
                                        </p:attrNameLst>
                                      </p:cBhvr>
                                      <p:to>
                                        <p:strVal val="visible"/>
                                      </p:to>
                                    </p:set>
                                    <p:animEffect transition="in" filter="fade">
                                      <p:cBhvr>
                                        <p:cTn id="78" dur="600"/>
                                        <p:tgtEl>
                                          <p:spTgt spid="14"/>
                                        </p:tgtEl>
                                      </p:cBhvr>
                                    </p:animEffect>
                                    <p:anim calcmode="lin" valueType="num">
                                      <p:cBhvr additive="base">
                                        <p:cTn id="79" dur="600" fill="hold"/>
                                        <p:tgtEl>
                                          <p:spTgt spid="14"/>
                                        </p:tgtEl>
                                        <p:attrNameLst>
                                          <p:attrName>ppt_y</p:attrName>
                                        </p:attrNameLst>
                                      </p:cBhvr>
                                      <p:tavLst>
                                        <p:tav tm="0">
                                          <p:val>
                                            <p:strVal val="#ppt_y+0.05"/>
                                          </p:val>
                                        </p:tav>
                                        <p:tav tm="100000">
                                          <p:val>
                                            <p:strVal val="#ppt_y"/>
                                          </p:val>
                                        </p:tav>
                                      </p:tavLst>
                                    </p:anim>
                                  </p:childTnLst>
                                </p:cTn>
                              </p:par>
                              <p:par>
                                <p:cTn id="82" presetID="42" presetClass="entr" presetSubtype="0" fill="hold" nodeType="withEffect">
                                  <p:stCondLst>
                                    <p:cond delay="1548"/>
                                  </p:stCondLst>
                                  <p:childTnLst>
                                    <p:set>
                                      <p:cBhvr>
                                        <p:cTn id="83" dur="1" fill="hold">
                                          <p:stCondLst>
                                            <p:cond delay="0"/>
                                          </p:stCondLst>
                                        </p:cTn>
                                        <p:tgtEl>
                                          <p:spTgt spid="15"/>
                                        </p:tgtEl>
                                        <p:attrNameLst>
                                          <p:attrName>style.visibility</p:attrName>
                                        </p:attrNameLst>
                                      </p:cBhvr>
                                      <p:to>
                                        <p:strVal val="visible"/>
                                      </p:to>
                                    </p:set>
                                    <p:animEffect transition="in" filter="fade">
                                      <p:cBhvr>
                                        <p:cTn id="84" dur="600"/>
                                        <p:tgtEl>
                                          <p:spTgt spid="15"/>
                                        </p:tgtEl>
                                      </p:cBhvr>
                                    </p:animEffect>
                                    <p:anim calcmode="lin" valueType="num">
                                      <p:cBhvr additive="base">
                                        <p:cTn id="85" dur="600" fill="hold"/>
                                        <p:tgtEl>
                                          <p:spTgt spid="15"/>
                                        </p:tgtEl>
                                        <p:attrNameLst>
                                          <p:attrName>ppt_y</p:attrName>
                                        </p:attrNameLst>
                                      </p:cBhvr>
                                      <p:tavLst>
                                        <p:tav tm="0">
                                          <p:val>
                                            <p:strVal val="#ppt_y+0.05"/>
                                          </p:val>
                                        </p:tav>
                                        <p:tav tm="100000">
                                          <p:val>
                                            <p:strVal val="#ppt_y"/>
                                          </p:val>
                                        </p:tav>
                                      </p:tavLst>
                                    </p:anim>
                                  </p:childTnLst>
                                </p:cTn>
                              </p:par>
                              <p:par>
                                <p:cTn id="88" presetID="42" presetClass="entr" presetSubtype="0" fill="hold" nodeType="withEffect">
                                  <p:stCondLst>
                                    <p:cond delay="1677"/>
                                  </p:stCondLst>
                                  <p:childTnLst>
                                    <p:set>
                                      <p:cBhvr>
                                        <p:cTn id="89" dur="1" fill="hold">
                                          <p:stCondLst>
                                            <p:cond delay="0"/>
                                          </p:stCondLst>
                                        </p:cTn>
                                        <p:tgtEl>
                                          <p:spTgt spid="16"/>
                                        </p:tgtEl>
                                        <p:attrNameLst>
                                          <p:attrName>style.visibility</p:attrName>
                                        </p:attrNameLst>
                                      </p:cBhvr>
                                      <p:to>
                                        <p:strVal val="visible"/>
                                      </p:to>
                                    </p:set>
                                    <p:animEffect transition="in" filter="fade">
                                      <p:cBhvr>
                                        <p:cTn id="90" dur="600"/>
                                        <p:tgtEl>
                                          <p:spTgt spid="16"/>
                                        </p:tgtEl>
                                      </p:cBhvr>
                                    </p:animEffect>
                                    <p:anim calcmode="lin" valueType="num">
                                      <p:cBhvr additive="base">
                                        <p:cTn id="91" dur="600" fill="hold"/>
                                        <p:tgtEl>
                                          <p:spTgt spid="16"/>
                                        </p:tgtEl>
                                        <p:attrNameLst>
                                          <p:attrName>ppt_y</p:attrName>
                                        </p:attrNameLst>
                                      </p:cBhvr>
                                      <p:tavLst>
                                        <p:tav tm="0">
                                          <p:val>
                                            <p:strVal val="#ppt_y+0.05"/>
                                          </p:val>
                                        </p:tav>
                                        <p:tav tm="100000">
                                          <p:val>
                                            <p:strVal val="#ppt_y"/>
                                          </p:val>
                                        </p:tav>
                                      </p:tavLst>
                                    </p:anim>
                                  </p:childTnLst>
                                </p:cTn>
                              </p:par>
                              <p:par>
                                <p:cTn id="94" presetID="42" presetClass="entr" presetSubtype="0" fill="hold" nodeType="withEffect">
                                  <p:stCondLst>
                                    <p:cond delay="1806"/>
                                  </p:stCondLst>
                                  <p:childTnLst>
                                    <p:set>
                                      <p:cBhvr>
                                        <p:cTn id="95" dur="1" fill="hold">
                                          <p:stCondLst>
                                            <p:cond delay="0"/>
                                          </p:stCondLst>
                                        </p:cTn>
                                        <p:tgtEl>
                                          <p:spTgt spid="17"/>
                                        </p:tgtEl>
                                        <p:attrNameLst>
                                          <p:attrName>style.visibility</p:attrName>
                                        </p:attrNameLst>
                                      </p:cBhvr>
                                      <p:to>
                                        <p:strVal val="visible"/>
                                      </p:to>
                                    </p:set>
                                    <p:animEffect transition="in" filter="fade">
                                      <p:cBhvr>
                                        <p:cTn id="96" dur="600"/>
                                        <p:tgtEl>
                                          <p:spTgt spid="17"/>
                                        </p:tgtEl>
                                      </p:cBhvr>
                                    </p:animEffect>
                                    <p:anim calcmode="lin" valueType="num">
                                      <p:cBhvr additive="base">
                                        <p:cTn id="97" dur="600" fill="hold"/>
                                        <p:tgtEl>
                                          <p:spTgt spid="17"/>
                                        </p:tgtEl>
                                        <p:attrNameLst>
                                          <p:attrName>ppt_y</p:attrName>
                                        </p:attrNameLst>
                                      </p:cBhvr>
                                      <p:tavLst>
                                        <p:tav tm="0">
                                          <p:val>
                                            <p:strVal val="#ppt_y+0.05"/>
                                          </p:val>
                                        </p:tav>
                                        <p:tav tm="100000">
                                          <p:val>
                                            <p:strVal val="#ppt_y"/>
                                          </p:val>
                                        </p:tav>
                                      </p:tavLst>
                                    </p:anim>
                                  </p:childTnLst>
                                </p:cTn>
                              </p:par>
                              <p:par>
                                <p:cTn id="100" presetID="42" presetClass="entr" presetSubtype="0" fill="hold" nodeType="withEffect">
                                  <p:stCondLst>
                                    <p:cond delay="1935"/>
                                  </p:stCondLst>
                                  <p:childTnLst>
                                    <p:set>
                                      <p:cBhvr>
                                        <p:cTn id="101" dur="1" fill="hold">
                                          <p:stCondLst>
                                            <p:cond delay="0"/>
                                          </p:stCondLst>
                                        </p:cTn>
                                        <p:tgtEl>
                                          <p:spTgt spid="18"/>
                                        </p:tgtEl>
                                        <p:attrNameLst>
                                          <p:attrName>style.visibility</p:attrName>
                                        </p:attrNameLst>
                                      </p:cBhvr>
                                      <p:to>
                                        <p:strVal val="visible"/>
                                      </p:to>
                                    </p:set>
                                    <p:animEffect transition="in" filter="fade">
                                      <p:cBhvr>
                                        <p:cTn id="102" dur="600"/>
                                        <p:tgtEl>
                                          <p:spTgt spid="18"/>
                                        </p:tgtEl>
                                      </p:cBhvr>
                                    </p:animEffect>
                                    <p:anim calcmode="lin" valueType="num">
                                      <p:cBhvr additive="base">
                                        <p:cTn id="103" dur="600" fill="hold"/>
                                        <p:tgtEl>
                                          <p:spTgt spid="18"/>
                                        </p:tgtEl>
                                        <p:attrNameLst>
                                          <p:attrName>ppt_y</p:attrName>
                                        </p:attrNameLst>
                                      </p:cBhvr>
                                      <p:tavLst>
                                        <p:tav tm="0">
                                          <p:val>
                                            <p:strVal val="#ppt_y+0.05"/>
                                          </p:val>
                                        </p:tav>
                                        <p:tav tm="100000">
                                          <p:val>
                                            <p:strVal val="#ppt_y"/>
                                          </p:val>
                                        </p:tav>
                                      </p:tavLst>
                                    </p:anim>
                                  </p:childTnLst>
                                </p:cTn>
                              </p:par>
                              <p:par>
                                <p:cTn id="106" presetID="42" presetClass="entr" presetSubtype="0" fill="hold" nodeType="withEffect">
                                  <p:stCondLst>
                                    <p:cond delay="2064"/>
                                  </p:stCondLst>
                                  <p:childTnLst>
                                    <p:set>
                                      <p:cBhvr>
                                        <p:cTn id="107" dur="1" fill="hold">
                                          <p:stCondLst>
                                            <p:cond delay="0"/>
                                          </p:stCondLst>
                                        </p:cTn>
                                        <p:tgtEl>
                                          <p:spTgt spid="25"/>
                                        </p:tgtEl>
                                        <p:attrNameLst>
                                          <p:attrName>style.visibility</p:attrName>
                                        </p:attrNameLst>
                                      </p:cBhvr>
                                      <p:to>
                                        <p:strVal val="visible"/>
                                      </p:to>
                                    </p:set>
                                    <p:animEffect transition="in" filter="fade">
                                      <p:cBhvr>
                                        <p:cTn id="108" dur="600"/>
                                        <p:tgtEl>
                                          <p:spTgt spid="25"/>
                                        </p:tgtEl>
                                      </p:cBhvr>
                                    </p:animEffect>
                                    <p:anim calcmode="lin" valueType="num">
                                      <p:cBhvr additive="base">
                                        <p:cTn id="109" dur="600" fill="hold"/>
                                        <p:tgtEl>
                                          <p:spTgt spid="25"/>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Power BI model and DAX measures</a:t>
            </a:r>
            <a:endParaRPr lang="en-US" sz="3000" dirty="0"/>
          </a:p>
        </p:txBody>
      </p:sp>
      <p:sp>
        <p:nvSpPr>
          <p:cNvPr id="4" name="Text 1"/>
          <p:cNvSpPr txBox="1"/>
          <p:nvPr/>
        </p:nvSpPr>
        <p:spPr>
          <a:xfrm>
            <a:off x="548640" y="1325880"/>
            <a:ext cx="11091672" cy="685800"/>
          </a:xfrm>
          <a:prstGeom prst="rect">
            <a:avLst/>
          </a:prstGeom>
          <a:noFill/>
          <a:ln/>
        </p:spPr>
        <p:txBody>
          <a:bodyPr wrap="square" lIns="0" tIns="0" rIns="0" bIns="0" rtlCol="0" anchor="t"/>
          <a:lstStyle/>
          <a:p>
            <a:pPr indent="0" marL="0">
              <a:buNone/>
            </a:pPr>
            <a:r>
              <a:rPr lang="en-US" sz="1500" dirty="0">
                <a:solidFill>
                  <a:srgbClr val="5B6B7D"/>
                </a:solidFill>
                <a:latin typeface="Calibri" pitchFamily="34" charset="0"/>
                <a:ea typeface="Calibri" pitchFamily="34" charset="-122"/>
                <a:cs typeface="Calibri" pitchFamily="34" charset="-120"/>
              </a:rPr>
              <a:t>One flat table, PhoneProducts, imported from cleaned_phone_data.csv (319 rows × 31 columns). Data types were fixed in Power Query: decimal for prices and ratings, whole number for counts, True/False for flags.</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11091672" cy="914400"/>
        </p:xfrm>
        <a:graphic>
          <a:graphicData uri="http://schemas.openxmlformats.org/drawingml/2006/table">
            <a:tbl>
              <a:tblPr/>
              <a:tblGrid>
                <a:gridCol w="2651760"/>
                <a:gridCol w="5394960"/>
                <a:gridCol w="3044952"/>
              </a:tblGrid>
              <a:tr h="4572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Measure</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232F3E"/>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DAX</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232F3E"/>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Business question</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232F3E"/>
                    </a:solidFill>
                  </a:tcPr>
                </a:tc>
              </a:tr>
              <a:tr h="502920">
                <a:tc>
                  <a:txBody>
                    <a:bodyPr/>
                    <a:lstStyle/>
                    <a:p>
                      <a:pPr indent="0" marL="0">
                        <a:buNone/>
                      </a:pPr>
                      <a:r>
                        <a:rPr lang="en-US" sz="1500" b="1" dirty="0">
                          <a:solidFill>
                            <a:srgbClr val="232F3E"/>
                          </a:solidFill>
                          <a:latin typeface="Calibri" pitchFamily="34" charset="0"/>
                          <a:ea typeface="Calibri" pitchFamily="34" charset="-122"/>
                          <a:cs typeface="Calibri" pitchFamily="34" charset="-120"/>
                        </a:rPr>
                        <a:t>Total Products</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2F6"/>
                    </a:solidFill>
                  </a:tcPr>
                </a:tc>
                <a:tc>
                  <a:txBody>
                    <a:bodyPr/>
                    <a:lstStyle/>
                    <a:p>
                      <a:pPr indent="0" marL="0">
                        <a:buNone/>
                      </a:pPr>
                      <a:r>
                        <a:rPr lang="en-US" sz="1400" dirty="0">
                          <a:solidFill>
                            <a:srgbClr val="131A22"/>
                          </a:solidFill>
                          <a:latin typeface="Courier New" pitchFamily="34" charset="0"/>
                          <a:ea typeface="Courier New" pitchFamily="34" charset="-122"/>
                          <a:cs typeface="Courier New" pitchFamily="34" charset="-120"/>
                        </a:rPr>
                        <a:t>DISTINCTCOUNT(PhoneProducts[asin])</a:t>
                      </a:r>
                      <a:endParaRPr lang="en-US" sz="1400" dirty="0">
                        <a:latin typeface="Courier New" charset="0"/>
                        <a:ea typeface="Courier New" charset="0"/>
                        <a:cs typeface="Courier New"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2F6"/>
                    </a:solidFill>
                  </a:tcPr>
                </a:tc>
                <a:tc>
                  <a:txBody>
                    <a:bodyPr/>
                    <a:lstStyle/>
                    <a:p>
                      <a:pPr indent="0" marL="0">
                        <a:buNone/>
                      </a:pPr>
                      <a:r>
                        <a:rPr lang="en-US" sz="1500" dirty="0">
                          <a:solidFill>
                            <a:srgbClr val="131A22"/>
                          </a:solidFill>
                          <a:latin typeface="Calibri" pitchFamily="34" charset="0"/>
                          <a:ea typeface="Calibri" pitchFamily="34" charset="-122"/>
                          <a:cs typeface="Calibri" pitchFamily="34" charset="-120"/>
                        </a:rPr>
                        <a:t>How many unique products?</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2F6"/>
                    </a:solidFill>
                  </a:tcPr>
                </a:tc>
              </a:tr>
              <a:tr h="502920">
                <a:tc>
                  <a:txBody>
                    <a:bodyPr/>
                    <a:lstStyle/>
                    <a:p>
                      <a:pPr indent="0" marL="0">
                        <a:buNone/>
                      </a:pPr>
                      <a:r>
                        <a:rPr lang="en-US" sz="1500" b="1" dirty="0">
                          <a:solidFill>
                            <a:srgbClr val="232F3E"/>
                          </a:solidFill>
                          <a:latin typeface="Calibri" pitchFamily="34" charset="0"/>
                          <a:ea typeface="Calibri" pitchFamily="34" charset="-122"/>
                          <a:cs typeface="Calibri" pitchFamily="34" charset="-120"/>
                        </a:rPr>
                        <a:t>Average Price</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400" dirty="0">
                          <a:solidFill>
                            <a:srgbClr val="131A22"/>
                          </a:solidFill>
                          <a:latin typeface="Courier New" pitchFamily="34" charset="0"/>
                          <a:ea typeface="Courier New" pitchFamily="34" charset="-122"/>
                          <a:cs typeface="Courier New" pitchFamily="34" charset="-120"/>
                        </a:rPr>
                        <a:t>AVERAGE(PhoneProducts[product_price_num])</a:t>
                      </a:r>
                      <a:endParaRPr lang="en-US" sz="1400" dirty="0">
                        <a:latin typeface="Courier New" charset="0"/>
                        <a:ea typeface="Courier New" charset="0"/>
                        <a:cs typeface="Courier New"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rgbClr val="131A22"/>
                          </a:solidFill>
                          <a:latin typeface="Calibri" pitchFamily="34" charset="0"/>
                          <a:ea typeface="Calibri" pitchFamily="34" charset="-122"/>
                          <a:cs typeface="Calibri" pitchFamily="34" charset="-120"/>
                        </a:rPr>
                        <a:t>What does a typical listing cost?</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502920">
                <a:tc>
                  <a:txBody>
                    <a:bodyPr/>
                    <a:lstStyle/>
                    <a:p>
                      <a:pPr indent="0" marL="0">
                        <a:buNone/>
                      </a:pPr>
                      <a:r>
                        <a:rPr lang="en-US" sz="1500" b="1" dirty="0">
                          <a:solidFill>
                            <a:srgbClr val="232F3E"/>
                          </a:solidFill>
                          <a:latin typeface="Calibri" pitchFamily="34" charset="0"/>
                          <a:ea typeface="Calibri" pitchFamily="34" charset="-122"/>
                          <a:cs typeface="Calibri" pitchFamily="34" charset="-120"/>
                        </a:rPr>
                        <a:t>Average Rating</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2F6"/>
                    </a:solidFill>
                  </a:tcPr>
                </a:tc>
                <a:tc>
                  <a:txBody>
                    <a:bodyPr/>
                    <a:lstStyle/>
                    <a:p>
                      <a:pPr indent="0" marL="0">
                        <a:buNone/>
                      </a:pPr>
                      <a:r>
                        <a:rPr lang="en-US" sz="1400" dirty="0">
                          <a:solidFill>
                            <a:srgbClr val="131A22"/>
                          </a:solidFill>
                          <a:latin typeface="Courier New" pitchFamily="34" charset="0"/>
                          <a:ea typeface="Courier New" pitchFamily="34" charset="-122"/>
                          <a:cs typeface="Courier New" pitchFamily="34" charset="-120"/>
                        </a:rPr>
                        <a:t>AVERAGE(PhoneProducts[product_star_rating])</a:t>
                      </a:r>
                      <a:endParaRPr lang="en-US" sz="1400" dirty="0">
                        <a:latin typeface="Courier New" charset="0"/>
                        <a:ea typeface="Courier New" charset="0"/>
                        <a:cs typeface="Courier New"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2F6"/>
                    </a:solidFill>
                  </a:tcPr>
                </a:tc>
                <a:tc>
                  <a:txBody>
                    <a:bodyPr/>
                    <a:lstStyle/>
                    <a:p>
                      <a:pPr indent="0" marL="0">
                        <a:buNone/>
                      </a:pPr>
                      <a:r>
                        <a:rPr lang="en-US" sz="1500" dirty="0">
                          <a:solidFill>
                            <a:srgbClr val="131A22"/>
                          </a:solidFill>
                          <a:latin typeface="Calibri" pitchFamily="34" charset="0"/>
                          <a:ea typeface="Calibri" pitchFamily="34" charset="-122"/>
                          <a:cs typeface="Calibri" pitchFamily="34" charset="-120"/>
                        </a:rPr>
                        <a:t>How satisfied are customers?</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2F6"/>
                    </a:solidFill>
                  </a:tcPr>
                </a:tc>
              </a:tr>
              <a:tr h="502920">
                <a:tc>
                  <a:txBody>
                    <a:bodyPr/>
                    <a:lstStyle/>
                    <a:p>
                      <a:pPr indent="0" marL="0">
                        <a:buNone/>
                      </a:pPr>
                      <a:r>
                        <a:rPr lang="en-US" sz="1500" b="1" dirty="0">
                          <a:solidFill>
                            <a:srgbClr val="232F3E"/>
                          </a:solidFill>
                          <a:latin typeface="Calibri" pitchFamily="34" charset="0"/>
                          <a:ea typeface="Calibri" pitchFamily="34" charset="-122"/>
                          <a:cs typeface="Calibri" pitchFamily="34" charset="-120"/>
                        </a:rPr>
                        <a:t>Total Customer Ratings</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400" dirty="0">
                          <a:solidFill>
                            <a:srgbClr val="131A22"/>
                          </a:solidFill>
                          <a:latin typeface="Courier New" pitchFamily="34" charset="0"/>
                          <a:ea typeface="Courier New" pitchFamily="34" charset="-122"/>
                          <a:cs typeface="Courier New" pitchFamily="34" charset="-120"/>
                        </a:rPr>
                        <a:t>SUM(PhoneProducts[product_num_ratings])</a:t>
                      </a:r>
                      <a:endParaRPr lang="en-US" sz="1400" dirty="0">
                        <a:latin typeface="Courier New" charset="0"/>
                        <a:ea typeface="Courier New" charset="0"/>
                        <a:cs typeface="Courier New"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rgbClr val="131A22"/>
                          </a:solidFill>
                          <a:latin typeface="Calibri" pitchFamily="34" charset="0"/>
                          <a:ea typeface="Calibri" pitchFamily="34" charset="-122"/>
                          <a:cs typeface="Calibri" pitchFamily="34" charset="-120"/>
                        </a:rPr>
                        <a:t>How much feedback exists?</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640080">
                <a:tc>
                  <a:txBody>
                    <a:bodyPr/>
                    <a:lstStyle/>
                    <a:p>
                      <a:pPr indent="0" marL="0">
                        <a:buNone/>
                      </a:pPr>
                      <a:r>
                        <a:rPr lang="en-US" sz="1500" b="1" dirty="0">
                          <a:solidFill>
                            <a:srgbClr val="232F3E"/>
                          </a:solidFill>
                          <a:latin typeface="Calibri" pitchFamily="34" charset="0"/>
                          <a:ea typeface="Calibri" pitchFamily="34" charset="-122"/>
                          <a:cs typeface="Calibri" pitchFamily="34" charset="-120"/>
                        </a:rPr>
                        <a:t>Prime Products</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2F6"/>
                    </a:solidFill>
                  </a:tcPr>
                </a:tc>
                <a:tc>
                  <a:txBody>
                    <a:bodyPr/>
                    <a:lstStyle/>
                    <a:p>
                      <a:pPr indent="0" marL="0">
                        <a:buNone/>
                      </a:pPr>
                      <a:r>
                        <a:rPr lang="en-US" sz="1400" dirty="0">
                          <a:solidFill>
                            <a:srgbClr val="131A22"/>
                          </a:solidFill>
                          <a:latin typeface="Courier New" pitchFamily="34" charset="0"/>
                          <a:ea typeface="Courier New" pitchFamily="34" charset="-122"/>
                          <a:cs typeface="Courier New" pitchFamily="34" charset="-120"/>
                        </a:rPr>
                        <a:t>CALCULATE([Total Products], PhoneProducts[is_prime] = TRUE())</a:t>
                      </a:r>
                      <a:endParaRPr lang="en-US" sz="1400" dirty="0">
                        <a:latin typeface="Courier New" charset="0"/>
                        <a:ea typeface="Courier New" charset="0"/>
                        <a:cs typeface="Courier New"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2F6"/>
                    </a:solidFill>
                  </a:tcPr>
                </a:tc>
                <a:tc>
                  <a:txBody>
                    <a:bodyPr/>
                    <a:lstStyle/>
                    <a:p>
                      <a:pPr indent="0" marL="0">
                        <a:buNone/>
                      </a:pPr>
                      <a:r>
                        <a:rPr lang="en-US" sz="1500" dirty="0">
                          <a:solidFill>
                            <a:srgbClr val="131A22"/>
                          </a:solidFill>
                          <a:latin typeface="Calibri" pitchFamily="34" charset="0"/>
                          <a:ea typeface="Calibri" pitchFamily="34" charset="-122"/>
                          <a:cs typeface="Calibri" pitchFamily="34" charset="-120"/>
                        </a:rPr>
                        <a:t>How many listings are Prime?</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2F6"/>
                    </a:solidFill>
                  </a:tcPr>
                </a:tc>
              </a:tr>
              <a:tr h="640080">
                <a:tc>
                  <a:txBody>
                    <a:bodyPr/>
                    <a:lstStyle/>
                    <a:p>
                      <a:pPr indent="0" marL="0">
                        <a:buNone/>
                      </a:pPr>
                      <a:r>
                        <a:rPr lang="en-US" sz="1500" b="1" dirty="0">
                          <a:solidFill>
                            <a:srgbClr val="232F3E"/>
                          </a:solidFill>
                          <a:latin typeface="Calibri" pitchFamily="34" charset="0"/>
                          <a:ea typeface="Calibri" pitchFamily="34" charset="-122"/>
                          <a:cs typeface="Calibri" pitchFamily="34" charset="-120"/>
                        </a:rPr>
                        <a:t>Best Seller Products</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400" dirty="0">
                          <a:solidFill>
                            <a:srgbClr val="131A22"/>
                          </a:solidFill>
                          <a:latin typeface="Courier New" pitchFamily="34" charset="0"/>
                          <a:ea typeface="Courier New" pitchFamily="34" charset="-122"/>
                          <a:cs typeface="Courier New" pitchFamily="34" charset="-120"/>
                        </a:rPr>
                        <a:t>CALCULATE([Total Products], PhoneProducts[is_best_seller] = TRUE())</a:t>
                      </a:r>
                      <a:endParaRPr lang="en-US" sz="1400" dirty="0">
                        <a:latin typeface="Courier New" charset="0"/>
                        <a:ea typeface="Courier New" charset="0"/>
                        <a:cs typeface="Courier New"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rgbClr val="131A22"/>
                          </a:solidFill>
                          <a:latin typeface="Calibri" pitchFamily="34" charset="0"/>
                          <a:ea typeface="Calibri" pitchFamily="34" charset="-122"/>
                          <a:cs typeface="Calibri" pitchFamily="34" charset="-120"/>
                        </a:rPr>
                        <a:t>How many carry the badge?</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42"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600"/>
                                        <p:tgtEl>
                                          <p:spTgt spid="2"/>
                                        </p:tgtEl>
                                      </p:cBhvr>
                                    </p:animEffect>
                                    <p:anim calcmode="lin" valueType="num">
                                      <p:cBhvr additive="base">
                                        <p:cTn id="13" dur="600" fill="hold"/>
                                        <p:tgtEl>
                                          <p:spTgt spid="2"/>
                                        </p:tgtEl>
                                        <p:attrNameLst>
                                          <p:attrName>ppt_y</p:attrName>
                                        </p:attrNameLst>
                                      </p:cBhvr>
                                      <p:tavLst>
                                        <p:tav tm="0">
                                          <p:val>
                                            <p:strVal val="#ppt_y+0.05"/>
                                          </p:val>
                                        </p:tav>
                                        <p:tav tm="100000">
                                          <p:val>
                                            <p:strVal val="#ppt_y"/>
                                          </p:val>
                                        </p:tav>
                                      </p:tavLst>
                                    </p:anim>
                                  </p:childTnLst>
                                </p:cTn>
                              </p:par>
                              <p:par>
                                <p:cTn id="16" presetID="42" presetClass="entr" presetSubtype="0" fill="hold" nodeType="withEffect">
                                  <p:stCondLst>
                                    <p:cond delay="13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600"/>
                                        <p:tgtEl>
                                          <p:spTgt spid="4"/>
                                        </p:tgtEl>
                                      </p:cBhvr>
                                    </p:animEffect>
                                    <p:anim calcmode="lin" valueType="num">
                                      <p:cBhvr additive="base">
                                        <p:cTn id="19" dur="600" fill="hold"/>
                                        <p:tgtEl>
                                          <p:spTgt spid="4"/>
                                        </p:tgtEl>
                                        <p:attrNameLst>
                                          <p:attrName>ppt_y</p:attrName>
                                        </p:attrNameLst>
                                      </p:cBhvr>
                                      <p:tavLst>
                                        <p:tav tm="0">
                                          <p:val>
                                            <p:strVal val="#ppt_y+0.05"/>
                                          </p:val>
                                        </p:tav>
                                        <p:tav tm="100000">
                                          <p:val>
                                            <p:strVal val="#ppt_y"/>
                                          </p:val>
                                        </p:tav>
                                      </p:tavLst>
                                    </p:anim>
                                  </p:childTnLst>
                                </p:cTn>
                              </p:par>
                              <p:par>
                                <p:cTn id="22" presetID="42" presetClass="entr" presetSubtype="0" fill="hold" nodeType="withEffect">
                                  <p:stCondLst>
                                    <p:cond delay="26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600"/>
                                        <p:tgtEl>
                                          <p:spTgt spid="11"/>
                                        </p:tgtEl>
                                      </p:cBhvr>
                                    </p:animEffect>
                                    <p:anim calcmode="lin" valueType="num">
                                      <p:cBhvr additive="base">
                                        <p:cTn id="25" dur="600" fill="hold"/>
                                        <p:tgtEl>
                                          <p:spTgt spid="11"/>
                                        </p:tgtEl>
                                        <p:attrNameLst>
                                          <p:attrName>ppt_y</p:attrName>
                                        </p:attrNameLst>
                                      </p:cBhvr>
                                      <p:tavLst>
                                        <p:tav tm="0">
                                          <p:val>
                                            <p:strVal val="#ppt_y+0.05"/>
                                          </p:val>
                                        </p:tav>
                                        <p:tav tm="100000">
                                          <p:val>
                                            <p:strVal val="#ppt_y"/>
                                          </p:val>
                                        </p:tav>
                                      </p:tavLst>
                                    </p:anim>
                                  </p:childTnLst>
                                </p:cTn>
                              </p:par>
                              <p:par>
                                <p:cTn id="28" presetID="42" presetClass="entr" presetSubtype="0" fill="hold" nodeType="withEffect">
                                  <p:stCondLst>
                                    <p:cond delay="390"/>
                                  </p:stCondLst>
                                  <p:childTnLst>
                                    <p:set>
                                      <p:cBhvr>
                                        <p:cTn id="29" dur="1" fill="hold">
                                          <p:stCondLst>
                                            <p:cond delay="0"/>
                                          </p:stCondLst>
                                        </p:cTn>
                                        <p:tgtEl>
                                          <p:spTgt spid="25"/>
                                        </p:tgtEl>
                                        <p:attrNameLst>
                                          <p:attrName>style.visibility</p:attrName>
                                        </p:attrNameLst>
                                      </p:cBhvr>
                                      <p:to>
                                        <p:strVal val="visible"/>
                                      </p:to>
                                    </p:set>
                                    <p:animEffect transition="in" filter="fade">
                                      <p:cBhvr>
                                        <p:cTn id="30" dur="600"/>
                                        <p:tgtEl>
                                          <p:spTgt spid="25"/>
                                        </p:tgtEl>
                                      </p:cBhvr>
                                    </p:animEffect>
                                    <p:anim calcmode="lin" valueType="num">
                                      <p:cBhvr additive="base">
                                        <p:cTn id="31" dur="600" fill="hold"/>
                                        <p:tgtEl>
                                          <p:spTgt spid="25"/>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Dashboard explanation: three pages, three questions</a:t>
            </a:r>
            <a:endParaRPr lang="en-US" sz="3000" dirty="0"/>
          </a:p>
        </p:txBody>
      </p:sp>
      <p:sp>
        <p:nvSpPr>
          <p:cNvPr id="4" name="page card"/>
          <p:cNvSpPr/>
          <p:nvPr/>
        </p:nvSpPr>
        <p:spPr>
          <a:xfrm>
            <a:off x="548640" y="1417320"/>
            <a:ext cx="3593592" cy="4663440"/>
          </a:xfrm>
          <a:prstGeom prst="roundRect">
            <a:avLst>
              <a:gd name="adj" fmla="val 3053"/>
            </a:avLst>
          </a:prstGeom>
          <a:solidFill>
            <a:srgbClr val="EEF2F6"/>
          </a:solidFill>
          <a:ln w="12700">
            <a:solidFill>
              <a:srgbClr val="EEF2F6"/>
            </a:solidFill>
            <a:prstDash val="solid"/>
          </a:ln>
        </p:spPr>
      </p:sp>
      <p:sp>
        <p:nvSpPr>
          <p:cNvPr id="5" name="number badge"/>
          <p:cNvSpPr/>
          <p:nvPr/>
        </p:nvSpPr>
        <p:spPr>
          <a:xfrm>
            <a:off x="777240" y="1627632"/>
            <a:ext cx="438912" cy="438912"/>
          </a:xfrm>
          <a:prstGeom prst="ellipse">
            <a:avLst/>
          </a:prstGeom>
          <a:solidFill>
            <a:srgbClr val="FF9900"/>
          </a:solidFill>
          <a:ln w="12700">
            <a:solidFill>
              <a:srgbClr val="FF9900"/>
            </a:solidFill>
            <a:prstDash val="solid"/>
          </a:ln>
        </p:spPr>
      </p:sp>
      <p:sp>
        <p:nvSpPr>
          <p:cNvPr id="6" name="Text 3"/>
          <p:cNvSpPr txBox="1"/>
          <p:nvPr/>
        </p:nvSpPr>
        <p:spPr>
          <a:xfrm>
            <a:off x="777240" y="1627632"/>
            <a:ext cx="438912" cy="438912"/>
          </a:xfrm>
          <a:prstGeom prst="rect">
            <a:avLst/>
          </a:prstGeom>
          <a:noFill/>
          <a:ln/>
        </p:spPr>
        <p:txBody>
          <a:bodyPr wrap="square" lIns="0" tIns="0" rIns="0" bIns="0" rtlCol="0" anchor="ctr"/>
          <a:lstStyle/>
          <a:p>
            <a:pPr algn="ctr" indent="0" marL="0">
              <a:buNone/>
            </a:pPr>
            <a:r>
              <a:rPr lang="en-US" sz="1600" b="1" dirty="0">
                <a:solidFill>
                  <a:srgbClr val="131A22"/>
                </a:solidFill>
                <a:latin typeface="Calibri" pitchFamily="34" charset="0"/>
                <a:ea typeface="Calibri" pitchFamily="34" charset="-122"/>
                <a:cs typeface="Calibri" pitchFamily="34" charset="-120"/>
              </a:rPr>
              <a:t>1</a:t>
            </a:r>
            <a:endParaRPr lang="en-US" sz="1600" dirty="0"/>
          </a:p>
        </p:txBody>
      </p:sp>
      <p:sp>
        <p:nvSpPr>
          <p:cNvPr id="7" name="Text 4"/>
          <p:cNvSpPr txBox="1"/>
          <p:nvPr/>
        </p:nvSpPr>
        <p:spPr>
          <a:xfrm>
            <a:off x="1371600" y="1627632"/>
            <a:ext cx="2651760" cy="438912"/>
          </a:xfrm>
          <a:prstGeom prst="rect">
            <a:avLst/>
          </a:prstGeom>
          <a:noFill/>
          <a:ln/>
        </p:spPr>
        <p:txBody>
          <a:bodyPr wrap="square" lIns="0" tIns="0" rIns="0" bIns="0" rtlCol="0" anchor="ctr"/>
          <a:lstStyle/>
          <a:p>
            <a:pPr indent="0" marL="0">
              <a:buNone/>
            </a:pPr>
            <a:r>
              <a:rPr lang="en-US" sz="1900" b="1" dirty="0">
                <a:solidFill>
                  <a:srgbClr val="232F3E"/>
                </a:solidFill>
                <a:latin typeface="Cambria" pitchFamily="34" charset="0"/>
                <a:ea typeface="Cambria" pitchFamily="34" charset="-122"/>
                <a:cs typeface="Cambria" pitchFamily="34" charset="-120"/>
              </a:rPr>
              <a:t>Executive Overview</a:t>
            </a:r>
            <a:endParaRPr lang="en-US" sz="1900" dirty="0"/>
          </a:p>
        </p:txBody>
      </p:sp>
      <p:sp>
        <p:nvSpPr>
          <p:cNvPr id="8" name="Text 5"/>
          <p:cNvSpPr txBox="1"/>
          <p:nvPr/>
        </p:nvSpPr>
        <p:spPr>
          <a:xfrm>
            <a:off x="777240" y="2240280"/>
            <a:ext cx="3154680" cy="594360"/>
          </a:xfrm>
          <a:prstGeom prst="rect">
            <a:avLst/>
          </a:prstGeom>
          <a:noFill/>
          <a:ln/>
        </p:spPr>
        <p:txBody>
          <a:bodyPr wrap="square" lIns="0" tIns="0" rIns="0" bIns="0" rtlCol="0" anchor="t"/>
          <a:lstStyle/>
          <a:p>
            <a:pPr indent="0" marL="0">
              <a:buNone/>
            </a:pPr>
            <a:r>
              <a:rPr lang="en-US" sz="1500" b="1" i="1" dirty="0">
                <a:solidFill>
                  <a:srgbClr val="1B8A9A"/>
                </a:solidFill>
                <a:latin typeface="Calibri" pitchFamily="34" charset="0"/>
                <a:ea typeface="Calibri" pitchFamily="34" charset="-122"/>
                <a:cs typeface="Calibri" pitchFamily="34" charset="-120"/>
              </a:rPr>
              <a:t>What does the market look like?</a:t>
            </a:r>
            <a:endParaRPr lang="en-US" sz="1500" dirty="0"/>
          </a:p>
        </p:txBody>
      </p:sp>
      <p:sp>
        <p:nvSpPr>
          <p:cNvPr id="9" name="Text 6"/>
          <p:cNvSpPr txBox="1"/>
          <p:nvPr/>
        </p:nvSpPr>
        <p:spPr>
          <a:xfrm>
            <a:off x="777240" y="2926080"/>
            <a:ext cx="3154680" cy="30175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31A22"/>
                </a:solidFill>
                <a:latin typeface="Calibri" pitchFamily="34" charset="0"/>
                <a:ea typeface="Calibri" pitchFamily="34" charset="-122"/>
                <a:cs typeface="Calibri" pitchFamily="34" charset="-120"/>
              </a:rPr>
              <a:t>6 KPI cards: products, average price, average rating, total ratings, Prime, Best Sellers</a:t>
            </a:r>
            <a:endParaRPr lang="en-US" sz="1500" dirty="0"/>
          </a:p>
          <a:p>
            <a:pPr marL="342900" indent="-342900">
              <a:spcAft>
                <a:spcPts val="1000"/>
              </a:spcAft>
              <a:buSzPct val="100000"/>
              <a:buChar char="•"/>
            </a:pPr>
            <a:r>
              <a:rPr lang="en-US" sz="1500" dirty="0">
                <a:solidFill>
                  <a:srgbClr val="131A22"/>
                </a:solidFill>
                <a:latin typeface="Calibri" pitchFamily="34" charset="0"/>
                <a:ea typeface="Calibri" pitchFamily="34" charset="-122"/>
                <a:cs typeface="Calibri" pitchFamily="34" charset="-120"/>
              </a:rPr>
              <a:t>Products by price band</a:t>
            </a:r>
            <a:endParaRPr lang="en-US" sz="1500" dirty="0"/>
          </a:p>
          <a:p>
            <a:pPr marL="342900" indent="-342900">
              <a:spcAft>
                <a:spcPts val="1000"/>
              </a:spcAft>
              <a:buSzPct val="100000"/>
              <a:buChar char="•"/>
            </a:pPr>
            <a:r>
              <a:rPr lang="en-US" sz="1500" dirty="0">
                <a:solidFill>
                  <a:srgbClr val="131A22"/>
                </a:solidFill>
                <a:latin typeface="Calibri" pitchFamily="34" charset="0"/>
                <a:ea typeface="Calibri" pitchFamily="34" charset="-122"/>
                <a:cs typeface="Calibri" pitchFamily="34" charset="-120"/>
              </a:rPr>
              <a:t>Price vs rating scatter (bubble = ratings, colour = Prime)</a:t>
            </a:r>
            <a:endParaRPr lang="en-US" sz="1500" dirty="0"/>
          </a:p>
          <a:p>
            <a:pPr marL="342900" indent="-342900">
              <a:spcAft>
                <a:spcPts val="1000"/>
              </a:spcAft>
              <a:buSzPct val="100000"/>
              <a:buChar char="•"/>
            </a:pPr>
            <a:r>
              <a:rPr lang="en-US" sz="1500" dirty="0">
                <a:solidFill>
                  <a:srgbClr val="131A22"/>
                </a:solidFill>
                <a:latin typeface="Calibri" pitchFamily="34" charset="0"/>
                <a:ea typeface="Calibri" pitchFamily="34" charset="-122"/>
                <a:cs typeface="Calibri" pitchFamily="34" charset="-120"/>
              </a:rPr>
              <a:t>Prime and Best Seller bars, Top-10 most-reviewed</a:t>
            </a:r>
            <a:endParaRPr lang="en-US" sz="1500" dirty="0"/>
          </a:p>
          <a:p>
            <a:pPr marL="342900" indent="-342900">
              <a:spcAft>
                <a:spcPts val="1000"/>
              </a:spcAft>
              <a:buSzPct val="100000"/>
              <a:buChar char="•"/>
            </a:pPr>
            <a:r>
              <a:rPr lang="en-US" sz="1500" dirty="0">
                <a:solidFill>
                  <a:srgbClr val="131A22"/>
                </a:solidFill>
                <a:latin typeface="Calibri" pitchFamily="34" charset="0"/>
                <a:ea typeface="Calibri" pitchFamily="34" charset="-122"/>
                <a:cs typeface="Calibri" pitchFamily="34" charset="-120"/>
              </a:rPr>
              <a:t>5 slicers</a:t>
            </a:r>
            <a:endParaRPr lang="en-US" sz="1500" dirty="0"/>
          </a:p>
        </p:txBody>
      </p:sp>
      <p:sp>
        <p:nvSpPr>
          <p:cNvPr id="10" name="page card"/>
          <p:cNvSpPr/>
          <p:nvPr/>
        </p:nvSpPr>
        <p:spPr>
          <a:xfrm>
            <a:off x="4297680" y="1417320"/>
            <a:ext cx="3593592" cy="4663440"/>
          </a:xfrm>
          <a:prstGeom prst="roundRect">
            <a:avLst>
              <a:gd name="adj" fmla="val 3053"/>
            </a:avLst>
          </a:prstGeom>
          <a:solidFill>
            <a:srgbClr val="EEF2F6"/>
          </a:solidFill>
          <a:ln w="12700">
            <a:solidFill>
              <a:srgbClr val="EEF2F6"/>
            </a:solidFill>
            <a:prstDash val="solid"/>
          </a:ln>
        </p:spPr>
      </p:sp>
      <p:sp>
        <p:nvSpPr>
          <p:cNvPr id="11" name="number badge"/>
          <p:cNvSpPr/>
          <p:nvPr/>
        </p:nvSpPr>
        <p:spPr>
          <a:xfrm>
            <a:off x="4526280" y="1627632"/>
            <a:ext cx="438912" cy="438912"/>
          </a:xfrm>
          <a:prstGeom prst="ellipse">
            <a:avLst/>
          </a:prstGeom>
          <a:solidFill>
            <a:srgbClr val="FF9900"/>
          </a:solidFill>
          <a:ln w="12700">
            <a:solidFill>
              <a:srgbClr val="FF9900"/>
            </a:solidFill>
            <a:prstDash val="solid"/>
          </a:ln>
        </p:spPr>
      </p:sp>
      <p:sp>
        <p:nvSpPr>
          <p:cNvPr id="12" name="Text 9"/>
          <p:cNvSpPr txBox="1"/>
          <p:nvPr/>
        </p:nvSpPr>
        <p:spPr>
          <a:xfrm>
            <a:off x="4526280" y="1627632"/>
            <a:ext cx="438912" cy="438912"/>
          </a:xfrm>
          <a:prstGeom prst="rect">
            <a:avLst/>
          </a:prstGeom>
          <a:noFill/>
          <a:ln/>
        </p:spPr>
        <p:txBody>
          <a:bodyPr wrap="square" lIns="0" tIns="0" rIns="0" bIns="0" rtlCol="0" anchor="ctr"/>
          <a:lstStyle/>
          <a:p>
            <a:pPr algn="ctr" indent="0" marL="0">
              <a:buNone/>
            </a:pPr>
            <a:r>
              <a:rPr lang="en-US" sz="1600" b="1" dirty="0">
                <a:solidFill>
                  <a:srgbClr val="131A22"/>
                </a:solidFill>
                <a:latin typeface="Calibri" pitchFamily="34" charset="0"/>
                <a:ea typeface="Calibri" pitchFamily="34" charset="-122"/>
                <a:cs typeface="Calibri" pitchFamily="34" charset="-120"/>
              </a:rPr>
              <a:t>2</a:t>
            </a:r>
            <a:endParaRPr lang="en-US" sz="1600" dirty="0"/>
          </a:p>
        </p:txBody>
      </p:sp>
      <p:sp>
        <p:nvSpPr>
          <p:cNvPr id="13" name="Text 10"/>
          <p:cNvSpPr txBox="1"/>
          <p:nvPr/>
        </p:nvSpPr>
        <p:spPr>
          <a:xfrm>
            <a:off x="5120640" y="1627632"/>
            <a:ext cx="2651760" cy="438912"/>
          </a:xfrm>
          <a:prstGeom prst="rect">
            <a:avLst/>
          </a:prstGeom>
          <a:noFill/>
          <a:ln/>
        </p:spPr>
        <p:txBody>
          <a:bodyPr wrap="square" lIns="0" tIns="0" rIns="0" bIns="0" rtlCol="0" anchor="ctr"/>
          <a:lstStyle/>
          <a:p>
            <a:pPr indent="0" marL="0">
              <a:buNone/>
            </a:pPr>
            <a:r>
              <a:rPr lang="en-US" sz="1900" b="1" dirty="0">
                <a:solidFill>
                  <a:srgbClr val="232F3E"/>
                </a:solidFill>
                <a:latin typeface="Cambria" pitchFamily="34" charset="0"/>
                <a:ea typeface="Cambria" pitchFamily="34" charset="-122"/>
                <a:cs typeface="Cambria" pitchFamily="34" charset="-120"/>
              </a:rPr>
              <a:t>Product Intelligence</a:t>
            </a:r>
            <a:endParaRPr lang="en-US" sz="1900" dirty="0"/>
          </a:p>
        </p:txBody>
      </p:sp>
      <p:sp>
        <p:nvSpPr>
          <p:cNvPr id="14" name="Text 11"/>
          <p:cNvSpPr txBox="1"/>
          <p:nvPr/>
        </p:nvSpPr>
        <p:spPr>
          <a:xfrm>
            <a:off x="4526280" y="2240280"/>
            <a:ext cx="3154680" cy="594360"/>
          </a:xfrm>
          <a:prstGeom prst="rect">
            <a:avLst/>
          </a:prstGeom>
          <a:noFill/>
          <a:ln/>
        </p:spPr>
        <p:txBody>
          <a:bodyPr wrap="square" lIns="0" tIns="0" rIns="0" bIns="0" rtlCol="0" anchor="t"/>
          <a:lstStyle/>
          <a:p>
            <a:pPr indent="0" marL="0">
              <a:buNone/>
            </a:pPr>
            <a:r>
              <a:rPr lang="en-US" sz="1500" b="1" i="1" dirty="0">
                <a:solidFill>
                  <a:srgbClr val="1B8A9A"/>
                </a:solidFill>
                <a:latin typeface="Calibri" pitchFamily="34" charset="0"/>
                <a:ea typeface="Calibri" pitchFamily="34" charset="-122"/>
                <a:cs typeface="Calibri" pitchFamily="34" charset="-120"/>
              </a:rPr>
              <a:t>Which exact products stand out?</a:t>
            </a:r>
            <a:endParaRPr lang="en-US" sz="1500" dirty="0"/>
          </a:p>
        </p:txBody>
      </p:sp>
      <p:sp>
        <p:nvSpPr>
          <p:cNvPr id="15" name="Text 12"/>
          <p:cNvSpPr txBox="1"/>
          <p:nvPr/>
        </p:nvSpPr>
        <p:spPr>
          <a:xfrm>
            <a:off x="4526280" y="2926080"/>
            <a:ext cx="3154680" cy="30175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31A22"/>
                </a:solidFill>
                <a:latin typeface="Calibri" pitchFamily="34" charset="0"/>
                <a:ea typeface="Calibri" pitchFamily="34" charset="-122"/>
                <a:cs typeface="Calibri" pitchFamily="34" charset="-120"/>
              </a:rPr>
              <a:t>Detail table: title, price, rating, ratings, offers, Prime, Best Seller, discount %, coupon text</a:t>
            </a:r>
            <a:endParaRPr lang="en-US" sz="1500" dirty="0"/>
          </a:p>
          <a:p>
            <a:pPr marL="342900" indent="-342900">
              <a:spcAft>
                <a:spcPts val="1000"/>
              </a:spcAft>
              <a:buSzPct val="100000"/>
              <a:buChar char="•"/>
            </a:pPr>
            <a:r>
              <a:rPr lang="en-US" sz="1500" dirty="0">
                <a:solidFill>
                  <a:srgbClr val="131A22"/>
                </a:solidFill>
                <a:latin typeface="Calibri" pitchFamily="34" charset="0"/>
                <a:ea typeface="Calibri" pitchFamily="34" charset="-122"/>
                <a:cs typeface="Calibri" pitchFamily="34" charset="-120"/>
              </a:rPr>
              <a:t>Prime drop-down filter</a:t>
            </a:r>
            <a:endParaRPr lang="en-US" sz="1500" dirty="0"/>
          </a:p>
          <a:p>
            <a:pPr marL="342900" indent="-342900">
              <a:spcAft>
                <a:spcPts val="1000"/>
              </a:spcAft>
              <a:buSzPct val="100000"/>
              <a:buChar char="•"/>
            </a:pPr>
            <a:r>
              <a:rPr lang="en-US" sz="1500" dirty="0">
                <a:solidFill>
                  <a:srgbClr val="131A22"/>
                </a:solidFill>
                <a:latin typeface="Calibri" pitchFamily="34" charset="0"/>
                <a:ea typeface="Calibri" pitchFamily="34" charset="-122"/>
                <a:cs typeface="Calibri" pitchFamily="34" charset="-120"/>
              </a:rPr>
              <a:t>Sort any column to find outliers</a:t>
            </a:r>
            <a:endParaRPr lang="en-US" sz="1500" dirty="0"/>
          </a:p>
        </p:txBody>
      </p:sp>
      <p:sp>
        <p:nvSpPr>
          <p:cNvPr id="16" name="page card"/>
          <p:cNvSpPr/>
          <p:nvPr/>
        </p:nvSpPr>
        <p:spPr>
          <a:xfrm>
            <a:off x="8046720" y="1417320"/>
            <a:ext cx="3593592" cy="4663440"/>
          </a:xfrm>
          <a:prstGeom prst="roundRect">
            <a:avLst>
              <a:gd name="adj" fmla="val 3053"/>
            </a:avLst>
          </a:prstGeom>
          <a:solidFill>
            <a:srgbClr val="EEF2F6"/>
          </a:solidFill>
          <a:ln w="12700">
            <a:solidFill>
              <a:srgbClr val="EEF2F6"/>
            </a:solidFill>
            <a:prstDash val="solid"/>
          </a:ln>
        </p:spPr>
      </p:sp>
      <p:sp>
        <p:nvSpPr>
          <p:cNvPr id="17" name="number badge"/>
          <p:cNvSpPr/>
          <p:nvPr/>
        </p:nvSpPr>
        <p:spPr>
          <a:xfrm>
            <a:off x="8275320" y="1627632"/>
            <a:ext cx="438912" cy="438912"/>
          </a:xfrm>
          <a:prstGeom prst="ellipse">
            <a:avLst/>
          </a:prstGeom>
          <a:solidFill>
            <a:srgbClr val="FF9900"/>
          </a:solidFill>
          <a:ln w="12700">
            <a:solidFill>
              <a:srgbClr val="FF9900"/>
            </a:solidFill>
            <a:prstDash val="solid"/>
          </a:ln>
        </p:spPr>
      </p:sp>
      <p:sp>
        <p:nvSpPr>
          <p:cNvPr id="18" name="Text 15"/>
          <p:cNvSpPr txBox="1"/>
          <p:nvPr/>
        </p:nvSpPr>
        <p:spPr>
          <a:xfrm>
            <a:off x="8275320" y="1627632"/>
            <a:ext cx="438912" cy="438912"/>
          </a:xfrm>
          <a:prstGeom prst="rect">
            <a:avLst/>
          </a:prstGeom>
          <a:noFill/>
          <a:ln/>
        </p:spPr>
        <p:txBody>
          <a:bodyPr wrap="square" lIns="0" tIns="0" rIns="0" bIns="0" rtlCol="0" anchor="ctr"/>
          <a:lstStyle/>
          <a:p>
            <a:pPr algn="ctr" indent="0" marL="0">
              <a:buNone/>
            </a:pPr>
            <a:r>
              <a:rPr lang="en-US" sz="1600" b="1" dirty="0">
                <a:solidFill>
                  <a:srgbClr val="131A22"/>
                </a:solidFill>
                <a:latin typeface="Calibri" pitchFamily="34" charset="0"/>
                <a:ea typeface="Calibri" pitchFamily="34" charset="-122"/>
                <a:cs typeface="Calibri" pitchFamily="34" charset="-120"/>
              </a:rPr>
              <a:t>3</a:t>
            </a:r>
            <a:endParaRPr lang="en-US" sz="1600" dirty="0"/>
          </a:p>
        </p:txBody>
      </p:sp>
      <p:sp>
        <p:nvSpPr>
          <p:cNvPr id="19" name="Text 16"/>
          <p:cNvSpPr txBox="1"/>
          <p:nvPr/>
        </p:nvSpPr>
        <p:spPr>
          <a:xfrm>
            <a:off x="8869680" y="1627632"/>
            <a:ext cx="2651760" cy="438912"/>
          </a:xfrm>
          <a:prstGeom prst="rect">
            <a:avLst/>
          </a:prstGeom>
          <a:noFill/>
          <a:ln/>
        </p:spPr>
        <p:txBody>
          <a:bodyPr wrap="square" lIns="0" tIns="0" rIns="0" bIns="0" rtlCol="0" anchor="ctr"/>
          <a:lstStyle/>
          <a:p>
            <a:pPr indent="0" marL="0">
              <a:buNone/>
            </a:pPr>
            <a:r>
              <a:rPr lang="en-US" sz="1900" b="1" dirty="0">
                <a:solidFill>
                  <a:srgbClr val="232F3E"/>
                </a:solidFill>
                <a:latin typeface="Cambria" pitchFamily="34" charset="0"/>
                <a:ea typeface="Cambria" pitchFamily="34" charset="-122"/>
                <a:cs typeface="Cambria" pitchFamily="34" charset="-120"/>
              </a:rPr>
              <a:t>Market Insights</a:t>
            </a:r>
            <a:endParaRPr lang="en-US" sz="1900" dirty="0"/>
          </a:p>
        </p:txBody>
      </p:sp>
      <p:sp>
        <p:nvSpPr>
          <p:cNvPr id="20" name="Text 17"/>
          <p:cNvSpPr txBox="1"/>
          <p:nvPr/>
        </p:nvSpPr>
        <p:spPr>
          <a:xfrm>
            <a:off x="8275320" y="2240280"/>
            <a:ext cx="3154680" cy="594360"/>
          </a:xfrm>
          <a:prstGeom prst="rect">
            <a:avLst/>
          </a:prstGeom>
          <a:noFill/>
          <a:ln/>
        </p:spPr>
        <p:txBody>
          <a:bodyPr wrap="square" lIns="0" tIns="0" rIns="0" bIns="0" rtlCol="0" anchor="t"/>
          <a:lstStyle/>
          <a:p>
            <a:pPr indent="0" marL="0">
              <a:buNone/>
            </a:pPr>
            <a:r>
              <a:rPr lang="en-US" sz="1500" b="1" i="1" dirty="0">
                <a:solidFill>
                  <a:srgbClr val="1B8A9A"/>
                </a:solidFill>
                <a:latin typeface="Calibri" pitchFamily="34" charset="0"/>
                <a:ea typeface="Calibri" pitchFamily="34" charset="-122"/>
                <a:cs typeface="Calibri" pitchFamily="34" charset="-120"/>
              </a:rPr>
              <a:t>How do price, rating and promotions relate?</a:t>
            </a:r>
            <a:endParaRPr lang="en-US" sz="1500" dirty="0"/>
          </a:p>
        </p:txBody>
      </p:sp>
      <p:sp>
        <p:nvSpPr>
          <p:cNvPr id="21" name="Text 18"/>
          <p:cNvSpPr txBox="1"/>
          <p:nvPr/>
        </p:nvSpPr>
        <p:spPr>
          <a:xfrm>
            <a:off x="8275320" y="2926080"/>
            <a:ext cx="3154680" cy="30175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31A22"/>
                </a:solidFill>
                <a:latin typeface="Calibri" pitchFamily="34" charset="0"/>
                <a:ea typeface="Calibri" pitchFamily="34" charset="-122"/>
                <a:cs typeface="Calibri" pitchFamily="34" charset="-120"/>
              </a:rPr>
              <a:t>Product count by price band</a:t>
            </a:r>
            <a:endParaRPr lang="en-US" sz="1500" dirty="0"/>
          </a:p>
          <a:p>
            <a:pPr marL="342900" indent="-342900">
              <a:spcAft>
                <a:spcPts val="1000"/>
              </a:spcAft>
              <a:buSzPct val="100000"/>
              <a:buChar char="•"/>
            </a:pPr>
            <a:r>
              <a:rPr lang="en-US" sz="1500" dirty="0">
                <a:solidFill>
                  <a:srgbClr val="131A22"/>
                </a:solidFill>
                <a:latin typeface="Calibri" pitchFamily="34" charset="0"/>
                <a:ea typeface="Calibri" pitchFamily="34" charset="-122"/>
                <a:cs typeface="Calibri" pitchFamily="34" charset="-120"/>
              </a:rPr>
              <a:t>Rating by price band</a:t>
            </a:r>
            <a:endParaRPr lang="en-US" sz="1500" dirty="0"/>
          </a:p>
          <a:p>
            <a:pPr marL="342900" indent="-342900">
              <a:spcAft>
                <a:spcPts val="1000"/>
              </a:spcAft>
              <a:buSzPct val="100000"/>
              <a:buChar char="•"/>
            </a:pPr>
            <a:r>
              <a:rPr lang="en-US" sz="1500" dirty="0">
                <a:solidFill>
                  <a:srgbClr val="131A22"/>
                </a:solidFill>
                <a:latin typeface="Calibri" pitchFamily="34" charset="0"/>
                <a:ea typeface="Calibri" pitchFamily="34" charset="-122"/>
                <a:cs typeface="Calibri" pitchFamily="34" charset="-120"/>
              </a:rPr>
              <a:t>Discount vs no discount (donut)</a:t>
            </a:r>
            <a:endParaRPr lang="en-US" sz="1500" dirty="0"/>
          </a:p>
          <a:p>
            <a:pPr marL="342900" indent="-342900">
              <a:spcAft>
                <a:spcPts val="1000"/>
              </a:spcAft>
              <a:buSzPct val="100000"/>
              <a:buChar char="•"/>
            </a:pPr>
            <a:r>
              <a:rPr lang="en-US" sz="1500" dirty="0">
                <a:solidFill>
                  <a:srgbClr val="131A22"/>
                </a:solidFill>
                <a:latin typeface="Calibri" pitchFamily="34" charset="0"/>
                <a:ea typeface="Calibri" pitchFamily="34" charset="-122"/>
                <a:cs typeface="Calibri" pitchFamily="34" charset="-120"/>
              </a:rPr>
              <a:t>Coupon vs no coupon (donut)</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42"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600"/>
                                        <p:tgtEl>
                                          <p:spTgt spid="2"/>
                                        </p:tgtEl>
                                      </p:cBhvr>
                                    </p:animEffect>
                                    <p:anim calcmode="lin" valueType="num">
                                      <p:cBhvr additive="base">
                                        <p:cTn id="13" dur="600" fill="hold"/>
                                        <p:tgtEl>
                                          <p:spTgt spid="2"/>
                                        </p:tgtEl>
                                        <p:attrNameLst>
                                          <p:attrName>ppt_y</p:attrName>
                                        </p:attrNameLst>
                                      </p:cBhvr>
                                      <p:tavLst>
                                        <p:tav tm="0">
                                          <p:val>
                                            <p:strVal val="#ppt_y+0.05"/>
                                          </p:val>
                                        </p:tav>
                                        <p:tav tm="100000">
                                          <p:val>
                                            <p:strVal val="#ppt_y"/>
                                          </p:val>
                                        </p:tav>
                                      </p:tavLst>
                                    </p:anim>
                                  </p:childTnLst>
                                </p:cTn>
                              </p:par>
                              <p:par>
                                <p:cTn id="16" presetID="42" presetClass="entr" presetSubtype="0" fill="hold" nodeType="withEffect">
                                  <p:stCondLst>
                                    <p:cond delay="11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600"/>
                                        <p:tgtEl>
                                          <p:spTgt spid="4"/>
                                        </p:tgtEl>
                                      </p:cBhvr>
                                    </p:animEffect>
                                    <p:anim calcmode="lin" valueType="num">
                                      <p:cBhvr additive="base">
                                        <p:cTn id="19" dur="600" fill="hold"/>
                                        <p:tgtEl>
                                          <p:spTgt spid="4"/>
                                        </p:tgtEl>
                                        <p:attrNameLst>
                                          <p:attrName>ppt_y</p:attrName>
                                        </p:attrNameLst>
                                      </p:cBhvr>
                                      <p:tavLst>
                                        <p:tav tm="0">
                                          <p:val>
                                            <p:strVal val="#ppt_y+0.05"/>
                                          </p:val>
                                        </p:tav>
                                        <p:tav tm="100000">
                                          <p:val>
                                            <p:strVal val="#ppt_y"/>
                                          </p:val>
                                        </p:tav>
                                      </p:tavLst>
                                    </p:anim>
                                  </p:childTnLst>
                                </p:cTn>
                              </p:par>
                              <p:par>
                                <p:cTn id="22" presetID="42" presetClass="entr" presetSubtype="0" fill="hold" nodeType="withEffect">
                                  <p:stCondLst>
                                    <p:cond delay="22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600"/>
                                        <p:tgtEl>
                                          <p:spTgt spid="5"/>
                                        </p:tgtEl>
                                      </p:cBhvr>
                                    </p:animEffect>
                                    <p:anim calcmode="lin" valueType="num">
                                      <p:cBhvr additive="base">
                                        <p:cTn id="25" dur="600" fill="hold"/>
                                        <p:tgtEl>
                                          <p:spTgt spid="5"/>
                                        </p:tgtEl>
                                        <p:attrNameLst>
                                          <p:attrName>ppt_y</p:attrName>
                                        </p:attrNameLst>
                                      </p:cBhvr>
                                      <p:tavLst>
                                        <p:tav tm="0">
                                          <p:val>
                                            <p:strVal val="#ppt_y+0.05"/>
                                          </p:val>
                                        </p:tav>
                                        <p:tav tm="100000">
                                          <p:val>
                                            <p:strVal val="#ppt_y"/>
                                          </p:val>
                                        </p:tav>
                                      </p:tavLst>
                                    </p:anim>
                                  </p:childTnLst>
                                </p:cTn>
                              </p:par>
                              <p:par>
                                <p:cTn id="28" presetID="42" presetClass="entr" presetSubtype="0" fill="hold" nodeType="withEffect">
                                  <p:stCondLst>
                                    <p:cond delay="33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600"/>
                                        <p:tgtEl>
                                          <p:spTgt spid="6"/>
                                        </p:tgtEl>
                                      </p:cBhvr>
                                    </p:animEffect>
                                    <p:anim calcmode="lin" valueType="num">
                                      <p:cBhvr additive="base">
                                        <p:cTn id="31" dur="600" fill="hold"/>
                                        <p:tgtEl>
                                          <p:spTgt spid="6"/>
                                        </p:tgtEl>
                                        <p:attrNameLst>
                                          <p:attrName>ppt_y</p:attrName>
                                        </p:attrNameLst>
                                      </p:cBhvr>
                                      <p:tavLst>
                                        <p:tav tm="0">
                                          <p:val>
                                            <p:strVal val="#ppt_y+0.05"/>
                                          </p:val>
                                        </p:tav>
                                        <p:tav tm="100000">
                                          <p:val>
                                            <p:strVal val="#ppt_y"/>
                                          </p:val>
                                        </p:tav>
                                      </p:tavLst>
                                    </p:anim>
                                  </p:childTnLst>
                                </p:cTn>
                              </p:par>
                              <p:par>
                                <p:cTn id="34" presetID="42" presetClass="entr" presetSubtype="0" fill="hold" nodeType="withEffect">
                                  <p:stCondLst>
                                    <p:cond delay="44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600"/>
                                        <p:tgtEl>
                                          <p:spTgt spid="7"/>
                                        </p:tgtEl>
                                      </p:cBhvr>
                                    </p:animEffect>
                                    <p:anim calcmode="lin" valueType="num">
                                      <p:cBhvr additive="base">
                                        <p:cTn id="37" dur="600" fill="hold"/>
                                        <p:tgtEl>
                                          <p:spTgt spid="7"/>
                                        </p:tgtEl>
                                        <p:attrNameLst>
                                          <p:attrName>ppt_y</p:attrName>
                                        </p:attrNameLst>
                                      </p:cBhvr>
                                      <p:tavLst>
                                        <p:tav tm="0">
                                          <p:val>
                                            <p:strVal val="#ppt_y+0.05"/>
                                          </p:val>
                                        </p:tav>
                                        <p:tav tm="100000">
                                          <p:val>
                                            <p:strVal val="#ppt_y"/>
                                          </p:val>
                                        </p:tav>
                                      </p:tavLst>
                                    </p:anim>
                                  </p:childTnLst>
                                </p:cTn>
                              </p:par>
                              <p:par>
                                <p:cTn id="40" presetID="42" presetClass="entr" presetSubtype="0" fill="hold" nodeType="withEffect">
                                  <p:stCondLst>
                                    <p:cond delay="55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600"/>
                                        <p:tgtEl>
                                          <p:spTgt spid="8"/>
                                        </p:tgtEl>
                                      </p:cBhvr>
                                    </p:animEffect>
                                    <p:anim calcmode="lin" valueType="num">
                                      <p:cBhvr additive="base">
                                        <p:cTn id="43" dur="600" fill="hold"/>
                                        <p:tgtEl>
                                          <p:spTgt spid="8"/>
                                        </p:tgtEl>
                                        <p:attrNameLst>
                                          <p:attrName>ppt_y</p:attrName>
                                        </p:attrNameLst>
                                      </p:cBhvr>
                                      <p:tavLst>
                                        <p:tav tm="0">
                                          <p:val>
                                            <p:strVal val="#ppt_y+0.05"/>
                                          </p:val>
                                        </p:tav>
                                        <p:tav tm="100000">
                                          <p:val>
                                            <p:strVal val="#ppt_y"/>
                                          </p:val>
                                        </p:tav>
                                      </p:tavLst>
                                    </p:anim>
                                  </p:childTnLst>
                                </p:cTn>
                              </p:par>
                              <p:par>
                                <p:cTn id="46" presetID="42" presetClass="entr" presetSubtype="0" fill="hold" nodeType="withEffect">
                                  <p:stCondLst>
                                    <p:cond delay="66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600"/>
                                        <p:tgtEl>
                                          <p:spTgt spid="9"/>
                                        </p:tgtEl>
                                      </p:cBhvr>
                                    </p:animEffect>
                                    <p:anim calcmode="lin" valueType="num">
                                      <p:cBhvr additive="base">
                                        <p:cTn id="49" dur="600" fill="hold"/>
                                        <p:tgtEl>
                                          <p:spTgt spid="9"/>
                                        </p:tgtEl>
                                        <p:attrNameLst>
                                          <p:attrName>ppt_y</p:attrName>
                                        </p:attrNameLst>
                                      </p:cBhvr>
                                      <p:tavLst>
                                        <p:tav tm="0">
                                          <p:val>
                                            <p:strVal val="#ppt_y+0.05"/>
                                          </p:val>
                                        </p:tav>
                                        <p:tav tm="100000">
                                          <p:val>
                                            <p:strVal val="#ppt_y"/>
                                          </p:val>
                                        </p:tav>
                                      </p:tavLst>
                                    </p:anim>
                                  </p:childTnLst>
                                </p:cTn>
                              </p:par>
                              <p:par>
                                <p:cTn id="52" presetID="42" presetClass="entr" presetSubtype="0" fill="hold" nodeType="withEffect">
                                  <p:stCondLst>
                                    <p:cond delay="770"/>
                                  </p:stCondLst>
                                  <p:childTnLst>
                                    <p:set>
                                      <p:cBhvr>
                                        <p:cTn id="53" dur="1" fill="hold">
                                          <p:stCondLst>
                                            <p:cond delay="0"/>
                                          </p:stCondLst>
                                        </p:cTn>
                                        <p:tgtEl>
                                          <p:spTgt spid="10"/>
                                        </p:tgtEl>
                                        <p:attrNameLst>
                                          <p:attrName>style.visibility</p:attrName>
                                        </p:attrNameLst>
                                      </p:cBhvr>
                                      <p:to>
                                        <p:strVal val="visible"/>
                                      </p:to>
                                    </p:set>
                                    <p:animEffect transition="in" filter="fade">
                                      <p:cBhvr>
                                        <p:cTn id="54" dur="600"/>
                                        <p:tgtEl>
                                          <p:spTgt spid="10"/>
                                        </p:tgtEl>
                                      </p:cBhvr>
                                    </p:animEffect>
                                    <p:anim calcmode="lin" valueType="num">
                                      <p:cBhvr additive="base">
                                        <p:cTn id="55" dur="600" fill="hold"/>
                                        <p:tgtEl>
                                          <p:spTgt spid="10"/>
                                        </p:tgtEl>
                                        <p:attrNameLst>
                                          <p:attrName>ppt_y</p:attrName>
                                        </p:attrNameLst>
                                      </p:cBhvr>
                                      <p:tavLst>
                                        <p:tav tm="0">
                                          <p:val>
                                            <p:strVal val="#ppt_y+0.05"/>
                                          </p:val>
                                        </p:tav>
                                        <p:tav tm="100000">
                                          <p:val>
                                            <p:strVal val="#ppt_y"/>
                                          </p:val>
                                        </p:tav>
                                      </p:tavLst>
                                    </p:anim>
                                  </p:childTnLst>
                                </p:cTn>
                              </p:par>
                              <p:par>
                                <p:cTn id="58" presetID="42" presetClass="entr" presetSubtype="0" fill="hold" nodeType="withEffect">
                                  <p:stCondLst>
                                    <p:cond delay="880"/>
                                  </p:stCondLst>
                                  <p:childTnLst>
                                    <p:set>
                                      <p:cBhvr>
                                        <p:cTn id="59" dur="1" fill="hold">
                                          <p:stCondLst>
                                            <p:cond delay="0"/>
                                          </p:stCondLst>
                                        </p:cTn>
                                        <p:tgtEl>
                                          <p:spTgt spid="11"/>
                                        </p:tgtEl>
                                        <p:attrNameLst>
                                          <p:attrName>style.visibility</p:attrName>
                                        </p:attrNameLst>
                                      </p:cBhvr>
                                      <p:to>
                                        <p:strVal val="visible"/>
                                      </p:to>
                                    </p:set>
                                    <p:animEffect transition="in" filter="fade">
                                      <p:cBhvr>
                                        <p:cTn id="60" dur="600"/>
                                        <p:tgtEl>
                                          <p:spTgt spid="11"/>
                                        </p:tgtEl>
                                      </p:cBhvr>
                                    </p:animEffect>
                                    <p:anim calcmode="lin" valueType="num">
                                      <p:cBhvr additive="base">
                                        <p:cTn id="61" dur="600" fill="hold"/>
                                        <p:tgtEl>
                                          <p:spTgt spid="11"/>
                                        </p:tgtEl>
                                        <p:attrNameLst>
                                          <p:attrName>ppt_y</p:attrName>
                                        </p:attrNameLst>
                                      </p:cBhvr>
                                      <p:tavLst>
                                        <p:tav tm="0">
                                          <p:val>
                                            <p:strVal val="#ppt_y+0.05"/>
                                          </p:val>
                                        </p:tav>
                                        <p:tav tm="100000">
                                          <p:val>
                                            <p:strVal val="#ppt_y"/>
                                          </p:val>
                                        </p:tav>
                                      </p:tavLst>
                                    </p:anim>
                                  </p:childTnLst>
                                </p:cTn>
                              </p:par>
                              <p:par>
                                <p:cTn id="64" presetID="42" presetClass="entr" presetSubtype="0" fill="hold" nodeType="withEffect">
                                  <p:stCondLst>
                                    <p:cond delay="990"/>
                                  </p:stCondLst>
                                  <p:childTnLst>
                                    <p:set>
                                      <p:cBhvr>
                                        <p:cTn id="65" dur="1" fill="hold">
                                          <p:stCondLst>
                                            <p:cond delay="0"/>
                                          </p:stCondLst>
                                        </p:cTn>
                                        <p:tgtEl>
                                          <p:spTgt spid="12"/>
                                        </p:tgtEl>
                                        <p:attrNameLst>
                                          <p:attrName>style.visibility</p:attrName>
                                        </p:attrNameLst>
                                      </p:cBhvr>
                                      <p:to>
                                        <p:strVal val="visible"/>
                                      </p:to>
                                    </p:set>
                                    <p:animEffect transition="in" filter="fade">
                                      <p:cBhvr>
                                        <p:cTn id="66" dur="600"/>
                                        <p:tgtEl>
                                          <p:spTgt spid="12"/>
                                        </p:tgtEl>
                                      </p:cBhvr>
                                    </p:animEffect>
                                    <p:anim calcmode="lin" valueType="num">
                                      <p:cBhvr additive="base">
                                        <p:cTn id="67" dur="600" fill="hold"/>
                                        <p:tgtEl>
                                          <p:spTgt spid="12"/>
                                        </p:tgtEl>
                                        <p:attrNameLst>
                                          <p:attrName>ppt_y</p:attrName>
                                        </p:attrNameLst>
                                      </p:cBhvr>
                                      <p:tavLst>
                                        <p:tav tm="0">
                                          <p:val>
                                            <p:strVal val="#ppt_y+0.05"/>
                                          </p:val>
                                        </p:tav>
                                        <p:tav tm="100000">
                                          <p:val>
                                            <p:strVal val="#ppt_y"/>
                                          </p:val>
                                        </p:tav>
                                      </p:tavLst>
                                    </p:anim>
                                  </p:childTnLst>
                                </p:cTn>
                              </p:par>
                              <p:par>
                                <p:cTn id="70" presetID="42" presetClass="entr" presetSubtype="0" fill="hold" nodeType="withEffect">
                                  <p:stCondLst>
                                    <p:cond delay="1100"/>
                                  </p:stCondLst>
                                  <p:childTnLst>
                                    <p:set>
                                      <p:cBhvr>
                                        <p:cTn id="71" dur="1" fill="hold">
                                          <p:stCondLst>
                                            <p:cond delay="0"/>
                                          </p:stCondLst>
                                        </p:cTn>
                                        <p:tgtEl>
                                          <p:spTgt spid="13"/>
                                        </p:tgtEl>
                                        <p:attrNameLst>
                                          <p:attrName>style.visibility</p:attrName>
                                        </p:attrNameLst>
                                      </p:cBhvr>
                                      <p:to>
                                        <p:strVal val="visible"/>
                                      </p:to>
                                    </p:set>
                                    <p:animEffect transition="in" filter="fade">
                                      <p:cBhvr>
                                        <p:cTn id="72" dur="600"/>
                                        <p:tgtEl>
                                          <p:spTgt spid="13"/>
                                        </p:tgtEl>
                                      </p:cBhvr>
                                    </p:animEffect>
                                    <p:anim calcmode="lin" valueType="num">
                                      <p:cBhvr additive="base">
                                        <p:cTn id="73" dur="600" fill="hold"/>
                                        <p:tgtEl>
                                          <p:spTgt spid="13"/>
                                        </p:tgtEl>
                                        <p:attrNameLst>
                                          <p:attrName>ppt_y</p:attrName>
                                        </p:attrNameLst>
                                      </p:cBhvr>
                                      <p:tavLst>
                                        <p:tav tm="0">
                                          <p:val>
                                            <p:strVal val="#ppt_y+0.05"/>
                                          </p:val>
                                        </p:tav>
                                        <p:tav tm="100000">
                                          <p:val>
                                            <p:strVal val="#ppt_y"/>
                                          </p:val>
                                        </p:tav>
                                      </p:tavLst>
                                    </p:anim>
                                  </p:childTnLst>
                                </p:cTn>
                              </p:par>
                              <p:par>
                                <p:cTn id="76" presetID="42" presetClass="entr" presetSubtype="0" fill="hold" nodeType="withEffect">
                                  <p:stCondLst>
                                    <p:cond delay="1210"/>
                                  </p:stCondLst>
                                  <p:childTnLst>
                                    <p:set>
                                      <p:cBhvr>
                                        <p:cTn id="77" dur="1" fill="hold">
                                          <p:stCondLst>
                                            <p:cond delay="0"/>
                                          </p:stCondLst>
                                        </p:cTn>
                                        <p:tgtEl>
                                          <p:spTgt spid="14"/>
                                        </p:tgtEl>
                                        <p:attrNameLst>
                                          <p:attrName>style.visibility</p:attrName>
                                        </p:attrNameLst>
                                      </p:cBhvr>
                                      <p:to>
                                        <p:strVal val="visible"/>
                                      </p:to>
                                    </p:set>
                                    <p:animEffect transition="in" filter="fade">
                                      <p:cBhvr>
                                        <p:cTn id="78" dur="600"/>
                                        <p:tgtEl>
                                          <p:spTgt spid="14"/>
                                        </p:tgtEl>
                                      </p:cBhvr>
                                    </p:animEffect>
                                    <p:anim calcmode="lin" valueType="num">
                                      <p:cBhvr additive="base">
                                        <p:cTn id="79" dur="600" fill="hold"/>
                                        <p:tgtEl>
                                          <p:spTgt spid="14"/>
                                        </p:tgtEl>
                                        <p:attrNameLst>
                                          <p:attrName>ppt_y</p:attrName>
                                        </p:attrNameLst>
                                      </p:cBhvr>
                                      <p:tavLst>
                                        <p:tav tm="0">
                                          <p:val>
                                            <p:strVal val="#ppt_y+0.05"/>
                                          </p:val>
                                        </p:tav>
                                        <p:tav tm="100000">
                                          <p:val>
                                            <p:strVal val="#ppt_y"/>
                                          </p:val>
                                        </p:tav>
                                      </p:tavLst>
                                    </p:anim>
                                  </p:childTnLst>
                                </p:cTn>
                              </p:par>
                              <p:par>
                                <p:cTn id="82" presetID="42" presetClass="entr" presetSubtype="0" fill="hold" nodeType="withEffect">
                                  <p:stCondLst>
                                    <p:cond delay="1320"/>
                                  </p:stCondLst>
                                  <p:childTnLst>
                                    <p:set>
                                      <p:cBhvr>
                                        <p:cTn id="83" dur="1" fill="hold">
                                          <p:stCondLst>
                                            <p:cond delay="0"/>
                                          </p:stCondLst>
                                        </p:cTn>
                                        <p:tgtEl>
                                          <p:spTgt spid="15"/>
                                        </p:tgtEl>
                                        <p:attrNameLst>
                                          <p:attrName>style.visibility</p:attrName>
                                        </p:attrNameLst>
                                      </p:cBhvr>
                                      <p:to>
                                        <p:strVal val="visible"/>
                                      </p:to>
                                    </p:set>
                                    <p:animEffect transition="in" filter="fade">
                                      <p:cBhvr>
                                        <p:cTn id="84" dur="600"/>
                                        <p:tgtEl>
                                          <p:spTgt spid="15"/>
                                        </p:tgtEl>
                                      </p:cBhvr>
                                    </p:animEffect>
                                    <p:anim calcmode="lin" valueType="num">
                                      <p:cBhvr additive="base">
                                        <p:cTn id="85" dur="600" fill="hold"/>
                                        <p:tgtEl>
                                          <p:spTgt spid="15"/>
                                        </p:tgtEl>
                                        <p:attrNameLst>
                                          <p:attrName>ppt_y</p:attrName>
                                        </p:attrNameLst>
                                      </p:cBhvr>
                                      <p:tavLst>
                                        <p:tav tm="0">
                                          <p:val>
                                            <p:strVal val="#ppt_y+0.05"/>
                                          </p:val>
                                        </p:tav>
                                        <p:tav tm="100000">
                                          <p:val>
                                            <p:strVal val="#ppt_y"/>
                                          </p:val>
                                        </p:tav>
                                      </p:tavLst>
                                    </p:anim>
                                  </p:childTnLst>
                                </p:cTn>
                              </p:par>
                              <p:par>
                                <p:cTn id="88" presetID="42" presetClass="entr" presetSubtype="0" fill="hold" nodeType="withEffect">
                                  <p:stCondLst>
                                    <p:cond delay="1430"/>
                                  </p:stCondLst>
                                  <p:childTnLst>
                                    <p:set>
                                      <p:cBhvr>
                                        <p:cTn id="89" dur="1" fill="hold">
                                          <p:stCondLst>
                                            <p:cond delay="0"/>
                                          </p:stCondLst>
                                        </p:cTn>
                                        <p:tgtEl>
                                          <p:spTgt spid="16"/>
                                        </p:tgtEl>
                                        <p:attrNameLst>
                                          <p:attrName>style.visibility</p:attrName>
                                        </p:attrNameLst>
                                      </p:cBhvr>
                                      <p:to>
                                        <p:strVal val="visible"/>
                                      </p:to>
                                    </p:set>
                                    <p:animEffect transition="in" filter="fade">
                                      <p:cBhvr>
                                        <p:cTn id="90" dur="600"/>
                                        <p:tgtEl>
                                          <p:spTgt spid="16"/>
                                        </p:tgtEl>
                                      </p:cBhvr>
                                    </p:animEffect>
                                    <p:anim calcmode="lin" valueType="num">
                                      <p:cBhvr additive="base">
                                        <p:cTn id="91" dur="600" fill="hold"/>
                                        <p:tgtEl>
                                          <p:spTgt spid="16"/>
                                        </p:tgtEl>
                                        <p:attrNameLst>
                                          <p:attrName>ppt_y</p:attrName>
                                        </p:attrNameLst>
                                      </p:cBhvr>
                                      <p:tavLst>
                                        <p:tav tm="0">
                                          <p:val>
                                            <p:strVal val="#ppt_y+0.05"/>
                                          </p:val>
                                        </p:tav>
                                        <p:tav tm="100000">
                                          <p:val>
                                            <p:strVal val="#ppt_y"/>
                                          </p:val>
                                        </p:tav>
                                      </p:tavLst>
                                    </p:anim>
                                  </p:childTnLst>
                                </p:cTn>
                              </p:par>
                              <p:par>
                                <p:cTn id="94" presetID="42" presetClass="entr" presetSubtype="0" fill="hold" nodeType="withEffect">
                                  <p:stCondLst>
                                    <p:cond delay="1540"/>
                                  </p:stCondLst>
                                  <p:childTnLst>
                                    <p:set>
                                      <p:cBhvr>
                                        <p:cTn id="95" dur="1" fill="hold">
                                          <p:stCondLst>
                                            <p:cond delay="0"/>
                                          </p:stCondLst>
                                        </p:cTn>
                                        <p:tgtEl>
                                          <p:spTgt spid="17"/>
                                        </p:tgtEl>
                                        <p:attrNameLst>
                                          <p:attrName>style.visibility</p:attrName>
                                        </p:attrNameLst>
                                      </p:cBhvr>
                                      <p:to>
                                        <p:strVal val="visible"/>
                                      </p:to>
                                    </p:set>
                                    <p:animEffect transition="in" filter="fade">
                                      <p:cBhvr>
                                        <p:cTn id="96" dur="600"/>
                                        <p:tgtEl>
                                          <p:spTgt spid="17"/>
                                        </p:tgtEl>
                                      </p:cBhvr>
                                    </p:animEffect>
                                    <p:anim calcmode="lin" valueType="num">
                                      <p:cBhvr additive="base">
                                        <p:cTn id="97" dur="600" fill="hold"/>
                                        <p:tgtEl>
                                          <p:spTgt spid="17"/>
                                        </p:tgtEl>
                                        <p:attrNameLst>
                                          <p:attrName>ppt_y</p:attrName>
                                        </p:attrNameLst>
                                      </p:cBhvr>
                                      <p:tavLst>
                                        <p:tav tm="0">
                                          <p:val>
                                            <p:strVal val="#ppt_y+0.05"/>
                                          </p:val>
                                        </p:tav>
                                        <p:tav tm="100000">
                                          <p:val>
                                            <p:strVal val="#ppt_y"/>
                                          </p:val>
                                        </p:tav>
                                      </p:tavLst>
                                    </p:anim>
                                  </p:childTnLst>
                                </p:cTn>
                              </p:par>
                              <p:par>
                                <p:cTn id="100" presetID="42" presetClass="entr" presetSubtype="0" fill="hold" nodeType="withEffect">
                                  <p:stCondLst>
                                    <p:cond delay="1650"/>
                                  </p:stCondLst>
                                  <p:childTnLst>
                                    <p:set>
                                      <p:cBhvr>
                                        <p:cTn id="101" dur="1" fill="hold">
                                          <p:stCondLst>
                                            <p:cond delay="0"/>
                                          </p:stCondLst>
                                        </p:cTn>
                                        <p:tgtEl>
                                          <p:spTgt spid="18"/>
                                        </p:tgtEl>
                                        <p:attrNameLst>
                                          <p:attrName>style.visibility</p:attrName>
                                        </p:attrNameLst>
                                      </p:cBhvr>
                                      <p:to>
                                        <p:strVal val="visible"/>
                                      </p:to>
                                    </p:set>
                                    <p:animEffect transition="in" filter="fade">
                                      <p:cBhvr>
                                        <p:cTn id="102" dur="600"/>
                                        <p:tgtEl>
                                          <p:spTgt spid="18"/>
                                        </p:tgtEl>
                                      </p:cBhvr>
                                    </p:animEffect>
                                    <p:anim calcmode="lin" valueType="num">
                                      <p:cBhvr additive="base">
                                        <p:cTn id="103" dur="600" fill="hold"/>
                                        <p:tgtEl>
                                          <p:spTgt spid="18"/>
                                        </p:tgtEl>
                                        <p:attrNameLst>
                                          <p:attrName>ppt_y</p:attrName>
                                        </p:attrNameLst>
                                      </p:cBhvr>
                                      <p:tavLst>
                                        <p:tav tm="0">
                                          <p:val>
                                            <p:strVal val="#ppt_y+0.05"/>
                                          </p:val>
                                        </p:tav>
                                        <p:tav tm="100000">
                                          <p:val>
                                            <p:strVal val="#ppt_y"/>
                                          </p:val>
                                        </p:tav>
                                      </p:tavLst>
                                    </p:anim>
                                  </p:childTnLst>
                                </p:cTn>
                              </p:par>
                              <p:par>
                                <p:cTn id="106" presetID="42" presetClass="entr" presetSubtype="0" fill="hold" nodeType="withEffect">
                                  <p:stCondLst>
                                    <p:cond delay="1760"/>
                                  </p:stCondLst>
                                  <p:childTnLst>
                                    <p:set>
                                      <p:cBhvr>
                                        <p:cTn id="107" dur="1" fill="hold">
                                          <p:stCondLst>
                                            <p:cond delay="0"/>
                                          </p:stCondLst>
                                        </p:cTn>
                                        <p:tgtEl>
                                          <p:spTgt spid="19"/>
                                        </p:tgtEl>
                                        <p:attrNameLst>
                                          <p:attrName>style.visibility</p:attrName>
                                        </p:attrNameLst>
                                      </p:cBhvr>
                                      <p:to>
                                        <p:strVal val="visible"/>
                                      </p:to>
                                    </p:set>
                                    <p:animEffect transition="in" filter="fade">
                                      <p:cBhvr>
                                        <p:cTn id="108" dur="600"/>
                                        <p:tgtEl>
                                          <p:spTgt spid="19"/>
                                        </p:tgtEl>
                                      </p:cBhvr>
                                    </p:animEffect>
                                    <p:anim calcmode="lin" valueType="num">
                                      <p:cBhvr additive="base">
                                        <p:cTn id="109" dur="600" fill="hold"/>
                                        <p:tgtEl>
                                          <p:spTgt spid="19"/>
                                        </p:tgtEl>
                                        <p:attrNameLst>
                                          <p:attrName>ppt_y</p:attrName>
                                        </p:attrNameLst>
                                      </p:cBhvr>
                                      <p:tavLst>
                                        <p:tav tm="0">
                                          <p:val>
                                            <p:strVal val="#ppt_y+0.05"/>
                                          </p:val>
                                        </p:tav>
                                        <p:tav tm="100000">
                                          <p:val>
                                            <p:strVal val="#ppt_y"/>
                                          </p:val>
                                        </p:tav>
                                      </p:tavLst>
                                    </p:anim>
                                  </p:childTnLst>
                                </p:cTn>
                              </p:par>
                              <p:par>
                                <p:cTn id="112" presetID="42" presetClass="entr" presetSubtype="0" fill="hold" nodeType="withEffect">
                                  <p:stCondLst>
                                    <p:cond delay="1870"/>
                                  </p:stCondLst>
                                  <p:childTnLst>
                                    <p:set>
                                      <p:cBhvr>
                                        <p:cTn id="113" dur="1" fill="hold">
                                          <p:stCondLst>
                                            <p:cond delay="0"/>
                                          </p:stCondLst>
                                        </p:cTn>
                                        <p:tgtEl>
                                          <p:spTgt spid="20"/>
                                        </p:tgtEl>
                                        <p:attrNameLst>
                                          <p:attrName>style.visibility</p:attrName>
                                        </p:attrNameLst>
                                      </p:cBhvr>
                                      <p:to>
                                        <p:strVal val="visible"/>
                                      </p:to>
                                    </p:set>
                                    <p:animEffect transition="in" filter="fade">
                                      <p:cBhvr>
                                        <p:cTn id="114" dur="600"/>
                                        <p:tgtEl>
                                          <p:spTgt spid="20"/>
                                        </p:tgtEl>
                                      </p:cBhvr>
                                    </p:animEffect>
                                    <p:anim calcmode="lin" valueType="num">
                                      <p:cBhvr additive="base">
                                        <p:cTn id="115" dur="600" fill="hold"/>
                                        <p:tgtEl>
                                          <p:spTgt spid="20"/>
                                        </p:tgtEl>
                                        <p:attrNameLst>
                                          <p:attrName>ppt_y</p:attrName>
                                        </p:attrNameLst>
                                      </p:cBhvr>
                                      <p:tavLst>
                                        <p:tav tm="0">
                                          <p:val>
                                            <p:strVal val="#ppt_y+0.05"/>
                                          </p:val>
                                        </p:tav>
                                        <p:tav tm="100000">
                                          <p:val>
                                            <p:strVal val="#ppt_y"/>
                                          </p:val>
                                        </p:tav>
                                      </p:tavLst>
                                    </p:anim>
                                  </p:childTnLst>
                                </p:cTn>
                              </p:par>
                              <p:par>
                                <p:cTn id="118" presetID="42" presetClass="entr" presetSubtype="0" fill="hold" nodeType="withEffect">
                                  <p:stCondLst>
                                    <p:cond delay="1980"/>
                                  </p:stCondLst>
                                  <p:childTnLst>
                                    <p:set>
                                      <p:cBhvr>
                                        <p:cTn id="119" dur="1" fill="hold">
                                          <p:stCondLst>
                                            <p:cond delay="0"/>
                                          </p:stCondLst>
                                        </p:cTn>
                                        <p:tgtEl>
                                          <p:spTgt spid="21"/>
                                        </p:tgtEl>
                                        <p:attrNameLst>
                                          <p:attrName>style.visibility</p:attrName>
                                        </p:attrNameLst>
                                      </p:cBhvr>
                                      <p:to>
                                        <p:strVal val="visible"/>
                                      </p:to>
                                    </p:set>
                                    <p:animEffect transition="in" filter="fade">
                                      <p:cBhvr>
                                        <p:cTn id="120" dur="600"/>
                                        <p:tgtEl>
                                          <p:spTgt spid="21"/>
                                        </p:tgtEl>
                                      </p:cBhvr>
                                    </p:animEffect>
                                    <p:anim calcmode="lin" valueType="num">
                                      <p:cBhvr additive="base">
                                        <p:cTn id="121" dur="600" fill="hold"/>
                                        <p:tgtEl>
                                          <p:spTgt spid="21"/>
                                        </p:tgtEl>
                                        <p:attrNameLst>
                                          <p:attrName>ppt_y</p:attrName>
                                        </p:attrNameLst>
                                      </p:cBhvr>
                                      <p:tavLst>
                                        <p:tav tm="0">
                                          <p:val>
                                            <p:strVal val="#ppt_y+0.05"/>
                                          </p:val>
                                        </p:tav>
                                        <p:tav tm="100000">
                                          <p:val>
                                            <p:strVal val="#ppt_y"/>
                                          </p:val>
                                        </p:tav>
                                      </p:tavLst>
                                    </p:anim>
                                  </p:childTnLst>
                                </p:cTn>
                              </p:par>
                              <p:par>
                                <p:cTn id="124" presetID="42" presetClass="entr" presetSubtype="0" fill="hold" nodeType="withEffect">
                                  <p:stCondLst>
                                    <p:cond delay="2090"/>
                                  </p:stCondLst>
                                  <p:childTnLst>
                                    <p:set>
                                      <p:cBhvr>
                                        <p:cTn id="125" dur="1" fill="hold">
                                          <p:stCondLst>
                                            <p:cond delay="0"/>
                                          </p:stCondLst>
                                        </p:cTn>
                                        <p:tgtEl>
                                          <p:spTgt spid="25"/>
                                        </p:tgtEl>
                                        <p:attrNameLst>
                                          <p:attrName>style.visibility</p:attrName>
                                        </p:attrNameLst>
                                      </p:cBhvr>
                                      <p:to>
                                        <p:strVal val="visible"/>
                                      </p:to>
                                    </p:set>
                                    <p:animEffect transition="in" filter="fade">
                                      <p:cBhvr>
                                        <p:cTn id="126" dur="600"/>
                                        <p:tgtEl>
                                          <p:spTgt spid="25"/>
                                        </p:tgtEl>
                                      </p:cBhvr>
                                    </p:animEffect>
                                    <p:anim calcmode="lin" valueType="num">
                                      <p:cBhvr additive="base">
                                        <p:cTn id="127" dur="600" fill="hold"/>
                                        <p:tgtEl>
                                          <p:spTgt spid="25"/>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Finding 1: 86% of listings cost under $300</a:t>
            </a:r>
            <a:endParaRPr lang="en-US" sz="3000" dirty="0"/>
          </a:p>
        </p:txBody>
      </p:sp>
      <p:graphicFrame>
        <p:nvGraphicFramePr>
          <p:cNvPr id="4" name="Chart 0" descr=""/>
          <p:cNvGraphicFramePr/>
          <p:nvPr/>
        </p:nvGraphicFramePr>
        <p:xfrm>
          <a:off x="548640" y="1371600"/>
          <a:ext cx="6583680" cy="4754880"/>
        </p:xfrm>
        <a:graphic xmlns:a="http://schemas.openxmlformats.org/drawingml/2006/main">
          <a:graphicData uri="http://schemas.openxmlformats.org/drawingml/2006/chart">
            <c:chart xmlns:c="http://schemas.openxmlformats.org/drawingml/2006/chart" r:id="rId1"/>
          </a:graphicData>
        </a:graphic>
      </p:graphicFrame>
      <p:sp>
        <p:nvSpPr>
          <p:cNvPr id="5" name="stat card"/>
          <p:cNvSpPr/>
          <p:nvPr/>
        </p:nvSpPr>
        <p:spPr>
          <a:xfrm>
            <a:off x="7406640" y="1371600"/>
            <a:ext cx="4233672" cy="1325880"/>
          </a:xfrm>
          <a:prstGeom prst="roundRect">
            <a:avLst>
              <a:gd name="adj" fmla="val 8276"/>
            </a:avLst>
          </a:prstGeom>
          <a:solidFill>
            <a:srgbClr val="EEF2F6"/>
          </a:solidFill>
          <a:ln w="12700">
            <a:solidFill>
              <a:srgbClr val="EEF2F6"/>
            </a:solidFill>
            <a:prstDash val="solid"/>
          </a:ln>
        </p:spPr>
      </p:sp>
      <p:sp>
        <p:nvSpPr>
          <p:cNvPr id="6" name="Text 2"/>
          <p:cNvSpPr txBox="1"/>
          <p:nvPr/>
        </p:nvSpPr>
        <p:spPr>
          <a:xfrm>
            <a:off x="7589520" y="1481328"/>
            <a:ext cx="3867912" cy="685800"/>
          </a:xfrm>
          <a:prstGeom prst="rect">
            <a:avLst/>
          </a:prstGeom>
          <a:noFill/>
          <a:ln/>
        </p:spPr>
        <p:txBody>
          <a:bodyPr wrap="square" lIns="0" tIns="0" rIns="0" bIns="0" rtlCol="0" anchor="ctr"/>
          <a:lstStyle/>
          <a:p>
            <a:pPr indent="0" marL="0">
              <a:buNone/>
            </a:pPr>
            <a:r>
              <a:rPr lang="en-US" sz="3200" b="1" dirty="0">
                <a:solidFill>
                  <a:srgbClr val="232F3E"/>
                </a:solidFill>
                <a:latin typeface="Cambria" pitchFamily="34" charset="0"/>
                <a:ea typeface="Cambria" pitchFamily="34" charset="-122"/>
                <a:cs typeface="Cambria" pitchFamily="34" charset="-120"/>
              </a:rPr>
              <a:t>$114 vs $174</a:t>
            </a:r>
            <a:endParaRPr lang="en-US" sz="3200" dirty="0"/>
          </a:p>
        </p:txBody>
      </p:sp>
      <p:sp>
        <p:nvSpPr>
          <p:cNvPr id="7" name="Text 3"/>
          <p:cNvSpPr txBox="1"/>
          <p:nvPr/>
        </p:nvSpPr>
        <p:spPr>
          <a:xfrm>
            <a:off x="7589520" y="2176272"/>
            <a:ext cx="3867912" cy="457200"/>
          </a:xfrm>
          <a:prstGeom prst="rect">
            <a:avLst/>
          </a:prstGeom>
          <a:noFill/>
          <a:ln/>
        </p:spPr>
        <p:txBody>
          <a:bodyPr wrap="square" lIns="0" tIns="0" rIns="0" bIns="0" rtlCol="0" anchor="t"/>
          <a:lstStyle/>
          <a:p>
            <a:pPr indent="0" marL="0">
              <a:buNone/>
            </a:pPr>
            <a:r>
              <a:rPr lang="en-US" sz="1300" dirty="0">
                <a:solidFill>
                  <a:srgbClr val="5B6B7D"/>
                </a:solidFill>
                <a:latin typeface="Calibri" pitchFamily="34" charset="0"/>
                <a:ea typeface="Calibri" pitchFamily="34" charset="-122"/>
                <a:cs typeface="Calibri" pitchFamily="34" charset="-120"/>
              </a:rPr>
              <a:t>median vs mean price: a few flagships (up to $1,615) pull the mean up</a:t>
            </a:r>
            <a:endParaRPr lang="en-US" sz="1300" dirty="0"/>
          </a:p>
        </p:txBody>
      </p:sp>
      <p:sp>
        <p:nvSpPr>
          <p:cNvPr id="8" name="stat card"/>
          <p:cNvSpPr/>
          <p:nvPr/>
        </p:nvSpPr>
        <p:spPr>
          <a:xfrm>
            <a:off x="7406640" y="2880360"/>
            <a:ext cx="4233672" cy="1325880"/>
          </a:xfrm>
          <a:prstGeom prst="roundRect">
            <a:avLst>
              <a:gd name="adj" fmla="val 8276"/>
            </a:avLst>
          </a:prstGeom>
          <a:solidFill>
            <a:srgbClr val="EEF2F6"/>
          </a:solidFill>
          <a:ln w="12700">
            <a:solidFill>
              <a:srgbClr val="EEF2F6"/>
            </a:solidFill>
            <a:prstDash val="solid"/>
          </a:ln>
        </p:spPr>
      </p:sp>
      <p:sp>
        <p:nvSpPr>
          <p:cNvPr id="9" name="Text 5"/>
          <p:cNvSpPr txBox="1"/>
          <p:nvPr/>
        </p:nvSpPr>
        <p:spPr>
          <a:xfrm>
            <a:off x="7589520" y="2990088"/>
            <a:ext cx="3867912" cy="685800"/>
          </a:xfrm>
          <a:prstGeom prst="rect">
            <a:avLst/>
          </a:prstGeom>
          <a:noFill/>
          <a:ln/>
        </p:spPr>
        <p:txBody>
          <a:bodyPr wrap="square" lIns="0" tIns="0" rIns="0" bIns="0" rtlCol="0" anchor="ctr"/>
          <a:lstStyle/>
          <a:p>
            <a:pPr indent="0" marL="0">
              <a:buNone/>
            </a:pPr>
            <a:r>
              <a:rPr lang="en-US" sz="3200" b="1" dirty="0">
                <a:solidFill>
                  <a:srgbClr val="FF9900"/>
                </a:solidFill>
                <a:latin typeface="Cambria" pitchFamily="34" charset="0"/>
                <a:ea typeface="Cambria" pitchFamily="34" charset="-122"/>
                <a:cs typeface="Cambria" pitchFamily="34" charset="-120"/>
              </a:rPr>
              <a:t>4.00 → 4.32</a:t>
            </a:r>
            <a:endParaRPr lang="en-US" sz="3200" dirty="0"/>
          </a:p>
        </p:txBody>
      </p:sp>
      <p:sp>
        <p:nvSpPr>
          <p:cNvPr id="10" name="Text 6"/>
          <p:cNvSpPr txBox="1"/>
          <p:nvPr/>
        </p:nvSpPr>
        <p:spPr>
          <a:xfrm>
            <a:off x="7589520" y="3685032"/>
            <a:ext cx="3867912" cy="457200"/>
          </a:xfrm>
          <a:prstGeom prst="rect">
            <a:avLst/>
          </a:prstGeom>
          <a:noFill/>
          <a:ln/>
        </p:spPr>
        <p:txBody>
          <a:bodyPr wrap="square" lIns="0" tIns="0" rIns="0" bIns="0" rtlCol="0" anchor="t"/>
          <a:lstStyle/>
          <a:p>
            <a:pPr indent="0" marL="0">
              <a:buNone/>
            </a:pPr>
            <a:r>
              <a:rPr lang="en-US" sz="1300" dirty="0">
                <a:solidFill>
                  <a:srgbClr val="5B6B7D"/>
                </a:solidFill>
                <a:latin typeface="Calibri" pitchFamily="34" charset="0"/>
                <a:ea typeface="Calibri" pitchFamily="34" charset="-122"/>
                <a:cs typeface="Calibri" pitchFamily="34" charset="-120"/>
              </a:rPr>
              <a:t>average rating rises across price bands (&lt;$100 up to $600+)</a:t>
            </a:r>
            <a:endParaRPr lang="en-US" sz="1300" dirty="0"/>
          </a:p>
        </p:txBody>
      </p:sp>
      <p:sp>
        <p:nvSpPr>
          <p:cNvPr id="11" name="stat card"/>
          <p:cNvSpPr/>
          <p:nvPr/>
        </p:nvSpPr>
        <p:spPr>
          <a:xfrm>
            <a:off x="7406640" y="4389120"/>
            <a:ext cx="4233672" cy="1325880"/>
          </a:xfrm>
          <a:prstGeom prst="roundRect">
            <a:avLst>
              <a:gd name="adj" fmla="val 8276"/>
            </a:avLst>
          </a:prstGeom>
          <a:solidFill>
            <a:srgbClr val="EEF2F6"/>
          </a:solidFill>
          <a:ln w="12700">
            <a:solidFill>
              <a:srgbClr val="EEF2F6"/>
            </a:solidFill>
            <a:prstDash val="solid"/>
          </a:ln>
        </p:spPr>
      </p:sp>
      <p:sp>
        <p:nvSpPr>
          <p:cNvPr id="12" name="Text 8"/>
          <p:cNvSpPr txBox="1"/>
          <p:nvPr/>
        </p:nvSpPr>
        <p:spPr>
          <a:xfrm>
            <a:off x="7589520" y="4498848"/>
            <a:ext cx="3867912" cy="685800"/>
          </a:xfrm>
          <a:prstGeom prst="rect">
            <a:avLst/>
          </a:prstGeom>
          <a:noFill/>
          <a:ln/>
        </p:spPr>
        <p:txBody>
          <a:bodyPr wrap="square" lIns="0" tIns="0" rIns="0" bIns="0" rtlCol="0" anchor="ctr"/>
          <a:lstStyle/>
          <a:p>
            <a:pPr indent="0" marL="0">
              <a:buNone/>
            </a:pPr>
            <a:r>
              <a:rPr lang="en-US" sz="3200" b="1" dirty="0">
                <a:solidFill>
                  <a:srgbClr val="232F3E"/>
                </a:solidFill>
                <a:latin typeface="Cambria" pitchFamily="34" charset="0"/>
                <a:ea typeface="Cambria" pitchFamily="34" charset="-122"/>
                <a:cs typeface="Cambria" pitchFamily="34" charset="-120"/>
              </a:rPr>
              <a:t>152</a:t>
            </a:r>
            <a:endParaRPr lang="en-US" sz="3200" dirty="0"/>
          </a:p>
        </p:txBody>
      </p:sp>
      <p:sp>
        <p:nvSpPr>
          <p:cNvPr id="13" name="Text 9"/>
          <p:cNvSpPr txBox="1"/>
          <p:nvPr/>
        </p:nvSpPr>
        <p:spPr>
          <a:xfrm>
            <a:off x="7589520" y="5193792"/>
            <a:ext cx="3867912" cy="457200"/>
          </a:xfrm>
          <a:prstGeom prst="rect">
            <a:avLst/>
          </a:prstGeom>
          <a:noFill/>
          <a:ln/>
        </p:spPr>
        <p:txBody>
          <a:bodyPr wrap="square" lIns="0" tIns="0" rIns="0" bIns="0" rtlCol="0" anchor="t"/>
          <a:lstStyle/>
          <a:p>
            <a:pPr indent="0" marL="0">
              <a:buNone/>
            </a:pPr>
            <a:r>
              <a:rPr lang="en-US" sz="1300" dirty="0">
                <a:solidFill>
                  <a:srgbClr val="5B6B7D"/>
                </a:solidFill>
                <a:latin typeface="Calibri" pitchFamily="34" charset="0"/>
                <a:ea typeface="Calibri" pitchFamily="34" charset="-122"/>
                <a:cs typeface="Calibri" pitchFamily="34" charset="-120"/>
              </a:rPr>
              <a:t>listings (48%) are under $100, the biggest band</a:t>
            </a:r>
            <a:endParaRPr lang="en-US" sz="1300" dirty="0"/>
          </a:p>
        </p:txBody>
      </p:sp>
      <p:sp>
        <p:nvSpPr>
          <p:cNvPr id="14" name="Text 10"/>
          <p:cNvSpPr txBox="1"/>
          <p:nvPr/>
        </p:nvSpPr>
        <p:spPr>
          <a:xfrm>
            <a:off x="548640" y="6126480"/>
            <a:ext cx="8229600" cy="228600"/>
          </a:xfrm>
          <a:prstGeom prst="rect">
            <a:avLst/>
          </a:prstGeom>
          <a:noFill/>
          <a:ln/>
        </p:spPr>
        <p:txBody>
          <a:bodyPr wrap="square" lIns="0" tIns="0" rIns="0" bIns="0" rtlCol="0" anchor="t"/>
          <a:lstStyle/>
          <a:p>
            <a:pPr indent="0" marL="0">
              <a:buNone/>
            </a:pPr>
            <a:r>
              <a:rPr lang="en-US" sz="1100" dirty="0">
                <a:solidFill>
                  <a:srgbClr val="6B7785"/>
                </a:solidFill>
                <a:latin typeface="Calibri" pitchFamily="34" charset="0"/>
                <a:ea typeface="Calibri" pitchFamily="34" charset="-122"/>
                <a:cs typeface="Calibri" pitchFamily="34" charset="-120"/>
              </a:rPr>
              <a:t>Source: cleaned_phone_data.csv, 319 listing rows. Price missing for 4 rows.</a:t>
            </a:r>
            <a:endParaRPr lang="en-US" sz="11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42"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600"/>
                                        <p:tgtEl>
                                          <p:spTgt spid="2"/>
                                        </p:tgtEl>
                                      </p:cBhvr>
                                    </p:animEffect>
                                    <p:anim calcmode="lin" valueType="num">
                                      <p:cBhvr additive="base">
                                        <p:cTn id="13" dur="600" fill="hold"/>
                                        <p:tgtEl>
                                          <p:spTgt spid="2"/>
                                        </p:tgtEl>
                                        <p:attrNameLst>
                                          <p:attrName>ppt_y</p:attrName>
                                        </p:attrNameLst>
                                      </p:cBhvr>
                                      <p:tavLst>
                                        <p:tav tm="0">
                                          <p:val>
                                            <p:strVal val="#ppt_y+0.05"/>
                                          </p:val>
                                        </p:tav>
                                        <p:tav tm="100000">
                                          <p:val>
                                            <p:strVal val="#ppt_y"/>
                                          </p:val>
                                        </p:tav>
                                      </p:tavLst>
                                    </p:anim>
                                  </p:childTnLst>
                                </p:cTn>
                              </p:par>
                              <p:par>
                                <p:cTn id="16" presetID="42" presetClass="entr" presetSubtype="0" fill="hold" nodeType="withEffect">
                                  <p:stCondLst>
                                    <p:cond delay="13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600"/>
                                        <p:tgtEl>
                                          <p:spTgt spid="4"/>
                                        </p:tgtEl>
                                      </p:cBhvr>
                                    </p:animEffect>
                                    <p:anim calcmode="lin" valueType="num">
                                      <p:cBhvr additive="base">
                                        <p:cTn id="19" dur="600" fill="hold"/>
                                        <p:tgtEl>
                                          <p:spTgt spid="4"/>
                                        </p:tgtEl>
                                        <p:attrNameLst>
                                          <p:attrName>ppt_y</p:attrName>
                                        </p:attrNameLst>
                                      </p:cBhvr>
                                      <p:tavLst>
                                        <p:tav tm="0">
                                          <p:val>
                                            <p:strVal val="#ppt_y+0.05"/>
                                          </p:val>
                                        </p:tav>
                                        <p:tav tm="100000">
                                          <p:val>
                                            <p:strVal val="#ppt_y"/>
                                          </p:val>
                                        </p:tav>
                                      </p:tavLst>
                                    </p:anim>
                                  </p:childTnLst>
                                </p:cTn>
                              </p:par>
                              <p:par>
                                <p:cTn id="22" presetID="42" presetClass="entr" presetSubtype="0" fill="hold" nodeType="withEffect">
                                  <p:stCondLst>
                                    <p:cond delay="26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600"/>
                                        <p:tgtEl>
                                          <p:spTgt spid="5"/>
                                        </p:tgtEl>
                                      </p:cBhvr>
                                    </p:animEffect>
                                    <p:anim calcmode="lin" valueType="num">
                                      <p:cBhvr additive="base">
                                        <p:cTn id="25" dur="600" fill="hold"/>
                                        <p:tgtEl>
                                          <p:spTgt spid="5"/>
                                        </p:tgtEl>
                                        <p:attrNameLst>
                                          <p:attrName>ppt_y</p:attrName>
                                        </p:attrNameLst>
                                      </p:cBhvr>
                                      <p:tavLst>
                                        <p:tav tm="0">
                                          <p:val>
                                            <p:strVal val="#ppt_y+0.05"/>
                                          </p:val>
                                        </p:tav>
                                        <p:tav tm="100000">
                                          <p:val>
                                            <p:strVal val="#ppt_y"/>
                                          </p:val>
                                        </p:tav>
                                      </p:tavLst>
                                    </p:anim>
                                  </p:childTnLst>
                                </p:cTn>
                              </p:par>
                              <p:par>
                                <p:cTn id="28" presetID="42" presetClass="entr" presetSubtype="0" fill="hold" nodeType="withEffect">
                                  <p:stCondLst>
                                    <p:cond delay="39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600"/>
                                        <p:tgtEl>
                                          <p:spTgt spid="6"/>
                                        </p:tgtEl>
                                      </p:cBhvr>
                                    </p:animEffect>
                                    <p:anim calcmode="lin" valueType="num">
                                      <p:cBhvr additive="base">
                                        <p:cTn id="31" dur="600" fill="hold"/>
                                        <p:tgtEl>
                                          <p:spTgt spid="6"/>
                                        </p:tgtEl>
                                        <p:attrNameLst>
                                          <p:attrName>ppt_y</p:attrName>
                                        </p:attrNameLst>
                                      </p:cBhvr>
                                      <p:tavLst>
                                        <p:tav tm="0">
                                          <p:val>
                                            <p:strVal val="#ppt_y+0.05"/>
                                          </p:val>
                                        </p:tav>
                                        <p:tav tm="100000">
                                          <p:val>
                                            <p:strVal val="#ppt_y"/>
                                          </p:val>
                                        </p:tav>
                                      </p:tavLst>
                                    </p:anim>
                                  </p:childTnLst>
                                </p:cTn>
                              </p:par>
                              <p:par>
                                <p:cTn id="34" presetID="42" presetClass="entr" presetSubtype="0" fill="hold" nodeType="withEffect">
                                  <p:stCondLst>
                                    <p:cond delay="52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600"/>
                                        <p:tgtEl>
                                          <p:spTgt spid="7"/>
                                        </p:tgtEl>
                                      </p:cBhvr>
                                    </p:animEffect>
                                    <p:anim calcmode="lin" valueType="num">
                                      <p:cBhvr additive="base">
                                        <p:cTn id="37" dur="600" fill="hold"/>
                                        <p:tgtEl>
                                          <p:spTgt spid="7"/>
                                        </p:tgtEl>
                                        <p:attrNameLst>
                                          <p:attrName>ppt_y</p:attrName>
                                        </p:attrNameLst>
                                      </p:cBhvr>
                                      <p:tavLst>
                                        <p:tav tm="0">
                                          <p:val>
                                            <p:strVal val="#ppt_y+0.05"/>
                                          </p:val>
                                        </p:tav>
                                        <p:tav tm="100000">
                                          <p:val>
                                            <p:strVal val="#ppt_y"/>
                                          </p:val>
                                        </p:tav>
                                      </p:tavLst>
                                    </p:anim>
                                  </p:childTnLst>
                                </p:cTn>
                              </p:par>
                              <p:par>
                                <p:cTn id="40" presetID="42" presetClass="entr" presetSubtype="0" fill="hold" nodeType="withEffect">
                                  <p:stCondLst>
                                    <p:cond delay="65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600"/>
                                        <p:tgtEl>
                                          <p:spTgt spid="8"/>
                                        </p:tgtEl>
                                      </p:cBhvr>
                                    </p:animEffect>
                                    <p:anim calcmode="lin" valueType="num">
                                      <p:cBhvr additive="base">
                                        <p:cTn id="43" dur="600" fill="hold"/>
                                        <p:tgtEl>
                                          <p:spTgt spid="8"/>
                                        </p:tgtEl>
                                        <p:attrNameLst>
                                          <p:attrName>ppt_y</p:attrName>
                                        </p:attrNameLst>
                                      </p:cBhvr>
                                      <p:tavLst>
                                        <p:tav tm="0">
                                          <p:val>
                                            <p:strVal val="#ppt_y+0.05"/>
                                          </p:val>
                                        </p:tav>
                                        <p:tav tm="100000">
                                          <p:val>
                                            <p:strVal val="#ppt_y"/>
                                          </p:val>
                                        </p:tav>
                                      </p:tavLst>
                                    </p:anim>
                                  </p:childTnLst>
                                </p:cTn>
                              </p:par>
                              <p:par>
                                <p:cTn id="46" presetID="42" presetClass="entr" presetSubtype="0" fill="hold" nodeType="withEffect">
                                  <p:stCondLst>
                                    <p:cond delay="78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600"/>
                                        <p:tgtEl>
                                          <p:spTgt spid="9"/>
                                        </p:tgtEl>
                                      </p:cBhvr>
                                    </p:animEffect>
                                    <p:anim calcmode="lin" valueType="num">
                                      <p:cBhvr additive="base">
                                        <p:cTn id="49" dur="600" fill="hold"/>
                                        <p:tgtEl>
                                          <p:spTgt spid="9"/>
                                        </p:tgtEl>
                                        <p:attrNameLst>
                                          <p:attrName>ppt_y</p:attrName>
                                        </p:attrNameLst>
                                      </p:cBhvr>
                                      <p:tavLst>
                                        <p:tav tm="0">
                                          <p:val>
                                            <p:strVal val="#ppt_y+0.05"/>
                                          </p:val>
                                        </p:tav>
                                        <p:tav tm="100000">
                                          <p:val>
                                            <p:strVal val="#ppt_y"/>
                                          </p:val>
                                        </p:tav>
                                      </p:tavLst>
                                    </p:anim>
                                  </p:childTnLst>
                                </p:cTn>
                              </p:par>
                              <p:par>
                                <p:cTn id="52" presetID="42" presetClass="entr" presetSubtype="0" fill="hold" nodeType="withEffect">
                                  <p:stCondLst>
                                    <p:cond delay="910"/>
                                  </p:stCondLst>
                                  <p:childTnLst>
                                    <p:set>
                                      <p:cBhvr>
                                        <p:cTn id="53" dur="1" fill="hold">
                                          <p:stCondLst>
                                            <p:cond delay="0"/>
                                          </p:stCondLst>
                                        </p:cTn>
                                        <p:tgtEl>
                                          <p:spTgt spid="10"/>
                                        </p:tgtEl>
                                        <p:attrNameLst>
                                          <p:attrName>style.visibility</p:attrName>
                                        </p:attrNameLst>
                                      </p:cBhvr>
                                      <p:to>
                                        <p:strVal val="visible"/>
                                      </p:to>
                                    </p:set>
                                    <p:animEffect transition="in" filter="fade">
                                      <p:cBhvr>
                                        <p:cTn id="54" dur="600"/>
                                        <p:tgtEl>
                                          <p:spTgt spid="10"/>
                                        </p:tgtEl>
                                      </p:cBhvr>
                                    </p:animEffect>
                                    <p:anim calcmode="lin" valueType="num">
                                      <p:cBhvr additive="base">
                                        <p:cTn id="55" dur="600" fill="hold"/>
                                        <p:tgtEl>
                                          <p:spTgt spid="10"/>
                                        </p:tgtEl>
                                        <p:attrNameLst>
                                          <p:attrName>ppt_y</p:attrName>
                                        </p:attrNameLst>
                                      </p:cBhvr>
                                      <p:tavLst>
                                        <p:tav tm="0">
                                          <p:val>
                                            <p:strVal val="#ppt_y+0.05"/>
                                          </p:val>
                                        </p:tav>
                                        <p:tav tm="100000">
                                          <p:val>
                                            <p:strVal val="#ppt_y"/>
                                          </p:val>
                                        </p:tav>
                                      </p:tavLst>
                                    </p:anim>
                                  </p:childTnLst>
                                </p:cTn>
                              </p:par>
                              <p:par>
                                <p:cTn id="58" presetID="42" presetClass="entr" presetSubtype="0" fill="hold" nodeType="withEffect">
                                  <p:stCondLst>
                                    <p:cond delay="1040"/>
                                  </p:stCondLst>
                                  <p:childTnLst>
                                    <p:set>
                                      <p:cBhvr>
                                        <p:cTn id="59" dur="1" fill="hold">
                                          <p:stCondLst>
                                            <p:cond delay="0"/>
                                          </p:stCondLst>
                                        </p:cTn>
                                        <p:tgtEl>
                                          <p:spTgt spid="11"/>
                                        </p:tgtEl>
                                        <p:attrNameLst>
                                          <p:attrName>style.visibility</p:attrName>
                                        </p:attrNameLst>
                                      </p:cBhvr>
                                      <p:to>
                                        <p:strVal val="visible"/>
                                      </p:to>
                                    </p:set>
                                    <p:animEffect transition="in" filter="fade">
                                      <p:cBhvr>
                                        <p:cTn id="60" dur="600"/>
                                        <p:tgtEl>
                                          <p:spTgt spid="11"/>
                                        </p:tgtEl>
                                      </p:cBhvr>
                                    </p:animEffect>
                                    <p:anim calcmode="lin" valueType="num">
                                      <p:cBhvr additive="base">
                                        <p:cTn id="61" dur="600" fill="hold"/>
                                        <p:tgtEl>
                                          <p:spTgt spid="11"/>
                                        </p:tgtEl>
                                        <p:attrNameLst>
                                          <p:attrName>ppt_y</p:attrName>
                                        </p:attrNameLst>
                                      </p:cBhvr>
                                      <p:tavLst>
                                        <p:tav tm="0">
                                          <p:val>
                                            <p:strVal val="#ppt_y+0.05"/>
                                          </p:val>
                                        </p:tav>
                                        <p:tav tm="100000">
                                          <p:val>
                                            <p:strVal val="#ppt_y"/>
                                          </p:val>
                                        </p:tav>
                                      </p:tavLst>
                                    </p:anim>
                                  </p:childTnLst>
                                </p:cTn>
                              </p:par>
                              <p:par>
                                <p:cTn id="64" presetID="42" presetClass="entr" presetSubtype="0" fill="hold" nodeType="withEffect">
                                  <p:stCondLst>
                                    <p:cond delay="1170"/>
                                  </p:stCondLst>
                                  <p:childTnLst>
                                    <p:set>
                                      <p:cBhvr>
                                        <p:cTn id="65" dur="1" fill="hold">
                                          <p:stCondLst>
                                            <p:cond delay="0"/>
                                          </p:stCondLst>
                                        </p:cTn>
                                        <p:tgtEl>
                                          <p:spTgt spid="12"/>
                                        </p:tgtEl>
                                        <p:attrNameLst>
                                          <p:attrName>style.visibility</p:attrName>
                                        </p:attrNameLst>
                                      </p:cBhvr>
                                      <p:to>
                                        <p:strVal val="visible"/>
                                      </p:to>
                                    </p:set>
                                    <p:animEffect transition="in" filter="fade">
                                      <p:cBhvr>
                                        <p:cTn id="66" dur="600"/>
                                        <p:tgtEl>
                                          <p:spTgt spid="12"/>
                                        </p:tgtEl>
                                      </p:cBhvr>
                                    </p:animEffect>
                                    <p:anim calcmode="lin" valueType="num">
                                      <p:cBhvr additive="base">
                                        <p:cTn id="67" dur="600" fill="hold"/>
                                        <p:tgtEl>
                                          <p:spTgt spid="12"/>
                                        </p:tgtEl>
                                        <p:attrNameLst>
                                          <p:attrName>ppt_y</p:attrName>
                                        </p:attrNameLst>
                                      </p:cBhvr>
                                      <p:tavLst>
                                        <p:tav tm="0">
                                          <p:val>
                                            <p:strVal val="#ppt_y+0.05"/>
                                          </p:val>
                                        </p:tav>
                                        <p:tav tm="100000">
                                          <p:val>
                                            <p:strVal val="#ppt_y"/>
                                          </p:val>
                                        </p:tav>
                                      </p:tavLst>
                                    </p:anim>
                                  </p:childTnLst>
                                </p:cTn>
                              </p:par>
                              <p:par>
                                <p:cTn id="70" presetID="42" presetClass="entr" presetSubtype="0" fill="hold" nodeType="withEffect">
                                  <p:stCondLst>
                                    <p:cond delay="1300"/>
                                  </p:stCondLst>
                                  <p:childTnLst>
                                    <p:set>
                                      <p:cBhvr>
                                        <p:cTn id="71" dur="1" fill="hold">
                                          <p:stCondLst>
                                            <p:cond delay="0"/>
                                          </p:stCondLst>
                                        </p:cTn>
                                        <p:tgtEl>
                                          <p:spTgt spid="13"/>
                                        </p:tgtEl>
                                        <p:attrNameLst>
                                          <p:attrName>style.visibility</p:attrName>
                                        </p:attrNameLst>
                                      </p:cBhvr>
                                      <p:to>
                                        <p:strVal val="visible"/>
                                      </p:to>
                                    </p:set>
                                    <p:animEffect transition="in" filter="fade">
                                      <p:cBhvr>
                                        <p:cTn id="72" dur="600"/>
                                        <p:tgtEl>
                                          <p:spTgt spid="13"/>
                                        </p:tgtEl>
                                      </p:cBhvr>
                                    </p:animEffect>
                                    <p:anim calcmode="lin" valueType="num">
                                      <p:cBhvr additive="base">
                                        <p:cTn id="73" dur="600" fill="hold"/>
                                        <p:tgtEl>
                                          <p:spTgt spid="13"/>
                                        </p:tgtEl>
                                        <p:attrNameLst>
                                          <p:attrName>ppt_y</p:attrName>
                                        </p:attrNameLst>
                                      </p:cBhvr>
                                      <p:tavLst>
                                        <p:tav tm="0">
                                          <p:val>
                                            <p:strVal val="#ppt_y+0.05"/>
                                          </p:val>
                                        </p:tav>
                                        <p:tav tm="100000">
                                          <p:val>
                                            <p:strVal val="#ppt_y"/>
                                          </p:val>
                                        </p:tav>
                                      </p:tavLst>
                                    </p:anim>
                                  </p:childTnLst>
                                </p:cTn>
                              </p:par>
                              <p:par>
                                <p:cTn id="76" presetID="42" presetClass="entr" presetSubtype="0" fill="hold" nodeType="withEffect">
                                  <p:stCondLst>
                                    <p:cond delay="1430"/>
                                  </p:stCondLst>
                                  <p:childTnLst>
                                    <p:set>
                                      <p:cBhvr>
                                        <p:cTn id="77" dur="1" fill="hold">
                                          <p:stCondLst>
                                            <p:cond delay="0"/>
                                          </p:stCondLst>
                                        </p:cTn>
                                        <p:tgtEl>
                                          <p:spTgt spid="14"/>
                                        </p:tgtEl>
                                        <p:attrNameLst>
                                          <p:attrName>style.visibility</p:attrName>
                                        </p:attrNameLst>
                                      </p:cBhvr>
                                      <p:to>
                                        <p:strVal val="visible"/>
                                      </p:to>
                                    </p:set>
                                    <p:animEffect transition="in" filter="fade">
                                      <p:cBhvr>
                                        <p:cTn id="78" dur="600"/>
                                        <p:tgtEl>
                                          <p:spTgt spid="14"/>
                                        </p:tgtEl>
                                      </p:cBhvr>
                                    </p:animEffect>
                                    <p:anim calcmode="lin" valueType="num">
                                      <p:cBhvr additive="base">
                                        <p:cTn id="79" dur="600" fill="hold"/>
                                        <p:tgtEl>
                                          <p:spTgt spid="14"/>
                                        </p:tgtEl>
                                        <p:attrNameLst>
                                          <p:attrName>ppt_y</p:attrName>
                                        </p:attrNameLst>
                                      </p:cBhvr>
                                      <p:tavLst>
                                        <p:tav tm="0">
                                          <p:val>
                                            <p:strVal val="#ppt_y+0.05"/>
                                          </p:val>
                                        </p:tav>
                                        <p:tav tm="100000">
                                          <p:val>
                                            <p:strVal val="#ppt_y"/>
                                          </p:val>
                                        </p:tav>
                                      </p:tavLst>
                                    </p:anim>
                                  </p:childTnLst>
                                </p:cTn>
                              </p:par>
                              <p:par>
                                <p:cTn id="82" presetID="42" presetClass="entr" presetSubtype="0" fill="hold" nodeType="withEffect">
                                  <p:stCondLst>
                                    <p:cond delay="1560"/>
                                  </p:stCondLst>
                                  <p:childTnLst>
                                    <p:set>
                                      <p:cBhvr>
                                        <p:cTn id="83" dur="1" fill="hold">
                                          <p:stCondLst>
                                            <p:cond delay="0"/>
                                          </p:stCondLst>
                                        </p:cTn>
                                        <p:tgtEl>
                                          <p:spTgt spid="25"/>
                                        </p:tgtEl>
                                        <p:attrNameLst>
                                          <p:attrName>style.visibility</p:attrName>
                                        </p:attrNameLst>
                                      </p:cBhvr>
                                      <p:to>
                                        <p:strVal val="visible"/>
                                      </p:to>
                                    </p:set>
                                    <p:animEffect transition="in" filter="fade">
                                      <p:cBhvr>
                                        <p:cTn id="84" dur="600"/>
                                        <p:tgtEl>
                                          <p:spTgt spid="25"/>
                                        </p:tgtEl>
                                      </p:cBhvr>
                                    </p:animEffect>
                                    <p:anim calcmode="lin" valueType="num">
                                      <p:cBhvr additive="base">
                                        <p:cTn id="85" dur="600" fill="hold"/>
                                        <p:tgtEl>
                                          <p:spTgt spid="25"/>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Finding 2: about 1 in 4 “phone” listings is not a mobile phone</a:t>
            </a:r>
            <a:endParaRPr lang="en-US" sz="3000" dirty="0"/>
          </a:p>
        </p:txBody>
      </p:sp>
      <p:graphicFrame>
        <p:nvGraphicFramePr>
          <p:cNvPr id="4" name="Chart 0" descr=""/>
          <p:cNvGraphicFramePr/>
          <p:nvPr/>
        </p:nvGraphicFramePr>
        <p:xfrm>
          <a:off x="548640" y="1371600"/>
          <a:ext cx="5486400" cy="4754880"/>
        </p:xfrm>
        <a:graphic xmlns:a="http://schemas.openxmlformats.org/drawingml/2006/main">
          <a:graphicData uri="http://schemas.openxmlformats.org/drawingml/2006/chart">
            <c:chart xmlns:c="http://schemas.openxmlformats.org/drawingml/2006/chart" r:id="rId1"/>
          </a:graphicData>
        </a:graphic>
      </p:graphicFrame>
      <p:sp>
        <p:nvSpPr>
          <p:cNvPr id="5" name="stat card"/>
          <p:cNvSpPr/>
          <p:nvPr/>
        </p:nvSpPr>
        <p:spPr>
          <a:xfrm>
            <a:off x="6309360" y="1371600"/>
            <a:ext cx="2560320" cy="1325880"/>
          </a:xfrm>
          <a:prstGeom prst="roundRect">
            <a:avLst>
              <a:gd name="adj" fmla="val 8276"/>
            </a:avLst>
          </a:prstGeom>
          <a:solidFill>
            <a:srgbClr val="EEF2F6"/>
          </a:solidFill>
          <a:ln w="12700">
            <a:solidFill>
              <a:srgbClr val="EEF2F6"/>
            </a:solidFill>
            <a:prstDash val="solid"/>
          </a:ln>
        </p:spPr>
      </p:sp>
      <p:sp>
        <p:nvSpPr>
          <p:cNvPr id="6" name="Text 2"/>
          <p:cNvSpPr txBox="1"/>
          <p:nvPr/>
        </p:nvSpPr>
        <p:spPr>
          <a:xfrm>
            <a:off x="6492240" y="1481328"/>
            <a:ext cx="2194560" cy="685800"/>
          </a:xfrm>
          <a:prstGeom prst="rect">
            <a:avLst/>
          </a:prstGeom>
          <a:noFill/>
          <a:ln/>
        </p:spPr>
        <p:txBody>
          <a:bodyPr wrap="square" lIns="0" tIns="0" rIns="0" bIns="0" rtlCol="0" anchor="ctr"/>
          <a:lstStyle/>
          <a:p>
            <a:pPr indent="0" marL="0">
              <a:buNone/>
            </a:pPr>
            <a:r>
              <a:rPr lang="en-US" sz="3200" b="1" dirty="0">
                <a:solidFill>
                  <a:srgbClr val="D1495B"/>
                </a:solidFill>
                <a:latin typeface="Cambria" pitchFamily="34" charset="0"/>
                <a:ea typeface="Cambria" pitchFamily="34" charset="-122"/>
                <a:cs typeface="Cambria" pitchFamily="34" charset="-120"/>
              </a:rPr>
              <a:t>7 of 10</a:t>
            </a:r>
            <a:endParaRPr lang="en-US" sz="3200" dirty="0"/>
          </a:p>
        </p:txBody>
      </p:sp>
      <p:sp>
        <p:nvSpPr>
          <p:cNvPr id="7" name="Text 3"/>
          <p:cNvSpPr txBox="1"/>
          <p:nvPr/>
        </p:nvSpPr>
        <p:spPr>
          <a:xfrm>
            <a:off x="6492240" y="2176272"/>
            <a:ext cx="2194560" cy="457200"/>
          </a:xfrm>
          <a:prstGeom prst="rect">
            <a:avLst/>
          </a:prstGeom>
          <a:noFill/>
          <a:ln/>
        </p:spPr>
        <p:txBody>
          <a:bodyPr wrap="square" lIns="0" tIns="0" rIns="0" bIns="0" rtlCol="0" anchor="t"/>
          <a:lstStyle/>
          <a:p>
            <a:pPr indent="0" marL="0">
              <a:buNone/>
            </a:pPr>
            <a:r>
              <a:rPr lang="en-US" sz="1300" dirty="0">
                <a:solidFill>
                  <a:srgbClr val="5B6B7D"/>
                </a:solidFill>
                <a:latin typeface="Calibri" pitchFamily="34" charset="0"/>
                <a:ea typeface="Calibri" pitchFamily="34" charset="-122"/>
                <a:cs typeface="Calibri" pitchFamily="34" charset="-120"/>
              </a:rPr>
              <a:t>top-10 most-reviewed listings are not smartphones</a:t>
            </a:r>
            <a:endParaRPr lang="en-US" sz="1300" dirty="0"/>
          </a:p>
        </p:txBody>
      </p:sp>
      <p:sp>
        <p:nvSpPr>
          <p:cNvPr id="8" name="stat card"/>
          <p:cNvSpPr/>
          <p:nvPr/>
        </p:nvSpPr>
        <p:spPr>
          <a:xfrm>
            <a:off x="9079992" y="1371600"/>
            <a:ext cx="2560320" cy="1325880"/>
          </a:xfrm>
          <a:prstGeom prst="roundRect">
            <a:avLst>
              <a:gd name="adj" fmla="val 8276"/>
            </a:avLst>
          </a:prstGeom>
          <a:solidFill>
            <a:srgbClr val="EEF2F6"/>
          </a:solidFill>
          <a:ln w="12700">
            <a:solidFill>
              <a:srgbClr val="EEF2F6"/>
            </a:solidFill>
            <a:prstDash val="solid"/>
          </a:ln>
        </p:spPr>
      </p:sp>
      <p:sp>
        <p:nvSpPr>
          <p:cNvPr id="9" name="Text 5"/>
          <p:cNvSpPr txBox="1"/>
          <p:nvPr/>
        </p:nvSpPr>
        <p:spPr>
          <a:xfrm>
            <a:off x="9262872" y="1481328"/>
            <a:ext cx="2194560" cy="685800"/>
          </a:xfrm>
          <a:prstGeom prst="rect">
            <a:avLst/>
          </a:prstGeom>
          <a:noFill/>
          <a:ln/>
        </p:spPr>
        <p:txBody>
          <a:bodyPr wrap="square" lIns="0" tIns="0" rIns="0" bIns="0" rtlCol="0" anchor="ctr"/>
          <a:lstStyle/>
          <a:p>
            <a:pPr indent="0" marL="0">
              <a:buNone/>
            </a:pPr>
            <a:r>
              <a:rPr lang="en-US" sz="3200" b="1" dirty="0">
                <a:solidFill>
                  <a:srgbClr val="232F3E"/>
                </a:solidFill>
                <a:latin typeface="Cambria" pitchFamily="34" charset="0"/>
                <a:ea typeface="Cambria" pitchFamily="34" charset="-122"/>
                <a:cs typeface="Cambria" pitchFamily="34" charset="-120"/>
              </a:rPr>
              <a:t>23%</a:t>
            </a:r>
            <a:endParaRPr lang="en-US" sz="3200" dirty="0"/>
          </a:p>
        </p:txBody>
      </p:sp>
      <p:sp>
        <p:nvSpPr>
          <p:cNvPr id="10" name="Text 6"/>
          <p:cNvSpPr txBox="1"/>
          <p:nvPr/>
        </p:nvSpPr>
        <p:spPr>
          <a:xfrm>
            <a:off x="9262872" y="2176272"/>
            <a:ext cx="2194560" cy="457200"/>
          </a:xfrm>
          <a:prstGeom prst="rect">
            <a:avLst/>
          </a:prstGeom>
          <a:noFill/>
          <a:ln/>
        </p:spPr>
        <p:txBody>
          <a:bodyPr wrap="square" lIns="0" tIns="0" rIns="0" bIns="0" rtlCol="0" anchor="t"/>
          <a:lstStyle/>
          <a:p>
            <a:pPr indent="0" marL="0">
              <a:buNone/>
            </a:pPr>
            <a:r>
              <a:rPr lang="en-US" sz="1300" dirty="0">
                <a:solidFill>
                  <a:srgbClr val="5B6B7D"/>
                </a:solidFill>
                <a:latin typeface="Calibri" pitchFamily="34" charset="0"/>
                <a:ea typeface="Calibri" pitchFamily="34" charset="-122"/>
                <a:cs typeface="Calibri" pitchFamily="34" charset="-120"/>
              </a:rPr>
              <a:t>of listings are Renewed (74)</a:t>
            </a:r>
            <a:endParaRPr lang="en-US" sz="1300" dirty="0"/>
          </a:p>
        </p:txBody>
      </p:sp>
      <p:sp>
        <p:nvSpPr>
          <p:cNvPr id="11" name="avg price card"/>
          <p:cNvSpPr/>
          <p:nvPr/>
        </p:nvSpPr>
        <p:spPr>
          <a:xfrm>
            <a:off x="6309360" y="2880360"/>
            <a:ext cx="5330952" cy="2240280"/>
          </a:xfrm>
          <a:prstGeom prst="roundRect">
            <a:avLst>
              <a:gd name="adj" fmla="val 4898"/>
            </a:avLst>
          </a:prstGeom>
          <a:solidFill>
            <a:srgbClr val="EEF2F6"/>
          </a:solidFill>
          <a:ln w="12700">
            <a:solidFill>
              <a:srgbClr val="EEF2F6"/>
            </a:solidFill>
            <a:prstDash val="solid"/>
          </a:ln>
        </p:spPr>
      </p:sp>
      <p:sp>
        <p:nvSpPr>
          <p:cNvPr id="12" name="Text 8"/>
          <p:cNvSpPr txBox="1"/>
          <p:nvPr/>
        </p:nvSpPr>
        <p:spPr>
          <a:xfrm>
            <a:off x="6492240" y="2971800"/>
            <a:ext cx="4937760" cy="320040"/>
          </a:xfrm>
          <a:prstGeom prst="rect">
            <a:avLst/>
          </a:prstGeom>
          <a:noFill/>
          <a:ln/>
        </p:spPr>
        <p:txBody>
          <a:bodyPr wrap="square" lIns="0" tIns="0" rIns="0" bIns="0" rtlCol="0" anchor="t"/>
          <a:lstStyle/>
          <a:p>
            <a:pPr indent="0" marL="0">
              <a:buNone/>
            </a:pPr>
            <a:r>
              <a:rPr lang="en-US" sz="1500" b="1" dirty="0">
                <a:solidFill>
                  <a:srgbClr val="232F3E"/>
                </a:solidFill>
                <a:latin typeface="Calibri" pitchFamily="34" charset="0"/>
                <a:ea typeface="Calibri" pitchFamily="34" charset="-122"/>
                <a:cs typeface="Calibri" pitchFamily="34" charset="-120"/>
              </a:rPr>
              <a:t>Average price by type</a:t>
            </a:r>
            <a:endParaRPr lang="en-US" sz="1500" dirty="0"/>
          </a:p>
        </p:txBody>
      </p:sp>
      <p:sp>
        <p:nvSpPr>
          <p:cNvPr id="13" name="Text 9"/>
          <p:cNvSpPr txBox="1"/>
          <p:nvPr/>
        </p:nvSpPr>
        <p:spPr>
          <a:xfrm>
            <a:off x="6492240" y="3429000"/>
            <a:ext cx="2926080" cy="457200"/>
          </a:xfrm>
          <a:prstGeom prst="rect">
            <a:avLst/>
          </a:prstGeom>
          <a:noFill/>
          <a:ln/>
        </p:spPr>
        <p:txBody>
          <a:bodyPr wrap="square" lIns="0" tIns="0" rIns="0" bIns="0" rtlCol="0" anchor="ctr"/>
          <a:lstStyle/>
          <a:p>
            <a:pPr indent="0" marL="0">
              <a:buNone/>
            </a:pPr>
            <a:r>
              <a:rPr lang="en-US" sz="1600" dirty="0">
                <a:solidFill>
                  <a:srgbClr val="131A22"/>
                </a:solidFill>
                <a:latin typeface="Calibri" pitchFamily="34" charset="0"/>
                <a:ea typeface="Calibri" pitchFamily="34" charset="-122"/>
                <a:cs typeface="Calibri" pitchFamily="34" charset="-120"/>
              </a:rPr>
              <a:t>Mobile phones</a:t>
            </a:r>
            <a:endParaRPr lang="en-US" sz="1600" dirty="0"/>
          </a:p>
        </p:txBody>
      </p:sp>
      <p:sp>
        <p:nvSpPr>
          <p:cNvPr id="14" name="Text 10"/>
          <p:cNvSpPr txBox="1"/>
          <p:nvPr/>
        </p:nvSpPr>
        <p:spPr>
          <a:xfrm>
            <a:off x="9418320" y="3429000"/>
            <a:ext cx="2011680" cy="457200"/>
          </a:xfrm>
          <a:prstGeom prst="rect">
            <a:avLst/>
          </a:prstGeom>
          <a:noFill/>
          <a:ln/>
        </p:spPr>
        <p:txBody>
          <a:bodyPr wrap="square" lIns="0" tIns="0" rIns="0" bIns="0" rtlCol="0" anchor="ctr"/>
          <a:lstStyle/>
          <a:p>
            <a:pPr algn="r" indent="0" marL="0">
              <a:buNone/>
            </a:pPr>
            <a:r>
              <a:rPr lang="en-US" sz="2600" b="1" dirty="0">
                <a:solidFill>
                  <a:srgbClr val="FF9900"/>
                </a:solidFill>
                <a:latin typeface="Cambria" pitchFamily="34" charset="0"/>
                <a:ea typeface="Cambria" pitchFamily="34" charset="-122"/>
                <a:cs typeface="Cambria" pitchFamily="34" charset="-120"/>
              </a:rPr>
              <a:t>$211</a:t>
            </a:r>
            <a:endParaRPr lang="en-US" sz="2600" dirty="0"/>
          </a:p>
        </p:txBody>
      </p:sp>
      <p:sp>
        <p:nvSpPr>
          <p:cNvPr id="15" name="Text 11"/>
          <p:cNvSpPr txBox="1"/>
          <p:nvPr/>
        </p:nvSpPr>
        <p:spPr>
          <a:xfrm>
            <a:off x="6492240" y="3959352"/>
            <a:ext cx="2926080" cy="457200"/>
          </a:xfrm>
          <a:prstGeom prst="rect">
            <a:avLst/>
          </a:prstGeom>
          <a:noFill/>
          <a:ln/>
        </p:spPr>
        <p:txBody>
          <a:bodyPr wrap="square" lIns="0" tIns="0" rIns="0" bIns="0" rtlCol="0" anchor="ctr"/>
          <a:lstStyle/>
          <a:p>
            <a:pPr indent="0" marL="0">
              <a:buNone/>
            </a:pPr>
            <a:r>
              <a:rPr lang="en-US" sz="1600" dirty="0">
                <a:solidFill>
                  <a:srgbClr val="131A22"/>
                </a:solidFill>
                <a:latin typeface="Calibri" pitchFamily="34" charset="0"/>
                <a:ea typeface="Calibri" pitchFamily="34" charset="-122"/>
                <a:cs typeface="Calibri" pitchFamily="34" charset="-120"/>
              </a:rPr>
              <a:t>Cordless / landline</a:t>
            </a:r>
            <a:endParaRPr lang="en-US" sz="1600" dirty="0"/>
          </a:p>
        </p:txBody>
      </p:sp>
      <p:sp>
        <p:nvSpPr>
          <p:cNvPr id="16" name="Text 12"/>
          <p:cNvSpPr txBox="1"/>
          <p:nvPr/>
        </p:nvSpPr>
        <p:spPr>
          <a:xfrm>
            <a:off x="9418320" y="3959352"/>
            <a:ext cx="2011680" cy="457200"/>
          </a:xfrm>
          <a:prstGeom prst="rect">
            <a:avLst/>
          </a:prstGeom>
          <a:noFill/>
          <a:ln/>
        </p:spPr>
        <p:txBody>
          <a:bodyPr wrap="square" lIns="0" tIns="0" rIns="0" bIns="0" rtlCol="0" anchor="ctr"/>
          <a:lstStyle/>
          <a:p>
            <a:pPr algn="r" indent="0" marL="0">
              <a:buNone/>
            </a:pPr>
            <a:r>
              <a:rPr lang="en-US" sz="2600" b="1" dirty="0">
                <a:solidFill>
                  <a:srgbClr val="232F3E"/>
                </a:solidFill>
                <a:latin typeface="Cambria" pitchFamily="34" charset="0"/>
                <a:ea typeface="Cambria" pitchFamily="34" charset="-122"/>
                <a:cs typeface="Cambria" pitchFamily="34" charset="-120"/>
              </a:rPr>
              <a:t>$72</a:t>
            </a:r>
            <a:endParaRPr lang="en-US" sz="2600" dirty="0"/>
          </a:p>
        </p:txBody>
      </p:sp>
      <p:sp>
        <p:nvSpPr>
          <p:cNvPr id="17" name="Text 13"/>
          <p:cNvSpPr txBox="1"/>
          <p:nvPr/>
        </p:nvSpPr>
        <p:spPr>
          <a:xfrm>
            <a:off x="6492240" y="4489704"/>
            <a:ext cx="2926080" cy="457200"/>
          </a:xfrm>
          <a:prstGeom prst="rect">
            <a:avLst/>
          </a:prstGeom>
          <a:noFill/>
          <a:ln/>
        </p:spPr>
        <p:txBody>
          <a:bodyPr wrap="square" lIns="0" tIns="0" rIns="0" bIns="0" rtlCol="0" anchor="ctr"/>
          <a:lstStyle/>
          <a:p>
            <a:pPr indent="0" marL="0">
              <a:buNone/>
            </a:pPr>
            <a:r>
              <a:rPr lang="en-US" sz="1600" dirty="0">
                <a:solidFill>
                  <a:srgbClr val="131A22"/>
                </a:solidFill>
                <a:latin typeface="Calibri" pitchFamily="34" charset="0"/>
                <a:ea typeface="Calibri" pitchFamily="34" charset="-122"/>
                <a:cs typeface="Calibri" pitchFamily="34" charset="-120"/>
              </a:rPr>
              <a:t>Accessories</a:t>
            </a:r>
            <a:endParaRPr lang="en-US" sz="1600" dirty="0"/>
          </a:p>
        </p:txBody>
      </p:sp>
      <p:sp>
        <p:nvSpPr>
          <p:cNvPr id="18" name="Text 14"/>
          <p:cNvSpPr txBox="1"/>
          <p:nvPr/>
        </p:nvSpPr>
        <p:spPr>
          <a:xfrm>
            <a:off x="9418320" y="4489704"/>
            <a:ext cx="2011680" cy="457200"/>
          </a:xfrm>
          <a:prstGeom prst="rect">
            <a:avLst/>
          </a:prstGeom>
          <a:noFill/>
          <a:ln/>
        </p:spPr>
        <p:txBody>
          <a:bodyPr wrap="square" lIns="0" tIns="0" rIns="0" bIns="0" rtlCol="0" anchor="ctr"/>
          <a:lstStyle/>
          <a:p>
            <a:pPr algn="r" indent="0" marL="0">
              <a:buNone/>
            </a:pPr>
            <a:r>
              <a:rPr lang="en-US" sz="2600" b="1" dirty="0">
                <a:solidFill>
                  <a:srgbClr val="5B6B7D"/>
                </a:solidFill>
                <a:latin typeface="Cambria" pitchFamily="34" charset="0"/>
                <a:ea typeface="Cambria" pitchFamily="34" charset="-122"/>
                <a:cs typeface="Cambria" pitchFamily="34" charset="-120"/>
              </a:rPr>
              <a:t>$43</a:t>
            </a:r>
            <a:endParaRPr lang="en-US" sz="2600" dirty="0"/>
          </a:p>
        </p:txBody>
      </p:sp>
      <p:sp>
        <p:nvSpPr>
          <p:cNvPr id="19" name="Text 15"/>
          <p:cNvSpPr txBox="1"/>
          <p:nvPr/>
        </p:nvSpPr>
        <p:spPr>
          <a:xfrm>
            <a:off x="6309360" y="5303520"/>
            <a:ext cx="5330952" cy="640080"/>
          </a:xfrm>
          <a:prstGeom prst="rect">
            <a:avLst/>
          </a:prstGeom>
          <a:noFill/>
          <a:ln/>
        </p:spPr>
        <p:txBody>
          <a:bodyPr wrap="square" lIns="0" tIns="0" rIns="0" bIns="0" rtlCol="0" anchor="t"/>
          <a:lstStyle/>
          <a:p>
            <a:pPr indent="0" marL="0">
              <a:buNone/>
            </a:pPr>
            <a:r>
              <a:rPr lang="en-US" sz="1400" i="1" dirty="0">
                <a:solidFill>
                  <a:srgbClr val="131A22"/>
                </a:solidFill>
                <a:latin typeface="Calibri" pitchFamily="34" charset="0"/>
                <a:ea typeface="Calibri" pitchFamily="34" charset="-122"/>
                <a:cs typeface="Calibri" pitchFamily="34" charset="-120"/>
              </a:rPr>
              <a:t>Why it matters: averages and “top products” mix very different things unless the types are separated.</a:t>
            </a:r>
            <a:endParaRPr lang="en-US" sz="1400" dirty="0"/>
          </a:p>
        </p:txBody>
      </p:sp>
      <p:sp>
        <p:nvSpPr>
          <p:cNvPr id="20" name="Text 16"/>
          <p:cNvSpPr txBox="1"/>
          <p:nvPr/>
        </p:nvSpPr>
        <p:spPr>
          <a:xfrm>
            <a:off x="548640" y="6126480"/>
            <a:ext cx="8229600" cy="228600"/>
          </a:xfrm>
          <a:prstGeom prst="rect">
            <a:avLst/>
          </a:prstGeom>
          <a:noFill/>
          <a:ln/>
        </p:spPr>
        <p:txBody>
          <a:bodyPr wrap="square" lIns="0" tIns="0" rIns="0" bIns="0" rtlCol="0" anchor="t"/>
          <a:lstStyle/>
          <a:p>
            <a:pPr indent="0" marL="0">
              <a:buNone/>
            </a:pPr>
            <a:r>
              <a:rPr lang="en-US" sz="1100" dirty="0">
                <a:solidFill>
                  <a:srgbClr val="6B7785"/>
                </a:solidFill>
                <a:latin typeface="Calibri" pitchFamily="34" charset="0"/>
                <a:ea typeface="Calibri" pitchFamily="34" charset="-122"/>
                <a:cs typeface="Calibri" pitchFamily="34" charset="-120"/>
              </a:rPr>
              <a:t>Classification by title keywords (dect, cordless, case, tripod…); approximate.</a:t>
            </a:r>
            <a:endParaRPr lang="en-US" sz="11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42"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600"/>
                                        <p:tgtEl>
                                          <p:spTgt spid="2"/>
                                        </p:tgtEl>
                                      </p:cBhvr>
                                    </p:animEffect>
                                    <p:anim calcmode="lin" valueType="num">
                                      <p:cBhvr additive="base">
                                        <p:cTn id="13" dur="600" fill="hold"/>
                                        <p:tgtEl>
                                          <p:spTgt spid="2"/>
                                        </p:tgtEl>
                                        <p:attrNameLst>
                                          <p:attrName>ppt_y</p:attrName>
                                        </p:attrNameLst>
                                      </p:cBhvr>
                                      <p:tavLst>
                                        <p:tav tm="0">
                                          <p:val>
                                            <p:strVal val="#ppt_y+0.05"/>
                                          </p:val>
                                        </p:tav>
                                        <p:tav tm="100000">
                                          <p:val>
                                            <p:strVal val="#ppt_y"/>
                                          </p:val>
                                        </p:tav>
                                      </p:tavLst>
                                    </p:anim>
                                  </p:childTnLst>
                                </p:cTn>
                              </p:par>
                              <p:par>
                                <p:cTn id="16" presetID="42" presetClass="entr" presetSubtype="0" fill="hold" nodeType="withEffect">
                                  <p:stCondLst>
                                    <p:cond delay="115"/>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600"/>
                                        <p:tgtEl>
                                          <p:spTgt spid="4"/>
                                        </p:tgtEl>
                                      </p:cBhvr>
                                    </p:animEffect>
                                    <p:anim calcmode="lin" valueType="num">
                                      <p:cBhvr additive="base">
                                        <p:cTn id="19" dur="600" fill="hold"/>
                                        <p:tgtEl>
                                          <p:spTgt spid="4"/>
                                        </p:tgtEl>
                                        <p:attrNameLst>
                                          <p:attrName>ppt_y</p:attrName>
                                        </p:attrNameLst>
                                      </p:cBhvr>
                                      <p:tavLst>
                                        <p:tav tm="0">
                                          <p:val>
                                            <p:strVal val="#ppt_y+0.05"/>
                                          </p:val>
                                        </p:tav>
                                        <p:tav tm="100000">
                                          <p:val>
                                            <p:strVal val="#ppt_y"/>
                                          </p:val>
                                        </p:tav>
                                      </p:tavLst>
                                    </p:anim>
                                  </p:childTnLst>
                                </p:cTn>
                              </p:par>
                              <p:par>
                                <p:cTn id="22" presetID="42" presetClass="entr" presetSubtype="0" fill="hold" nodeType="withEffect">
                                  <p:stCondLst>
                                    <p:cond delay="23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600"/>
                                        <p:tgtEl>
                                          <p:spTgt spid="5"/>
                                        </p:tgtEl>
                                      </p:cBhvr>
                                    </p:animEffect>
                                    <p:anim calcmode="lin" valueType="num">
                                      <p:cBhvr additive="base">
                                        <p:cTn id="25" dur="600" fill="hold"/>
                                        <p:tgtEl>
                                          <p:spTgt spid="5"/>
                                        </p:tgtEl>
                                        <p:attrNameLst>
                                          <p:attrName>ppt_y</p:attrName>
                                        </p:attrNameLst>
                                      </p:cBhvr>
                                      <p:tavLst>
                                        <p:tav tm="0">
                                          <p:val>
                                            <p:strVal val="#ppt_y+0.05"/>
                                          </p:val>
                                        </p:tav>
                                        <p:tav tm="100000">
                                          <p:val>
                                            <p:strVal val="#ppt_y"/>
                                          </p:val>
                                        </p:tav>
                                      </p:tavLst>
                                    </p:anim>
                                  </p:childTnLst>
                                </p:cTn>
                              </p:par>
                              <p:par>
                                <p:cTn id="28" presetID="42" presetClass="entr" presetSubtype="0" fill="hold" nodeType="withEffect">
                                  <p:stCondLst>
                                    <p:cond delay="345"/>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600"/>
                                        <p:tgtEl>
                                          <p:spTgt spid="6"/>
                                        </p:tgtEl>
                                      </p:cBhvr>
                                    </p:animEffect>
                                    <p:anim calcmode="lin" valueType="num">
                                      <p:cBhvr additive="base">
                                        <p:cTn id="31" dur="600" fill="hold"/>
                                        <p:tgtEl>
                                          <p:spTgt spid="6"/>
                                        </p:tgtEl>
                                        <p:attrNameLst>
                                          <p:attrName>ppt_y</p:attrName>
                                        </p:attrNameLst>
                                      </p:cBhvr>
                                      <p:tavLst>
                                        <p:tav tm="0">
                                          <p:val>
                                            <p:strVal val="#ppt_y+0.05"/>
                                          </p:val>
                                        </p:tav>
                                        <p:tav tm="100000">
                                          <p:val>
                                            <p:strVal val="#ppt_y"/>
                                          </p:val>
                                        </p:tav>
                                      </p:tavLst>
                                    </p:anim>
                                  </p:childTnLst>
                                </p:cTn>
                              </p:par>
                              <p:par>
                                <p:cTn id="34" presetID="42" presetClass="entr" presetSubtype="0" fill="hold" nodeType="withEffect">
                                  <p:stCondLst>
                                    <p:cond delay="46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600"/>
                                        <p:tgtEl>
                                          <p:spTgt spid="7"/>
                                        </p:tgtEl>
                                      </p:cBhvr>
                                    </p:animEffect>
                                    <p:anim calcmode="lin" valueType="num">
                                      <p:cBhvr additive="base">
                                        <p:cTn id="37" dur="600" fill="hold"/>
                                        <p:tgtEl>
                                          <p:spTgt spid="7"/>
                                        </p:tgtEl>
                                        <p:attrNameLst>
                                          <p:attrName>ppt_y</p:attrName>
                                        </p:attrNameLst>
                                      </p:cBhvr>
                                      <p:tavLst>
                                        <p:tav tm="0">
                                          <p:val>
                                            <p:strVal val="#ppt_y+0.05"/>
                                          </p:val>
                                        </p:tav>
                                        <p:tav tm="100000">
                                          <p:val>
                                            <p:strVal val="#ppt_y"/>
                                          </p:val>
                                        </p:tav>
                                      </p:tavLst>
                                    </p:anim>
                                  </p:childTnLst>
                                </p:cTn>
                              </p:par>
                              <p:par>
                                <p:cTn id="40" presetID="42" presetClass="entr" presetSubtype="0" fill="hold" nodeType="withEffect">
                                  <p:stCondLst>
                                    <p:cond delay="575"/>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600"/>
                                        <p:tgtEl>
                                          <p:spTgt spid="8"/>
                                        </p:tgtEl>
                                      </p:cBhvr>
                                    </p:animEffect>
                                    <p:anim calcmode="lin" valueType="num">
                                      <p:cBhvr additive="base">
                                        <p:cTn id="43" dur="600" fill="hold"/>
                                        <p:tgtEl>
                                          <p:spTgt spid="8"/>
                                        </p:tgtEl>
                                        <p:attrNameLst>
                                          <p:attrName>ppt_y</p:attrName>
                                        </p:attrNameLst>
                                      </p:cBhvr>
                                      <p:tavLst>
                                        <p:tav tm="0">
                                          <p:val>
                                            <p:strVal val="#ppt_y+0.05"/>
                                          </p:val>
                                        </p:tav>
                                        <p:tav tm="100000">
                                          <p:val>
                                            <p:strVal val="#ppt_y"/>
                                          </p:val>
                                        </p:tav>
                                      </p:tavLst>
                                    </p:anim>
                                  </p:childTnLst>
                                </p:cTn>
                              </p:par>
                              <p:par>
                                <p:cTn id="46" presetID="42" presetClass="entr" presetSubtype="0" fill="hold" nodeType="withEffect">
                                  <p:stCondLst>
                                    <p:cond delay="69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600"/>
                                        <p:tgtEl>
                                          <p:spTgt spid="9"/>
                                        </p:tgtEl>
                                      </p:cBhvr>
                                    </p:animEffect>
                                    <p:anim calcmode="lin" valueType="num">
                                      <p:cBhvr additive="base">
                                        <p:cTn id="49" dur="600" fill="hold"/>
                                        <p:tgtEl>
                                          <p:spTgt spid="9"/>
                                        </p:tgtEl>
                                        <p:attrNameLst>
                                          <p:attrName>ppt_y</p:attrName>
                                        </p:attrNameLst>
                                      </p:cBhvr>
                                      <p:tavLst>
                                        <p:tav tm="0">
                                          <p:val>
                                            <p:strVal val="#ppt_y+0.05"/>
                                          </p:val>
                                        </p:tav>
                                        <p:tav tm="100000">
                                          <p:val>
                                            <p:strVal val="#ppt_y"/>
                                          </p:val>
                                        </p:tav>
                                      </p:tavLst>
                                    </p:anim>
                                  </p:childTnLst>
                                </p:cTn>
                              </p:par>
                              <p:par>
                                <p:cTn id="52" presetID="42" presetClass="entr" presetSubtype="0" fill="hold" nodeType="withEffect">
                                  <p:stCondLst>
                                    <p:cond delay="805"/>
                                  </p:stCondLst>
                                  <p:childTnLst>
                                    <p:set>
                                      <p:cBhvr>
                                        <p:cTn id="53" dur="1" fill="hold">
                                          <p:stCondLst>
                                            <p:cond delay="0"/>
                                          </p:stCondLst>
                                        </p:cTn>
                                        <p:tgtEl>
                                          <p:spTgt spid="10"/>
                                        </p:tgtEl>
                                        <p:attrNameLst>
                                          <p:attrName>style.visibility</p:attrName>
                                        </p:attrNameLst>
                                      </p:cBhvr>
                                      <p:to>
                                        <p:strVal val="visible"/>
                                      </p:to>
                                    </p:set>
                                    <p:animEffect transition="in" filter="fade">
                                      <p:cBhvr>
                                        <p:cTn id="54" dur="600"/>
                                        <p:tgtEl>
                                          <p:spTgt spid="10"/>
                                        </p:tgtEl>
                                      </p:cBhvr>
                                    </p:animEffect>
                                    <p:anim calcmode="lin" valueType="num">
                                      <p:cBhvr additive="base">
                                        <p:cTn id="55" dur="600" fill="hold"/>
                                        <p:tgtEl>
                                          <p:spTgt spid="10"/>
                                        </p:tgtEl>
                                        <p:attrNameLst>
                                          <p:attrName>ppt_y</p:attrName>
                                        </p:attrNameLst>
                                      </p:cBhvr>
                                      <p:tavLst>
                                        <p:tav tm="0">
                                          <p:val>
                                            <p:strVal val="#ppt_y+0.05"/>
                                          </p:val>
                                        </p:tav>
                                        <p:tav tm="100000">
                                          <p:val>
                                            <p:strVal val="#ppt_y"/>
                                          </p:val>
                                        </p:tav>
                                      </p:tavLst>
                                    </p:anim>
                                  </p:childTnLst>
                                </p:cTn>
                              </p:par>
                              <p:par>
                                <p:cTn id="58" presetID="42" presetClass="entr" presetSubtype="0" fill="hold" nodeType="withEffect">
                                  <p:stCondLst>
                                    <p:cond delay="920"/>
                                  </p:stCondLst>
                                  <p:childTnLst>
                                    <p:set>
                                      <p:cBhvr>
                                        <p:cTn id="59" dur="1" fill="hold">
                                          <p:stCondLst>
                                            <p:cond delay="0"/>
                                          </p:stCondLst>
                                        </p:cTn>
                                        <p:tgtEl>
                                          <p:spTgt spid="11"/>
                                        </p:tgtEl>
                                        <p:attrNameLst>
                                          <p:attrName>style.visibility</p:attrName>
                                        </p:attrNameLst>
                                      </p:cBhvr>
                                      <p:to>
                                        <p:strVal val="visible"/>
                                      </p:to>
                                    </p:set>
                                    <p:animEffect transition="in" filter="fade">
                                      <p:cBhvr>
                                        <p:cTn id="60" dur="600"/>
                                        <p:tgtEl>
                                          <p:spTgt spid="11"/>
                                        </p:tgtEl>
                                      </p:cBhvr>
                                    </p:animEffect>
                                    <p:anim calcmode="lin" valueType="num">
                                      <p:cBhvr additive="base">
                                        <p:cTn id="61" dur="600" fill="hold"/>
                                        <p:tgtEl>
                                          <p:spTgt spid="11"/>
                                        </p:tgtEl>
                                        <p:attrNameLst>
                                          <p:attrName>ppt_y</p:attrName>
                                        </p:attrNameLst>
                                      </p:cBhvr>
                                      <p:tavLst>
                                        <p:tav tm="0">
                                          <p:val>
                                            <p:strVal val="#ppt_y+0.05"/>
                                          </p:val>
                                        </p:tav>
                                        <p:tav tm="100000">
                                          <p:val>
                                            <p:strVal val="#ppt_y"/>
                                          </p:val>
                                        </p:tav>
                                      </p:tavLst>
                                    </p:anim>
                                  </p:childTnLst>
                                </p:cTn>
                              </p:par>
                              <p:par>
                                <p:cTn id="64" presetID="42" presetClass="entr" presetSubtype="0" fill="hold" nodeType="withEffect">
                                  <p:stCondLst>
                                    <p:cond delay="1035"/>
                                  </p:stCondLst>
                                  <p:childTnLst>
                                    <p:set>
                                      <p:cBhvr>
                                        <p:cTn id="65" dur="1" fill="hold">
                                          <p:stCondLst>
                                            <p:cond delay="0"/>
                                          </p:stCondLst>
                                        </p:cTn>
                                        <p:tgtEl>
                                          <p:spTgt spid="12"/>
                                        </p:tgtEl>
                                        <p:attrNameLst>
                                          <p:attrName>style.visibility</p:attrName>
                                        </p:attrNameLst>
                                      </p:cBhvr>
                                      <p:to>
                                        <p:strVal val="visible"/>
                                      </p:to>
                                    </p:set>
                                    <p:animEffect transition="in" filter="fade">
                                      <p:cBhvr>
                                        <p:cTn id="66" dur="600"/>
                                        <p:tgtEl>
                                          <p:spTgt spid="12"/>
                                        </p:tgtEl>
                                      </p:cBhvr>
                                    </p:animEffect>
                                    <p:anim calcmode="lin" valueType="num">
                                      <p:cBhvr additive="base">
                                        <p:cTn id="67" dur="600" fill="hold"/>
                                        <p:tgtEl>
                                          <p:spTgt spid="12"/>
                                        </p:tgtEl>
                                        <p:attrNameLst>
                                          <p:attrName>ppt_y</p:attrName>
                                        </p:attrNameLst>
                                      </p:cBhvr>
                                      <p:tavLst>
                                        <p:tav tm="0">
                                          <p:val>
                                            <p:strVal val="#ppt_y+0.05"/>
                                          </p:val>
                                        </p:tav>
                                        <p:tav tm="100000">
                                          <p:val>
                                            <p:strVal val="#ppt_y"/>
                                          </p:val>
                                        </p:tav>
                                      </p:tavLst>
                                    </p:anim>
                                  </p:childTnLst>
                                </p:cTn>
                              </p:par>
                              <p:par>
                                <p:cTn id="70" presetID="42" presetClass="entr" presetSubtype="0" fill="hold" nodeType="withEffect">
                                  <p:stCondLst>
                                    <p:cond delay="1150"/>
                                  </p:stCondLst>
                                  <p:childTnLst>
                                    <p:set>
                                      <p:cBhvr>
                                        <p:cTn id="71" dur="1" fill="hold">
                                          <p:stCondLst>
                                            <p:cond delay="0"/>
                                          </p:stCondLst>
                                        </p:cTn>
                                        <p:tgtEl>
                                          <p:spTgt spid="13"/>
                                        </p:tgtEl>
                                        <p:attrNameLst>
                                          <p:attrName>style.visibility</p:attrName>
                                        </p:attrNameLst>
                                      </p:cBhvr>
                                      <p:to>
                                        <p:strVal val="visible"/>
                                      </p:to>
                                    </p:set>
                                    <p:animEffect transition="in" filter="fade">
                                      <p:cBhvr>
                                        <p:cTn id="72" dur="600"/>
                                        <p:tgtEl>
                                          <p:spTgt spid="13"/>
                                        </p:tgtEl>
                                      </p:cBhvr>
                                    </p:animEffect>
                                    <p:anim calcmode="lin" valueType="num">
                                      <p:cBhvr additive="base">
                                        <p:cTn id="73" dur="600" fill="hold"/>
                                        <p:tgtEl>
                                          <p:spTgt spid="13"/>
                                        </p:tgtEl>
                                        <p:attrNameLst>
                                          <p:attrName>ppt_y</p:attrName>
                                        </p:attrNameLst>
                                      </p:cBhvr>
                                      <p:tavLst>
                                        <p:tav tm="0">
                                          <p:val>
                                            <p:strVal val="#ppt_y+0.05"/>
                                          </p:val>
                                        </p:tav>
                                        <p:tav tm="100000">
                                          <p:val>
                                            <p:strVal val="#ppt_y"/>
                                          </p:val>
                                        </p:tav>
                                      </p:tavLst>
                                    </p:anim>
                                  </p:childTnLst>
                                </p:cTn>
                              </p:par>
                              <p:par>
                                <p:cTn id="76" presetID="42" presetClass="entr" presetSubtype="0" fill="hold" nodeType="withEffect">
                                  <p:stCondLst>
                                    <p:cond delay="1265"/>
                                  </p:stCondLst>
                                  <p:childTnLst>
                                    <p:set>
                                      <p:cBhvr>
                                        <p:cTn id="77" dur="1" fill="hold">
                                          <p:stCondLst>
                                            <p:cond delay="0"/>
                                          </p:stCondLst>
                                        </p:cTn>
                                        <p:tgtEl>
                                          <p:spTgt spid="14"/>
                                        </p:tgtEl>
                                        <p:attrNameLst>
                                          <p:attrName>style.visibility</p:attrName>
                                        </p:attrNameLst>
                                      </p:cBhvr>
                                      <p:to>
                                        <p:strVal val="visible"/>
                                      </p:to>
                                    </p:set>
                                    <p:animEffect transition="in" filter="fade">
                                      <p:cBhvr>
                                        <p:cTn id="78" dur="600"/>
                                        <p:tgtEl>
                                          <p:spTgt spid="14"/>
                                        </p:tgtEl>
                                      </p:cBhvr>
                                    </p:animEffect>
                                    <p:anim calcmode="lin" valueType="num">
                                      <p:cBhvr additive="base">
                                        <p:cTn id="79" dur="600" fill="hold"/>
                                        <p:tgtEl>
                                          <p:spTgt spid="14"/>
                                        </p:tgtEl>
                                        <p:attrNameLst>
                                          <p:attrName>ppt_y</p:attrName>
                                        </p:attrNameLst>
                                      </p:cBhvr>
                                      <p:tavLst>
                                        <p:tav tm="0">
                                          <p:val>
                                            <p:strVal val="#ppt_y+0.05"/>
                                          </p:val>
                                        </p:tav>
                                        <p:tav tm="100000">
                                          <p:val>
                                            <p:strVal val="#ppt_y"/>
                                          </p:val>
                                        </p:tav>
                                      </p:tavLst>
                                    </p:anim>
                                  </p:childTnLst>
                                </p:cTn>
                              </p:par>
                              <p:par>
                                <p:cTn id="82" presetID="42" presetClass="entr" presetSubtype="0" fill="hold" nodeType="withEffect">
                                  <p:stCondLst>
                                    <p:cond delay="1380"/>
                                  </p:stCondLst>
                                  <p:childTnLst>
                                    <p:set>
                                      <p:cBhvr>
                                        <p:cTn id="83" dur="1" fill="hold">
                                          <p:stCondLst>
                                            <p:cond delay="0"/>
                                          </p:stCondLst>
                                        </p:cTn>
                                        <p:tgtEl>
                                          <p:spTgt spid="15"/>
                                        </p:tgtEl>
                                        <p:attrNameLst>
                                          <p:attrName>style.visibility</p:attrName>
                                        </p:attrNameLst>
                                      </p:cBhvr>
                                      <p:to>
                                        <p:strVal val="visible"/>
                                      </p:to>
                                    </p:set>
                                    <p:animEffect transition="in" filter="fade">
                                      <p:cBhvr>
                                        <p:cTn id="84" dur="600"/>
                                        <p:tgtEl>
                                          <p:spTgt spid="15"/>
                                        </p:tgtEl>
                                      </p:cBhvr>
                                    </p:animEffect>
                                    <p:anim calcmode="lin" valueType="num">
                                      <p:cBhvr additive="base">
                                        <p:cTn id="85" dur="600" fill="hold"/>
                                        <p:tgtEl>
                                          <p:spTgt spid="15"/>
                                        </p:tgtEl>
                                        <p:attrNameLst>
                                          <p:attrName>ppt_y</p:attrName>
                                        </p:attrNameLst>
                                      </p:cBhvr>
                                      <p:tavLst>
                                        <p:tav tm="0">
                                          <p:val>
                                            <p:strVal val="#ppt_y+0.05"/>
                                          </p:val>
                                        </p:tav>
                                        <p:tav tm="100000">
                                          <p:val>
                                            <p:strVal val="#ppt_y"/>
                                          </p:val>
                                        </p:tav>
                                      </p:tavLst>
                                    </p:anim>
                                  </p:childTnLst>
                                </p:cTn>
                              </p:par>
                              <p:par>
                                <p:cTn id="88" presetID="42" presetClass="entr" presetSubtype="0" fill="hold" nodeType="withEffect">
                                  <p:stCondLst>
                                    <p:cond delay="1495"/>
                                  </p:stCondLst>
                                  <p:childTnLst>
                                    <p:set>
                                      <p:cBhvr>
                                        <p:cTn id="89" dur="1" fill="hold">
                                          <p:stCondLst>
                                            <p:cond delay="0"/>
                                          </p:stCondLst>
                                        </p:cTn>
                                        <p:tgtEl>
                                          <p:spTgt spid="16"/>
                                        </p:tgtEl>
                                        <p:attrNameLst>
                                          <p:attrName>style.visibility</p:attrName>
                                        </p:attrNameLst>
                                      </p:cBhvr>
                                      <p:to>
                                        <p:strVal val="visible"/>
                                      </p:to>
                                    </p:set>
                                    <p:animEffect transition="in" filter="fade">
                                      <p:cBhvr>
                                        <p:cTn id="90" dur="600"/>
                                        <p:tgtEl>
                                          <p:spTgt spid="16"/>
                                        </p:tgtEl>
                                      </p:cBhvr>
                                    </p:animEffect>
                                    <p:anim calcmode="lin" valueType="num">
                                      <p:cBhvr additive="base">
                                        <p:cTn id="91" dur="600" fill="hold"/>
                                        <p:tgtEl>
                                          <p:spTgt spid="16"/>
                                        </p:tgtEl>
                                        <p:attrNameLst>
                                          <p:attrName>ppt_y</p:attrName>
                                        </p:attrNameLst>
                                      </p:cBhvr>
                                      <p:tavLst>
                                        <p:tav tm="0">
                                          <p:val>
                                            <p:strVal val="#ppt_y+0.05"/>
                                          </p:val>
                                        </p:tav>
                                        <p:tav tm="100000">
                                          <p:val>
                                            <p:strVal val="#ppt_y"/>
                                          </p:val>
                                        </p:tav>
                                      </p:tavLst>
                                    </p:anim>
                                  </p:childTnLst>
                                </p:cTn>
                              </p:par>
                              <p:par>
                                <p:cTn id="94" presetID="42" presetClass="entr" presetSubtype="0" fill="hold" nodeType="withEffect">
                                  <p:stCondLst>
                                    <p:cond delay="1610"/>
                                  </p:stCondLst>
                                  <p:childTnLst>
                                    <p:set>
                                      <p:cBhvr>
                                        <p:cTn id="95" dur="1" fill="hold">
                                          <p:stCondLst>
                                            <p:cond delay="0"/>
                                          </p:stCondLst>
                                        </p:cTn>
                                        <p:tgtEl>
                                          <p:spTgt spid="17"/>
                                        </p:tgtEl>
                                        <p:attrNameLst>
                                          <p:attrName>style.visibility</p:attrName>
                                        </p:attrNameLst>
                                      </p:cBhvr>
                                      <p:to>
                                        <p:strVal val="visible"/>
                                      </p:to>
                                    </p:set>
                                    <p:animEffect transition="in" filter="fade">
                                      <p:cBhvr>
                                        <p:cTn id="96" dur="600"/>
                                        <p:tgtEl>
                                          <p:spTgt spid="17"/>
                                        </p:tgtEl>
                                      </p:cBhvr>
                                    </p:animEffect>
                                    <p:anim calcmode="lin" valueType="num">
                                      <p:cBhvr additive="base">
                                        <p:cTn id="97" dur="600" fill="hold"/>
                                        <p:tgtEl>
                                          <p:spTgt spid="17"/>
                                        </p:tgtEl>
                                        <p:attrNameLst>
                                          <p:attrName>ppt_y</p:attrName>
                                        </p:attrNameLst>
                                      </p:cBhvr>
                                      <p:tavLst>
                                        <p:tav tm="0">
                                          <p:val>
                                            <p:strVal val="#ppt_y+0.05"/>
                                          </p:val>
                                        </p:tav>
                                        <p:tav tm="100000">
                                          <p:val>
                                            <p:strVal val="#ppt_y"/>
                                          </p:val>
                                        </p:tav>
                                      </p:tavLst>
                                    </p:anim>
                                  </p:childTnLst>
                                </p:cTn>
                              </p:par>
                              <p:par>
                                <p:cTn id="100" presetID="42" presetClass="entr" presetSubtype="0" fill="hold" nodeType="withEffect">
                                  <p:stCondLst>
                                    <p:cond delay="1725"/>
                                  </p:stCondLst>
                                  <p:childTnLst>
                                    <p:set>
                                      <p:cBhvr>
                                        <p:cTn id="101" dur="1" fill="hold">
                                          <p:stCondLst>
                                            <p:cond delay="0"/>
                                          </p:stCondLst>
                                        </p:cTn>
                                        <p:tgtEl>
                                          <p:spTgt spid="18"/>
                                        </p:tgtEl>
                                        <p:attrNameLst>
                                          <p:attrName>style.visibility</p:attrName>
                                        </p:attrNameLst>
                                      </p:cBhvr>
                                      <p:to>
                                        <p:strVal val="visible"/>
                                      </p:to>
                                    </p:set>
                                    <p:animEffect transition="in" filter="fade">
                                      <p:cBhvr>
                                        <p:cTn id="102" dur="600"/>
                                        <p:tgtEl>
                                          <p:spTgt spid="18"/>
                                        </p:tgtEl>
                                      </p:cBhvr>
                                    </p:animEffect>
                                    <p:anim calcmode="lin" valueType="num">
                                      <p:cBhvr additive="base">
                                        <p:cTn id="103" dur="600" fill="hold"/>
                                        <p:tgtEl>
                                          <p:spTgt spid="18"/>
                                        </p:tgtEl>
                                        <p:attrNameLst>
                                          <p:attrName>ppt_y</p:attrName>
                                        </p:attrNameLst>
                                      </p:cBhvr>
                                      <p:tavLst>
                                        <p:tav tm="0">
                                          <p:val>
                                            <p:strVal val="#ppt_y+0.05"/>
                                          </p:val>
                                        </p:tav>
                                        <p:tav tm="100000">
                                          <p:val>
                                            <p:strVal val="#ppt_y"/>
                                          </p:val>
                                        </p:tav>
                                      </p:tavLst>
                                    </p:anim>
                                  </p:childTnLst>
                                </p:cTn>
                              </p:par>
                              <p:par>
                                <p:cTn id="106" presetID="42" presetClass="entr" presetSubtype="0" fill="hold" nodeType="withEffect">
                                  <p:stCondLst>
                                    <p:cond delay="1840"/>
                                  </p:stCondLst>
                                  <p:childTnLst>
                                    <p:set>
                                      <p:cBhvr>
                                        <p:cTn id="107" dur="1" fill="hold">
                                          <p:stCondLst>
                                            <p:cond delay="0"/>
                                          </p:stCondLst>
                                        </p:cTn>
                                        <p:tgtEl>
                                          <p:spTgt spid="19"/>
                                        </p:tgtEl>
                                        <p:attrNameLst>
                                          <p:attrName>style.visibility</p:attrName>
                                        </p:attrNameLst>
                                      </p:cBhvr>
                                      <p:to>
                                        <p:strVal val="visible"/>
                                      </p:to>
                                    </p:set>
                                    <p:animEffect transition="in" filter="fade">
                                      <p:cBhvr>
                                        <p:cTn id="108" dur="600"/>
                                        <p:tgtEl>
                                          <p:spTgt spid="19"/>
                                        </p:tgtEl>
                                      </p:cBhvr>
                                    </p:animEffect>
                                    <p:anim calcmode="lin" valueType="num">
                                      <p:cBhvr additive="base">
                                        <p:cTn id="109" dur="600" fill="hold"/>
                                        <p:tgtEl>
                                          <p:spTgt spid="19"/>
                                        </p:tgtEl>
                                        <p:attrNameLst>
                                          <p:attrName>ppt_y</p:attrName>
                                        </p:attrNameLst>
                                      </p:cBhvr>
                                      <p:tavLst>
                                        <p:tav tm="0">
                                          <p:val>
                                            <p:strVal val="#ppt_y+0.05"/>
                                          </p:val>
                                        </p:tav>
                                        <p:tav tm="100000">
                                          <p:val>
                                            <p:strVal val="#ppt_y"/>
                                          </p:val>
                                        </p:tav>
                                      </p:tavLst>
                                    </p:anim>
                                  </p:childTnLst>
                                </p:cTn>
                              </p:par>
                              <p:par>
                                <p:cTn id="112" presetID="42" presetClass="entr" presetSubtype="0" fill="hold" nodeType="withEffect">
                                  <p:stCondLst>
                                    <p:cond delay="1955"/>
                                  </p:stCondLst>
                                  <p:childTnLst>
                                    <p:set>
                                      <p:cBhvr>
                                        <p:cTn id="113" dur="1" fill="hold">
                                          <p:stCondLst>
                                            <p:cond delay="0"/>
                                          </p:stCondLst>
                                        </p:cTn>
                                        <p:tgtEl>
                                          <p:spTgt spid="20"/>
                                        </p:tgtEl>
                                        <p:attrNameLst>
                                          <p:attrName>style.visibility</p:attrName>
                                        </p:attrNameLst>
                                      </p:cBhvr>
                                      <p:to>
                                        <p:strVal val="visible"/>
                                      </p:to>
                                    </p:set>
                                    <p:animEffect transition="in" filter="fade">
                                      <p:cBhvr>
                                        <p:cTn id="114" dur="600"/>
                                        <p:tgtEl>
                                          <p:spTgt spid="20"/>
                                        </p:tgtEl>
                                      </p:cBhvr>
                                    </p:animEffect>
                                    <p:anim calcmode="lin" valueType="num">
                                      <p:cBhvr additive="base">
                                        <p:cTn id="115" dur="600" fill="hold"/>
                                        <p:tgtEl>
                                          <p:spTgt spid="20"/>
                                        </p:tgtEl>
                                        <p:attrNameLst>
                                          <p:attrName>ppt_y</p:attrName>
                                        </p:attrNameLst>
                                      </p:cBhvr>
                                      <p:tavLst>
                                        <p:tav tm="0">
                                          <p:val>
                                            <p:strVal val="#ppt_y+0.05"/>
                                          </p:val>
                                        </p:tav>
                                        <p:tav tm="100000">
                                          <p:val>
                                            <p:strVal val="#ppt_y"/>
                                          </p:val>
                                        </p:tav>
                                      </p:tavLst>
                                    </p:anim>
                                  </p:childTnLst>
                                </p:cTn>
                              </p:par>
                              <p:par>
                                <p:cTn id="118" presetID="42" presetClass="entr" presetSubtype="0" fill="hold" nodeType="withEffect">
                                  <p:stCondLst>
                                    <p:cond delay="2070"/>
                                  </p:stCondLst>
                                  <p:childTnLst>
                                    <p:set>
                                      <p:cBhvr>
                                        <p:cTn id="119" dur="1" fill="hold">
                                          <p:stCondLst>
                                            <p:cond delay="0"/>
                                          </p:stCondLst>
                                        </p:cTn>
                                        <p:tgtEl>
                                          <p:spTgt spid="25"/>
                                        </p:tgtEl>
                                        <p:attrNameLst>
                                          <p:attrName>style.visibility</p:attrName>
                                        </p:attrNameLst>
                                      </p:cBhvr>
                                      <p:to>
                                        <p:strVal val="visible"/>
                                      </p:to>
                                    </p:set>
                                    <p:animEffect transition="in" filter="fade">
                                      <p:cBhvr>
                                        <p:cTn id="120" dur="600"/>
                                        <p:tgtEl>
                                          <p:spTgt spid="25"/>
                                        </p:tgtEl>
                                      </p:cBhvr>
                                    </p:animEffect>
                                    <p:anim calcmode="lin" valueType="num">
                                      <p:cBhvr additive="base">
                                        <p:cTn id="121" dur="600" fill="hold"/>
                                        <p:tgtEl>
                                          <p:spTgt spid="25"/>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Finding 3: Prime is cheaper, but rated the same</a:t>
            </a:r>
            <a:endParaRPr lang="en-US" sz="3000" dirty="0"/>
          </a:p>
        </p:txBody>
      </p:sp>
      <p:graphicFrame>
        <p:nvGraphicFramePr>
          <p:cNvPr id="4" name="Chart 0" descr=""/>
          <p:cNvGraphicFramePr/>
          <p:nvPr/>
        </p:nvGraphicFramePr>
        <p:xfrm>
          <a:off x="548640" y="1371600"/>
          <a:ext cx="5120640" cy="4754880"/>
        </p:xfrm>
        <a:graphic xmlns:a="http://schemas.openxmlformats.org/drawingml/2006/main">
          <a:graphicData uri="http://schemas.openxmlformats.org/drawingml/2006/chart">
            <c:chart xmlns:c="http://schemas.openxmlformats.org/drawingml/2006/chart" r:id="rId1"/>
          </a:graphicData>
        </a:graphic>
      </p:graphicFrame>
      <p:sp>
        <p:nvSpPr>
          <p:cNvPr id="5" name="stat card"/>
          <p:cNvSpPr/>
          <p:nvPr/>
        </p:nvSpPr>
        <p:spPr>
          <a:xfrm>
            <a:off x="5943600" y="1371600"/>
            <a:ext cx="2743200" cy="1325880"/>
          </a:xfrm>
          <a:prstGeom prst="roundRect">
            <a:avLst>
              <a:gd name="adj" fmla="val 8276"/>
            </a:avLst>
          </a:prstGeom>
          <a:solidFill>
            <a:srgbClr val="EEF2F6"/>
          </a:solidFill>
          <a:ln w="12700">
            <a:solidFill>
              <a:srgbClr val="EEF2F6"/>
            </a:solidFill>
            <a:prstDash val="solid"/>
          </a:ln>
        </p:spPr>
      </p:sp>
      <p:sp>
        <p:nvSpPr>
          <p:cNvPr id="6" name="Text 2"/>
          <p:cNvSpPr txBox="1"/>
          <p:nvPr/>
        </p:nvSpPr>
        <p:spPr>
          <a:xfrm>
            <a:off x="6126480" y="1481328"/>
            <a:ext cx="2377440" cy="685800"/>
          </a:xfrm>
          <a:prstGeom prst="rect">
            <a:avLst/>
          </a:prstGeom>
          <a:noFill/>
          <a:ln/>
        </p:spPr>
        <p:txBody>
          <a:bodyPr wrap="square" lIns="0" tIns="0" rIns="0" bIns="0" rtlCol="0" anchor="ctr"/>
          <a:lstStyle/>
          <a:p>
            <a:pPr indent="0" marL="0">
              <a:buNone/>
            </a:pPr>
            <a:r>
              <a:rPr lang="en-US" sz="3600" b="1" dirty="0">
                <a:solidFill>
                  <a:srgbClr val="FF9900"/>
                </a:solidFill>
                <a:latin typeface="Cambria" pitchFamily="34" charset="0"/>
                <a:ea typeface="Cambria" pitchFamily="34" charset="-122"/>
                <a:cs typeface="Cambria" pitchFamily="34" charset="-120"/>
              </a:rPr>
              <a:t>72%</a:t>
            </a:r>
            <a:endParaRPr lang="en-US" sz="3600" dirty="0"/>
          </a:p>
        </p:txBody>
      </p:sp>
      <p:sp>
        <p:nvSpPr>
          <p:cNvPr id="7" name="Text 3"/>
          <p:cNvSpPr txBox="1"/>
          <p:nvPr/>
        </p:nvSpPr>
        <p:spPr>
          <a:xfrm>
            <a:off x="6126480" y="2176272"/>
            <a:ext cx="2377440" cy="457200"/>
          </a:xfrm>
          <a:prstGeom prst="rect">
            <a:avLst/>
          </a:prstGeom>
          <a:noFill/>
          <a:ln/>
        </p:spPr>
        <p:txBody>
          <a:bodyPr wrap="square" lIns="0" tIns="0" rIns="0" bIns="0" rtlCol="0" anchor="t"/>
          <a:lstStyle/>
          <a:p>
            <a:pPr indent="0" marL="0">
              <a:buNone/>
            </a:pPr>
            <a:r>
              <a:rPr lang="en-US" sz="1300" dirty="0">
                <a:solidFill>
                  <a:srgbClr val="5B6B7D"/>
                </a:solidFill>
                <a:latin typeface="Calibri" pitchFamily="34" charset="0"/>
                <a:ea typeface="Calibri" pitchFamily="34" charset="-122"/>
                <a:cs typeface="Calibri" pitchFamily="34" charset="-120"/>
              </a:rPr>
              <a:t>of listings are Prime (231 of 319)</a:t>
            </a:r>
            <a:endParaRPr lang="en-US" sz="1300" dirty="0"/>
          </a:p>
        </p:txBody>
      </p:sp>
      <p:sp>
        <p:nvSpPr>
          <p:cNvPr id="8" name="stat card"/>
          <p:cNvSpPr/>
          <p:nvPr/>
        </p:nvSpPr>
        <p:spPr>
          <a:xfrm>
            <a:off x="8897112" y="1371600"/>
            <a:ext cx="2743200" cy="1325880"/>
          </a:xfrm>
          <a:prstGeom prst="roundRect">
            <a:avLst>
              <a:gd name="adj" fmla="val 8276"/>
            </a:avLst>
          </a:prstGeom>
          <a:solidFill>
            <a:srgbClr val="EEF2F6"/>
          </a:solidFill>
          <a:ln w="12700">
            <a:solidFill>
              <a:srgbClr val="EEF2F6"/>
            </a:solidFill>
            <a:prstDash val="solid"/>
          </a:ln>
        </p:spPr>
      </p:sp>
      <p:sp>
        <p:nvSpPr>
          <p:cNvPr id="9" name="Text 5"/>
          <p:cNvSpPr txBox="1"/>
          <p:nvPr/>
        </p:nvSpPr>
        <p:spPr>
          <a:xfrm>
            <a:off x="9079992" y="1481328"/>
            <a:ext cx="2377440" cy="685800"/>
          </a:xfrm>
          <a:prstGeom prst="rect">
            <a:avLst/>
          </a:prstGeom>
          <a:noFill/>
          <a:ln/>
        </p:spPr>
        <p:txBody>
          <a:bodyPr wrap="square" lIns="0" tIns="0" rIns="0" bIns="0" rtlCol="0" anchor="ctr"/>
          <a:lstStyle/>
          <a:p>
            <a:pPr indent="0" marL="0">
              <a:buNone/>
            </a:pPr>
            <a:r>
              <a:rPr lang="en-US" sz="2800" b="1" dirty="0">
                <a:solidFill>
                  <a:srgbClr val="232F3E"/>
                </a:solidFill>
                <a:latin typeface="Cambria" pitchFamily="34" charset="0"/>
                <a:ea typeface="Cambria" pitchFamily="34" charset="-122"/>
                <a:cs typeface="Cambria" pitchFamily="34" charset="-120"/>
              </a:rPr>
              <a:t>4.09 vs 4.07</a:t>
            </a:r>
            <a:endParaRPr lang="en-US" sz="2800" dirty="0"/>
          </a:p>
        </p:txBody>
      </p:sp>
      <p:sp>
        <p:nvSpPr>
          <p:cNvPr id="10" name="Text 6"/>
          <p:cNvSpPr txBox="1"/>
          <p:nvPr/>
        </p:nvSpPr>
        <p:spPr>
          <a:xfrm>
            <a:off x="9079992" y="2176272"/>
            <a:ext cx="2377440" cy="457200"/>
          </a:xfrm>
          <a:prstGeom prst="rect">
            <a:avLst/>
          </a:prstGeom>
          <a:noFill/>
          <a:ln/>
        </p:spPr>
        <p:txBody>
          <a:bodyPr wrap="square" lIns="0" tIns="0" rIns="0" bIns="0" rtlCol="0" anchor="t"/>
          <a:lstStyle/>
          <a:p>
            <a:pPr indent="0" marL="0">
              <a:buNone/>
            </a:pPr>
            <a:r>
              <a:rPr lang="en-US" sz="1300" dirty="0">
                <a:solidFill>
                  <a:srgbClr val="5B6B7D"/>
                </a:solidFill>
                <a:latin typeface="Calibri" pitchFamily="34" charset="0"/>
                <a:ea typeface="Calibri" pitchFamily="34" charset="-122"/>
                <a:cs typeface="Calibri" pitchFamily="34" charset="-120"/>
              </a:rPr>
              <a:t>avg rating: Prime vs not</a:t>
            </a:r>
            <a:endParaRPr lang="en-US" sz="1300" dirty="0"/>
          </a:p>
        </p:txBody>
      </p:sp>
      <p:sp>
        <p:nvSpPr>
          <p:cNvPr id="11" name="stat card"/>
          <p:cNvSpPr/>
          <p:nvPr/>
        </p:nvSpPr>
        <p:spPr>
          <a:xfrm>
            <a:off x="5943600" y="2880360"/>
            <a:ext cx="2743200" cy="1325880"/>
          </a:xfrm>
          <a:prstGeom prst="roundRect">
            <a:avLst>
              <a:gd name="adj" fmla="val 8276"/>
            </a:avLst>
          </a:prstGeom>
          <a:solidFill>
            <a:srgbClr val="EEF2F6"/>
          </a:solidFill>
          <a:ln w="12700">
            <a:solidFill>
              <a:srgbClr val="EEF2F6"/>
            </a:solidFill>
            <a:prstDash val="solid"/>
          </a:ln>
        </p:spPr>
      </p:sp>
      <p:sp>
        <p:nvSpPr>
          <p:cNvPr id="12" name="Text 8"/>
          <p:cNvSpPr txBox="1"/>
          <p:nvPr/>
        </p:nvSpPr>
        <p:spPr>
          <a:xfrm>
            <a:off x="6126480" y="2990088"/>
            <a:ext cx="2377440" cy="685800"/>
          </a:xfrm>
          <a:prstGeom prst="rect">
            <a:avLst/>
          </a:prstGeom>
          <a:noFill/>
          <a:ln/>
        </p:spPr>
        <p:txBody>
          <a:bodyPr wrap="square" lIns="0" tIns="0" rIns="0" bIns="0" rtlCol="0" anchor="ctr"/>
          <a:lstStyle/>
          <a:p>
            <a:pPr indent="0" marL="0">
              <a:buNone/>
            </a:pPr>
            <a:r>
              <a:rPr lang="en-US" sz="3600" b="1" dirty="0">
                <a:solidFill>
                  <a:srgbClr val="232F3E"/>
                </a:solidFill>
                <a:latin typeface="Cambria" pitchFamily="34" charset="0"/>
                <a:ea typeface="Cambria" pitchFamily="34" charset="-122"/>
                <a:cs typeface="Cambria" pitchFamily="34" charset="-120"/>
              </a:rPr>
              <a:t>3 vs 10</a:t>
            </a:r>
            <a:endParaRPr lang="en-US" sz="3600" dirty="0"/>
          </a:p>
        </p:txBody>
      </p:sp>
      <p:sp>
        <p:nvSpPr>
          <p:cNvPr id="13" name="Text 9"/>
          <p:cNvSpPr txBox="1"/>
          <p:nvPr/>
        </p:nvSpPr>
        <p:spPr>
          <a:xfrm>
            <a:off x="6126480" y="3685032"/>
            <a:ext cx="2377440" cy="457200"/>
          </a:xfrm>
          <a:prstGeom prst="rect">
            <a:avLst/>
          </a:prstGeom>
          <a:noFill/>
          <a:ln/>
        </p:spPr>
        <p:txBody>
          <a:bodyPr wrap="square" lIns="0" tIns="0" rIns="0" bIns="0" rtlCol="0" anchor="t"/>
          <a:lstStyle/>
          <a:p>
            <a:pPr indent="0" marL="0">
              <a:buNone/>
            </a:pPr>
            <a:r>
              <a:rPr lang="en-US" sz="1300" dirty="0">
                <a:solidFill>
                  <a:srgbClr val="5B6B7D"/>
                </a:solidFill>
                <a:latin typeface="Calibri" pitchFamily="34" charset="0"/>
                <a:ea typeface="Calibri" pitchFamily="34" charset="-122"/>
                <a:cs typeface="Calibri" pitchFamily="34" charset="-120"/>
              </a:rPr>
              <a:t>median offers: Prime vs not</a:t>
            </a:r>
            <a:endParaRPr lang="en-US" sz="1300" dirty="0"/>
          </a:p>
        </p:txBody>
      </p:sp>
      <p:sp>
        <p:nvSpPr>
          <p:cNvPr id="14" name="stat card"/>
          <p:cNvSpPr/>
          <p:nvPr/>
        </p:nvSpPr>
        <p:spPr>
          <a:xfrm>
            <a:off x="8897112" y="2880360"/>
            <a:ext cx="2743200" cy="1325880"/>
          </a:xfrm>
          <a:prstGeom prst="roundRect">
            <a:avLst>
              <a:gd name="adj" fmla="val 8276"/>
            </a:avLst>
          </a:prstGeom>
          <a:solidFill>
            <a:srgbClr val="EEF2F6"/>
          </a:solidFill>
          <a:ln w="12700">
            <a:solidFill>
              <a:srgbClr val="EEF2F6"/>
            </a:solidFill>
            <a:prstDash val="solid"/>
          </a:ln>
        </p:spPr>
      </p:sp>
      <p:sp>
        <p:nvSpPr>
          <p:cNvPr id="15" name="Text 11"/>
          <p:cNvSpPr txBox="1"/>
          <p:nvPr/>
        </p:nvSpPr>
        <p:spPr>
          <a:xfrm>
            <a:off x="9079992" y="2990088"/>
            <a:ext cx="2377440" cy="685800"/>
          </a:xfrm>
          <a:prstGeom prst="rect">
            <a:avLst/>
          </a:prstGeom>
          <a:noFill/>
          <a:ln/>
        </p:spPr>
        <p:txBody>
          <a:bodyPr wrap="square" lIns="0" tIns="0" rIns="0" bIns="0" rtlCol="0" anchor="ctr"/>
          <a:lstStyle/>
          <a:p>
            <a:pPr indent="0" marL="0">
              <a:buNone/>
            </a:pPr>
            <a:r>
              <a:rPr lang="en-US" sz="3600" b="1" dirty="0">
                <a:solidFill>
                  <a:srgbClr val="FF9900"/>
                </a:solidFill>
                <a:latin typeface="Cambria" pitchFamily="34" charset="0"/>
                <a:ea typeface="Cambria" pitchFamily="34" charset="-122"/>
                <a:cs typeface="Cambria" pitchFamily="34" charset="-120"/>
              </a:rPr>
              <a:t>0.18</a:t>
            </a:r>
            <a:endParaRPr lang="en-US" sz="3600" dirty="0"/>
          </a:p>
        </p:txBody>
      </p:sp>
      <p:sp>
        <p:nvSpPr>
          <p:cNvPr id="16" name="Text 12"/>
          <p:cNvSpPr txBox="1"/>
          <p:nvPr/>
        </p:nvSpPr>
        <p:spPr>
          <a:xfrm>
            <a:off x="9079992" y="3685032"/>
            <a:ext cx="2377440" cy="457200"/>
          </a:xfrm>
          <a:prstGeom prst="rect">
            <a:avLst/>
          </a:prstGeom>
          <a:noFill/>
          <a:ln/>
        </p:spPr>
        <p:txBody>
          <a:bodyPr wrap="square" lIns="0" tIns="0" rIns="0" bIns="0" rtlCol="0" anchor="t"/>
          <a:lstStyle/>
          <a:p>
            <a:pPr indent="0" marL="0">
              <a:buNone/>
            </a:pPr>
            <a:r>
              <a:rPr lang="en-US" sz="1300" dirty="0">
                <a:solidFill>
                  <a:srgbClr val="5B6B7D"/>
                </a:solidFill>
                <a:latin typeface="Calibri" pitchFamily="34" charset="0"/>
                <a:ea typeface="Calibri" pitchFamily="34" charset="-122"/>
                <a:cs typeface="Calibri" pitchFamily="34" charset="-120"/>
              </a:rPr>
              <a:t>price–rating correlation (weak)</a:t>
            </a:r>
            <a:endParaRPr lang="en-US" sz="1300" dirty="0"/>
          </a:p>
        </p:txBody>
      </p:sp>
      <p:sp>
        <p:nvSpPr>
          <p:cNvPr id="17" name="insight card"/>
          <p:cNvSpPr/>
          <p:nvPr/>
        </p:nvSpPr>
        <p:spPr>
          <a:xfrm>
            <a:off x="5943600" y="4389120"/>
            <a:ext cx="5696712" cy="1645920"/>
          </a:xfrm>
          <a:prstGeom prst="roundRect">
            <a:avLst>
              <a:gd name="adj" fmla="val 6667"/>
            </a:avLst>
          </a:prstGeom>
          <a:solidFill>
            <a:srgbClr val="232F3E"/>
          </a:solidFill>
          <a:ln w="12700">
            <a:solidFill>
              <a:srgbClr val="232F3E"/>
            </a:solidFill>
            <a:prstDash val="solid"/>
          </a:ln>
        </p:spPr>
      </p:sp>
      <p:sp>
        <p:nvSpPr>
          <p:cNvPr id="18" name="Text 14"/>
          <p:cNvSpPr txBox="1"/>
          <p:nvPr/>
        </p:nvSpPr>
        <p:spPr>
          <a:xfrm>
            <a:off x="6126480" y="4480560"/>
            <a:ext cx="5349240" cy="14630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Prime is the norm, not a differentiator: it is most common under $100 (84%) and least common at $600+ (57%), and it does not come with higher ratings. Cheap cordless phones and accessories (about 93% Prime) also pull the Prime average down.</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42"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600"/>
                                        <p:tgtEl>
                                          <p:spTgt spid="2"/>
                                        </p:tgtEl>
                                      </p:cBhvr>
                                    </p:animEffect>
                                    <p:anim calcmode="lin" valueType="num">
                                      <p:cBhvr additive="base">
                                        <p:cTn id="13" dur="600" fill="hold"/>
                                        <p:tgtEl>
                                          <p:spTgt spid="2"/>
                                        </p:tgtEl>
                                        <p:attrNameLst>
                                          <p:attrName>ppt_y</p:attrName>
                                        </p:attrNameLst>
                                      </p:cBhvr>
                                      <p:tavLst>
                                        <p:tav tm="0">
                                          <p:val>
                                            <p:strVal val="#ppt_y+0.05"/>
                                          </p:val>
                                        </p:tav>
                                        <p:tav tm="100000">
                                          <p:val>
                                            <p:strVal val="#ppt_y"/>
                                          </p:val>
                                        </p:tav>
                                      </p:tavLst>
                                    </p:anim>
                                  </p:childTnLst>
                                </p:cTn>
                              </p:par>
                              <p:par>
                                <p:cTn id="16" presetID="42" presetClass="entr" presetSubtype="0" fill="hold" nodeType="withEffect">
                                  <p:stCondLst>
                                    <p:cond delay="129"/>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600"/>
                                        <p:tgtEl>
                                          <p:spTgt spid="4"/>
                                        </p:tgtEl>
                                      </p:cBhvr>
                                    </p:animEffect>
                                    <p:anim calcmode="lin" valueType="num">
                                      <p:cBhvr additive="base">
                                        <p:cTn id="19" dur="600" fill="hold"/>
                                        <p:tgtEl>
                                          <p:spTgt spid="4"/>
                                        </p:tgtEl>
                                        <p:attrNameLst>
                                          <p:attrName>ppt_y</p:attrName>
                                        </p:attrNameLst>
                                      </p:cBhvr>
                                      <p:tavLst>
                                        <p:tav tm="0">
                                          <p:val>
                                            <p:strVal val="#ppt_y+0.05"/>
                                          </p:val>
                                        </p:tav>
                                        <p:tav tm="100000">
                                          <p:val>
                                            <p:strVal val="#ppt_y"/>
                                          </p:val>
                                        </p:tav>
                                      </p:tavLst>
                                    </p:anim>
                                  </p:childTnLst>
                                </p:cTn>
                              </p:par>
                              <p:par>
                                <p:cTn id="22" presetID="42" presetClass="entr" presetSubtype="0" fill="hold" nodeType="withEffect">
                                  <p:stCondLst>
                                    <p:cond delay="258"/>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600"/>
                                        <p:tgtEl>
                                          <p:spTgt spid="5"/>
                                        </p:tgtEl>
                                      </p:cBhvr>
                                    </p:animEffect>
                                    <p:anim calcmode="lin" valueType="num">
                                      <p:cBhvr additive="base">
                                        <p:cTn id="25" dur="600" fill="hold"/>
                                        <p:tgtEl>
                                          <p:spTgt spid="5"/>
                                        </p:tgtEl>
                                        <p:attrNameLst>
                                          <p:attrName>ppt_y</p:attrName>
                                        </p:attrNameLst>
                                      </p:cBhvr>
                                      <p:tavLst>
                                        <p:tav tm="0">
                                          <p:val>
                                            <p:strVal val="#ppt_y+0.05"/>
                                          </p:val>
                                        </p:tav>
                                        <p:tav tm="100000">
                                          <p:val>
                                            <p:strVal val="#ppt_y"/>
                                          </p:val>
                                        </p:tav>
                                      </p:tavLst>
                                    </p:anim>
                                  </p:childTnLst>
                                </p:cTn>
                              </p:par>
                              <p:par>
                                <p:cTn id="28" presetID="42" presetClass="entr" presetSubtype="0" fill="hold" nodeType="withEffect">
                                  <p:stCondLst>
                                    <p:cond delay="387"/>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600"/>
                                        <p:tgtEl>
                                          <p:spTgt spid="6"/>
                                        </p:tgtEl>
                                      </p:cBhvr>
                                    </p:animEffect>
                                    <p:anim calcmode="lin" valueType="num">
                                      <p:cBhvr additive="base">
                                        <p:cTn id="31" dur="600" fill="hold"/>
                                        <p:tgtEl>
                                          <p:spTgt spid="6"/>
                                        </p:tgtEl>
                                        <p:attrNameLst>
                                          <p:attrName>ppt_y</p:attrName>
                                        </p:attrNameLst>
                                      </p:cBhvr>
                                      <p:tavLst>
                                        <p:tav tm="0">
                                          <p:val>
                                            <p:strVal val="#ppt_y+0.05"/>
                                          </p:val>
                                        </p:tav>
                                        <p:tav tm="100000">
                                          <p:val>
                                            <p:strVal val="#ppt_y"/>
                                          </p:val>
                                        </p:tav>
                                      </p:tavLst>
                                    </p:anim>
                                  </p:childTnLst>
                                </p:cTn>
                              </p:par>
                              <p:par>
                                <p:cTn id="34" presetID="42" presetClass="entr" presetSubtype="0" fill="hold" nodeType="withEffect">
                                  <p:stCondLst>
                                    <p:cond delay="516"/>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600"/>
                                        <p:tgtEl>
                                          <p:spTgt spid="7"/>
                                        </p:tgtEl>
                                      </p:cBhvr>
                                    </p:animEffect>
                                    <p:anim calcmode="lin" valueType="num">
                                      <p:cBhvr additive="base">
                                        <p:cTn id="37" dur="600" fill="hold"/>
                                        <p:tgtEl>
                                          <p:spTgt spid="7"/>
                                        </p:tgtEl>
                                        <p:attrNameLst>
                                          <p:attrName>ppt_y</p:attrName>
                                        </p:attrNameLst>
                                      </p:cBhvr>
                                      <p:tavLst>
                                        <p:tav tm="0">
                                          <p:val>
                                            <p:strVal val="#ppt_y+0.05"/>
                                          </p:val>
                                        </p:tav>
                                        <p:tav tm="100000">
                                          <p:val>
                                            <p:strVal val="#ppt_y"/>
                                          </p:val>
                                        </p:tav>
                                      </p:tavLst>
                                    </p:anim>
                                  </p:childTnLst>
                                </p:cTn>
                              </p:par>
                              <p:par>
                                <p:cTn id="40" presetID="42" presetClass="entr" presetSubtype="0" fill="hold" nodeType="withEffect">
                                  <p:stCondLst>
                                    <p:cond delay="645"/>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600"/>
                                        <p:tgtEl>
                                          <p:spTgt spid="8"/>
                                        </p:tgtEl>
                                      </p:cBhvr>
                                    </p:animEffect>
                                    <p:anim calcmode="lin" valueType="num">
                                      <p:cBhvr additive="base">
                                        <p:cTn id="43" dur="600" fill="hold"/>
                                        <p:tgtEl>
                                          <p:spTgt spid="8"/>
                                        </p:tgtEl>
                                        <p:attrNameLst>
                                          <p:attrName>ppt_y</p:attrName>
                                        </p:attrNameLst>
                                      </p:cBhvr>
                                      <p:tavLst>
                                        <p:tav tm="0">
                                          <p:val>
                                            <p:strVal val="#ppt_y+0.05"/>
                                          </p:val>
                                        </p:tav>
                                        <p:tav tm="100000">
                                          <p:val>
                                            <p:strVal val="#ppt_y"/>
                                          </p:val>
                                        </p:tav>
                                      </p:tavLst>
                                    </p:anim>
                                  </p:childTnLst>
                                </p:cTn>
                              </p:par>
                              <p:par>
                                <p:cTn id="46" presetID="42" presetClass="entr" presetSubtype="0" fill="hold" nodeType="withEffect">
                                  <p:stCondLst>
                                    <p:cond delay="774"/>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600"/>
                                        <p:tgtEl>
                                          <p:spTgt spid="9"/>
                                        </p:tgtEl>
                                      </p:cBhvr>
                                    </p:animEffect>
                                    <p:anim calcmode="lin" valueType="num">
                                      <p:cBhvr additive="base">
                                        <p:cTn id="49" dur="600" fill="hold"/>
                                        <p:tgtEl>
                                          <p:spTgt spid="9"/>
                                        </p:tgtEl>
                                        <p:attrNameLst>
                                          <p:attrName>ppt_y</p:attrName>
                                        </p:attrNameLst>
                                      </p:cBhvr>
                                      <p:tavLst>
                                        <p:tav tm="0">
                                          <p:val>
                                            <p:strVal val="#ppt_y+0.05"/>
                                          </p:val>
                                        </p:tav>
                                        <p:tav tm="100000">
                                          <p:val>
                                            <p:strVal val="#ppt_y"/>
                                          </p:val>
                                        </p:tav>
                                      </p:tavLst>
                                    </p:anim>
                                  </p:childTnLst>
                                </p:cTn>
                              </p:par>
                              <p:par>
                                <p:cTn id="52" presetID="42" presetClass="entr" presetSubtype="0" fill="hold" nodeType="withEffect">
                                  <p:stCondLst>
                                    <p:cond delay="903"/>
                                  </p:stCondLst>
                                  <p:childTnLst>
                                    <p:set>
                                      <p:cBhvr>
                                        <p:cTn id="53" dur="1" fill="hold">
                                          <p:stCondLst>
                                            <p:cond delay="0"/>
                                          </p:stCondLst>
                                        </p:cTn>
                                        <p:tgtEl>
                                          <p:spTgt spid="10"/>
                                        </p:tgtEl>
                                        <p:attrNameLst>
                                          <p:attrName>style.visibility</p:attrName>
                                        </p:attrNameLst>
                                      </p:cBhvr>
                                      <p:to>
                                        <p:strVal val="visible"/>
                                      </p:to>
                                    </p:set>
                                    <p:animEffect transition="in" filter="fade">
                                      <p:cBhvr>
                                        <p:cTn id="54" dur="600"/>
                                        <p:tgtEl>
                                          <p:spTgt spid="10"/>
                                        </p:tgtEl>
                                      </p:cBhvr>
                                    </p:animEffect>
                                    <p:anim calcmode="lin" valueType="num">
                                      <p:cBhvr additive="base">
                                        <p:cTn id="55" dur="600" fill="hold"/>
                                        <p:tgtEl>
                                          <p:spTgt spid="10"/>
                                        </p:tgtEl>
                                        <p:attrNameLst>
                                          <p:attrName>ppt_y</p:attrName>
                                        </p:attrNameLst>
                                      </p:cBhvr>
                                      <p:tavLst>
                                        <p:tav tm="0">
                                          <p:val>
                                            <p:strVal val="#ppt_y+0.05"/>
                                          </p:val>
                                        </p:tav>
                                        <p:tav tm="100000">
                                          <p:val>
                                            <p:strVal val="#ppt_y"/>
                                          </p:val>
                                        </p:tav>
                                      </p:tavLst>
                                    </p:anim>
                                  </p:childTnLst>
                                </p:cTn>
                              </p:par>
                              <p:par>
                                <p:cTn id="58" presetID="42" presetClass="entr" presetSubtype="0" fill="hold" nodeType="withEffect">
                                  <p:stCondLst>
                                    <p:cond delay="1032"/>
                                  </p:stCondLst>
                                  <p:childTnLst>
                                    <p:set>
                                      <p:cBhvr>
                                        <p:cTn id="59" dur="1" fill="hold">
                                          <p:stCondLst>
                                            <p:cond delay="0"/>
                                          </p:stCondLst>
                                        </p:cTn>
                                        <p:tgtEl>
                                          <p:spTgt spid="11"/>
                                        </p:tgtEl>
                                        <p:attrNameLst>
                                          <p:attrName>style.visibility</p:attrName>
                                        </p:attrNameLst>
                                      </p:cBhvr>
                                      <p:to>
                                        <p:strVal val="visible"/>
                                      </p:to>
                                    </p:set>
                                    <p:animEffect transition="in" filter="fade">
                                      <p:cBhvr>
                                        <p:cTn id="60" dur="600"/>
                                        <p:tgtEl>
                                          <p:spTgt spid="11"/>
                                        </p:tgtEl>
                                      </p:cBhvr>
                                    </p:animEffect>
                                    <p:anim calcmode="lin" valueType="num">
                                      <p:cBhvr additive="base">
                                        <p:cTn id="61" dur="600" fill="hold"/>
                                        <p:tgtEl>
                                          <p:spTgt spid="11"/>
                                        </p:tgtEl>
                                        <p:attrNameLst>
                                          <p:attrName>ppt_y</p:attrName>
                                        </p:attrNameLst>
                                      </p:cBhvr>
                                      <p:tavLst>
                                        <p:tav tm="0">
                                          <p:val>
                                            <p:strVal val="#ppt_y+0.05"/>
                                          </p:val>
                                        </p:tav>
                                        <p:tav tm="100000">
                                          <p:val>
                                            <p:strVal val="#ppt_y"/>
                                          </p:val>
                                        </p:tav>
                                      </p:tavLst>
                                    </p:anim>
                                  </p:childTnLst>
                                </p:cTn>
                              </p:par>
                              <p:par>
                                <p:cTn id="64" presetID="42" presetClass="entr" presetSubtype="0" fill="hold" nodeType="withEffect">
                                  <p:stCondLst>
                                    <p:cond delay="1161"/>
                                  </p:stCondLst>
                                  <p:childTnLst>
                                    <p:set>
                                      <p:cBhvr>
                                        <p:cTn id="65" dur="1" fill="hold">
                                          <p:stCondLst>
                                            <p:cond delay="0"/>
                                          </p:stCondLst>
                                        </p:cTn>
                                        <p:tgtEl>
                                          <p:spTgt spid="12"/>
                                        </p:tgtEl>
                                        <p:attrNameLst>
                                          <p:attrName>style.visibility</p:attrName>
                                        </p:attrNameLst>
                                      </p:cBhvr>
                                      <p:to>
                                        <p:strVal val="visible"/>
                                      </p:to>
                                    </p:set>
                                    <p:animEffect transition="in" filter="fade">
                                      <p:cBhvr>
                                        <p:cTn id="66" dur="600"/>
                                        <p:tgtEl>
                                          <p:spTgt spid="12"/>
                                        </p:tgtEl>
                                      </p:cBhvr>
                                    </p:animEffect>
                                    <p:anim calcmode="lin" valueType="num">
                                      <p:cBhvr additive="base">
                                        <p:cTn id="67" dur="600" fill="hold"/>
                                        <p:tgtEl>
                                          <p:spTgt spid="12"/>
                                        </p:tgtEl>
                                        <p:attrNameLst>
                                          <p:attrName>ppt_y</p:attrName>
                                        </p:attrNameLst>
                                      </p:cBhvr>
                                      <p:tavLst>
                                        <p:tav tm="0">
                                          <p:val>
                                            <p:strVal val="#ppt_y+0.05"/>
                                          </p:val>
                                        </p:tav>
                                        <p:tav tm="100000">
                                          <p:val>
                                            <p:strVal val="#ppt_y"/>
                                          </p:val>
                                        </p:tav>
                                      </p:tavLst>
                                    </p:anim>
                                  </p:childTnLst>
                                </p:cTn>
                              </p:par>
                              <p:par>
                                <p:cTn id="70" presetID="42" presetClass="entr" presetSubtype="0" fill="hold" nodeType="withEffect">
                                  <p:stCondLst>
                                    <p:cond delay="1290"/>
                                  </p:stCondLst>
                                  <p:childTnLst>
                                    <p:set>
                                      <p:cBhvr>
                                        <p:cTn id="71" dur="1" fill="hold">
                                          <p:stCondLst>
                                            <p:cond delay="0"/>
                                          </p:stCondLst>
                                        </p:cTn>
                                        <p:tgtEl>
                                          <p:spTgt spid="13"/>
                                        </p:tgtEl>
                                        <p:attrNameLst>
                                          <p:attrName>style.visibility</p:attrName>
                                        </p:attrNameLst>
                                      </p:cBhvr>
                                      <p:to>
                                        <p:strVal val="visible"/>
                                      </p:to>
                                    </p:set>
                                    <p:animEffect transition="in" filter="fade">
                                      <p:cBhvr>
                                        <p:cTn id="72" dur="600"/>
                                        <p:tgtEl>
                                          <p:spTgt spid="13"/>
                                        </p:tgtEl>
                                      </p:cBhvr>
                                    </p:animEffect>
                                    <p:anim calcmode="lin" valueType="num">
                                      <p:cBhvr additive="base">
                                        <p:cTn id="73" dur="600" fill="hold"/>
                                        <p:tgtEl>
                                          <p:spTgt spid="13"/>
                                        </p:tgtEl>
                                        <p:attrNameLst>
                                          <p:attrName>ppt_y</p:attrName>
                                        </p:attrNameLst>
                                      </p:cBhvr>
                                      <p:tavLst>
                                        <p:tav tm="0">
                                          <p:val>
                                            <p:strVal val="#ppt_y+0.05"/>
                                          </p:val>
                                        </p:tav>
                                        <p:tav tm="100000">
                                          <p:val>
                                            <p:strVal val="#ppt_y"/>
                                          </p:val>
                                        </p:tav>
                                      </p:tavLst>
                                    </p:anim>
                                  </p:childTnLst>
                                </p:cTn>
                              </p:par>
                              <p:par>
                                <p:cTn id="76" presetID="42" presetClass="entr" presetSubtype="0" fill="hold" nodeType="withEffect">
                                  <p:stCondLst>
                                    <p:cond delay="1419"/>
                                  </p:stCondLst>
                                  <p:childTnLst>
                                    <p:set>
                                      <p:cBhvr>
                                        <p:cTn id="77" dur="1" fill="hold">
                                          <p:stCondLst>
                                            <p:cond delay="0"/>
                                          </p:stCondLst>
                                        </p:cTn>
                                        <p:tgtEl>
                                          <p:spTgt spid="14"/>
                                        </p:tgtEl>
                                        <p:attrNameLst>
                                          <p:attrName>style.visibility</p:attrName>
                                        </p:attrNameLst>
                                      </p:cBhvr>
                                      <p:to>
                                        <p:strVal val="visible"/>
                                      </p:to>
                                    </p:set>
                                    <p:animEffect transition="in" filter="fade">
                                      <p:cBhvr>
                                        <p:cTn id="78" dur="600"/>
                                        <p:tgtEl>
                                          <p:spTgt spid="14"/>
                                        </p:tgtEl>
                                      </p:cBhvr>
                                    </p:animEffect>
                                    <p:anim calcmode="lin" valueType="num">
                                      <p:cBhvr additive="base">
                                        <p:cTn id="79" dur="600" fill="hold"/>
                                        <p:tgtEl>
                                          <p:spTgt spid="14"/>
                                        </p:tgtEl>
                                        <p:attrNameLst>
                                          <p:attrName>ppt_y</p:attrName>
                                        </p:attrNameLst>
                                      </p:cBhvr>
                                      <p:tavLst>
                                        <p:tav tm="0">
                                          <p:val>
                                            <p:strVal val="#ppt_y+0.05"/>
                                          </p:val>
                                        </p:tav>
                                        <p:tav tm="100000">
                                          <p:val>
                                            <p:strVal val="#ppt_y"/>
                                          </p:val>
                                        </p:tav>
                                      </p:tavLst>
                                    </p:anim>
                                  </p:childTnLst>
                                </p:cTn>
                              </p:par>
                              <p:par>
                                <p:cTn id="82" presetID="42" presetClass="entr" presetSubtype="0" fill="hold" nodeType="withEffect">
                                  <p:stCondLst>
                                    <p:cond delay="1548"/>
                                  </p:stCondLst>
                                  <p:childTnLst>
                                    <p:set>
                                      <p:cBhvr>
                                        <p:cTn id="83" dur="1" fill="hold">
                                          <p:stCondLst>
                                            <p:cond delay="0"/>
                                          </p:stCondLst>
                                        </p:cTn>
                                        <p:tgtEl>
                                          <p:spTgt spid="15"/>
                                        </p:tgtEl>
                                        <p:attrNameLst>
                                          <p:attrName>style.visibility</p:attrName>
                                        </p:attrNameLst>
                                      </p:cBhvr>
                                      <p:to>
                                        <p:strVal val="visible"/>
                                      </p:to>
                                    </p:set>
                                    <p:animEffect transition="in" filter="fade">
                                      <p:cBhvr>
                                        <p:cTn id="84" dur="600"/>
                                        <p:tgtEl>
                                          <p:spTgt spid="15"/>
                                        </p:tgtEl>
                                      </p:cBhvr>
                                    </p:animEffect>
                                    <p:anim calcmode="lin" valueType="num">
                                      <p:cBhvr additive="base">
                                        <p:cTn id="85" dur="600" fill="hold"/>
                                        <p:tgtEl>
                                          <p:spTgt spid="15"/>
                                        </p:tgtEl>
                                        <p:attrNameLst>
                                          <p:attrName>ppt_y</p:attrName>
                                        </p:attrNameLst>
                                      </p:cBhvr>
                                      <p:tavLst>
                                        <p:tav tm="0">
                                          <p:val>
                                            <p:strVal val="#ppt_y+0.05"/>
                                          </p:val>
                                        </p:tav>
                                        <p:tav tm="100000">
                                          <p:val>
                                            <p:strVal val="#ppt_y"/>
                                          </p:val>
                                        </p:tav>
                                      </p:tavLst>
                                    </p:anim>
                                  </p:childTnLst>
                                </p:cTn>
                              </p:par>
                              <p:par>
                                <p:cTn id="88" presetID="42" presetClass="entr" presetSubtype="0" fill="hold" nodeType="withEffect">
                                  <p:stCondLst>
                                    <p:cond delay="1677"/>
                                  </p:stCondLst>
                                  <p:childTnLst>
                                    <p:set>
                                      <p:cBhvr>
                                        <p:cTn id="89" dur="1" fill="hold">
                                          <p:stCondLst>
                                            <p:cond delay="0"/>
                                          </p:stCondLst>
                                        </p:cTn>
                                        <p:tgtEl>
                                          <p:spTgt spid="16"/>
                                        </p:tgtEl>
                                        <p:attrNameLst>
                                          <p:attrName>style.visibility</p:attrName>
                                        </p:attrNameLst>
                                      </p:cBhvr>
                                      <p:to>
                                        <p:strVal val="visible"/>
                                      </p:to>
                                    </p:set>
                                    <p:animEffect transition="in" filter="fade">
                                      <p:cBhvr>
                                        <p:cTn id="90" dur="600"/>
                                        <p:tgtEl>
                                          <p:spTgt spid="16"/>
                                        </p:tgtEl>
                                      </p:cBhvr>
                                    </p:animEffect>
                                    <p:anim calcmode="lin" valueType="num">
                                      <p:cBhvr additive="base">
                                        <p:cTn id="91" dur="600" fill="hold"/>
                                        <p:tgtEl>
                                          <p:spTgt spid="16"/>
                                        </p:tgtEl>
                                        <p:attrNameLst>
                                          <p:attrName>ppt_y</p:attrName>
                                        </p:attrNameLst>
                                      </p:cBhvr>
                                      <p:tavLst>
                                        <p:tav tm="0">
                                          <p:val>
                                            <p:strVal val="#ppt_y+0.05"/>
                                          </p:val>
                                        </p:tav>
                                        <p:tav tm="100000">
                                          <p:val>
                                            <p:strVal val="#ppt_y"/>
                                          </p:val>
                                        </p:tav>
                                      </p:tavLst>
                                    </p:anim>
                                  </p:childTnLst>
                                </p:cTn>
                              </p:par>
                              <p:par>
                                <p:cTn id="94" presetID="42" presetClass="entr" presetSubtype="0" fill="hold" nodeType="withEffect">
                                  <p:stCondLst>
                                    <p:cond delay="1806"/>
                                  </p:stCondLst>
                                  <p:childTnLst>
                                    <p:set>
                                      <p:cBhvr>
                                        <p:cTn id="95" dur="1" fill="hold">
                                          <p:stCondLst>
                                            <p:cond delay="0"/>
                                          </p:stCondLst>
                                        </p:cTn>
                                        <p:tgtEl>
                                          <p:spTgt spid="17"/>
                                        </p:tgtEl>
                                        <p:attrNameLst>
                                          <p:attrName>style.visibility</p:attrName>
                                        </p:attrNameLst>
                                      </p:cBhvr>
                                      <p:to>
                                        <p:strVal val="visible"/>
                                      </p:to>
                                    </p:set>
                                    <p:animEffect transition="in" filter="fade">
                                      <p:cBhvr>
                                        <p:cTn id="96" dur="600"/>
                                        <p:tgtEl>
                                          <p:spTgt spid="17"/>
                                        </p:tgtEl>
                                      </p:cBhvr>
                                    </p:animEffect>
                                    <p:anim calcmode="lin" valueType="num">
                                      <p:cBhvr additive="base">
                                        <p:cTn id="97" dur="600" fill="hold"/>
                                        <p:tgtEl>
                                          <p:spTgt spid="17"/>
                                        </p:tgtEl>
                                        <p:attrNameLst>
                                          <p:attrName>ppt_y</p:attrName>
                                        </p:attrNameLst>
                                      </p:cBhvr>
                                      <p:tavLst>
                                        <p:tav tm="0">
                                          <p:val>
                                            <p:strVal val="#ppt_y+0.05"/>
                                          </p:val>
                                        </p:tav>
                                        <p:tav tm="100000">
                                          <p:val>
                                            <p:strVal val="#ppt_y"/>
                                          </p:val>
                                        </p:tav>
                                      </p:tavLst>
                                    </p:anim>
                                  </p:childTnLst>
                                </p:cTn>
                              </p:par>
                              <p:par>
                                <p:cTn id="100" presetID="42" presetClass="entr" presetSubtype="0" fill="hold" nodeType="withEffect">
                                  <p:stCondLst>
                                    <p:cond delay="1935"/>
                                  </p:stCondLst>
                                  <p:childTnLst>
                                    <p:set>
                                      <p:cBhvr>
                                        <p:cTn id="101" dur="1" fill="hold">
                                          <p:stCondLst>
                                            <p:cond delay="0"/>
                                          </p:stCondLst>
                                        </p:cTn>
                                        <p:tgtEl>
                                          <p:spTgt spid="18"/>
                                        </p:tgtEl>
                                        <p:attrNameLst>
                                          <p:attrName>style.visibility</p:attrName>
                                        </p:attrNameLst>
                                      </p:cBhvr>
                                      <p:to>
                                        <p:strVal val="visible"/>
                                      </p:to>
                                    </p:set>
                                    <p:animEffect transition="in" filter="fade">
                                      <p:cBhvr>
                                        <p:cTn id="102" dur="600"/>
                                        <p:tgtEl>
                                          <p:spTgt spid="18"/>
                                        </p:tgtEl>
                                      </p:cBhvr>
                                    </p:animEffect>
                                    <p:anim calcmode="lin" valueType="num">
                                      <p:cBhvr additive="base">
                                        <p:cTn id="103" dur="600" fill="hold"/>
                                        <p:tgtEl>
                                          <p:spTgt spid="18"/>
                                        </p:tgtEl>
                                        <p:attrNameLst>
                                          <p:attrName>ppt_y</p:attrName>
                                        </p:attrNameLst>
                                      </p:cBhvr>
                                      <p:tavLst>
                                        <p:tav tm="0">
                                          <p:val>
                                            <p:strVal val="#ppt_y+0.05"/>
                                          </p:val>
                                        </p:tav>
                                        <p:tav tm="100000">
                                          <p:val>
                                            <p:strVal val="#ppt_y"/>
                                          </p:val>
                                        </p:tav>
                                      </p:tavLst>
                                    </p:anim>
                                  </p:childTnLst>
                                </p:cTn>
                              </p:par>
                              <p:par>
                                <p:cTn id="106" presetID="42" presetClass="entr" presetSubtype="0" fill="hold" nodeType="withEffect">
                                  <p:stCondLst>
                                    <p:cond delay="2064"/>
                                  </p:stCondLst>
                                  <p:childTnLst>
                                    <p:set>
                                      <p:cBhvr>
                                        <p:cTn id="107" dur="1" fill="hold">
                                          <p:stCondLst>
                                            <p:cond delay="0"/>
                                          </p:stCondLst>
                                        </p:cTn>
                                        <p:tgtEl>
                                          <p:spTgt spid="25"/>
                                        </p:tgtEl>
                                        <p:attrNameLst>
                                          <p:attrName>style.visibility</p:attrName>
                                        </p:attrNameLst>
                                      </p:cBhvr>
                                      <p:to>
                                        <p:strVal val="visible"/>
                                      </p:to>
                                    </p:set>
                                    <p:animEffect transition="in" filter="fade">
                                      <p:cBhvr>
                                        <p:cTn id="108" dur="600"/>
                                        <p:tgtEl>
                                          <p:spTgt spid="25"/>
                                        </p:tgtEl>
                                      </p:cBhvr>
                                    </p:animEffect>
                                    <p:anim calcmode="lin" valueType="num">
                                      <p:cBhvr additive="base">
                                        <p:cTn id="109" dur="600" fill="hold"/>
                                        <p:tgtEl>
                                          <p:spTgt spid="25"/>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Finding 4: discounts are common, coupons are rare</a:t>
            </a:r>
            <a:endParaRPr lang="en-US" sz="3000" dirty="0"/>
          </a:p>
        </p:txBody>
      </p:sp>
      <p:graphicFrame>
        <p:nvGraphicFramePr>
          <p:cNvPr id="4" name="Chart 0" descr=""/>
          <p:cNvGraphicFramePr/>
          <p:nvPr/>
        </p:nvGraphicFramePr>
        <p:xfrm>
          <a:off x="548640" y="1371600"/>
          <a:ext cx="5120640" cy="4754880"/>
        </p:xfrm>
        <a:graphic xmlns:a="http://schemas.openxmlformats.org/drawingml/2006/main">
          <a:graphicData uri="http://schemas.openxmlformats.org/drawingml/2006/chart">
            <c:chart xmlns:c="http://schemas.openxmlformats.org/drawingml/2006/chart" r:id="rId1"/>
          </a:graphicData>
        </a:graphic>
      </p:graphicFrame>
      <p:sp>
        <p:nvSpPr>
          <p:cNvPr id="5" name="stat card"/>
          <p:cNvSpPr/>
          <p:nvPr/>
        </p:nvSpPr>
        <p:spPr>
          <a:xfrm>
            <a:off x="5943600" y="1371600"/>
            <a:ext cx="2743200" cy="1325880"/>
          </a:xfrm>
          <a:prstGeom prst="roundRect">
            <a:avLst>
              <a:gd name="adj" fmla="val 8276"/>
            </a:avLst>
          </a:prstGeom>
          <a:solidFill>
            <a:srgbClr val="EEF2F6"/>
          </a:solidFill>
          <a:ln w="12700">
            <a:solidFill>
              <a:srgbClr val="EEF2F6"/>
            </a:solidFill>
            <a:prstDash val="solid"/>
          </a:ln>
        </p:spPr>
      </p:sp>
      <p:sp>
        <p:nvSpPr>
          <p:cNvPr id="6" name="Text 2"/>
          <p:cNvSpPr txBox="1"/>
          <p:nvPr/>
        </p:nvSpPr>
        <p:spPr>
          <a:xfrm>
            <a:off x="6126480" y="1481328"/>
            <a:ext cx="2377440" cy="685800"/>
          </a:xfrm>
          <a:prstGeom prst="rect">
            <a:avLst/>
          </a:prstGeom>
          <a:noFill/>
          <a:ln/>
        </p:spPr>
        <p:txBody>
          <a:bodyPr wrap="square" lIns="0" tIns="0" rIns="0" bIns="0" rtlCol="0" anchor="ctr"/>
          <a:lstStyle/>
          <a:p>
            <a:pPr indent="0" marL="0">
              <a:buNone/>
            </a:pPr>
            <a:r>
              <a:rPr lang="en-US" sz="3600" b="1" dirty="0">
                <a:solidFill>
                  <a:srgbClr val="FF9900"/>
                </a:solidFill>
                <a:latin typeface="Cambria" pitchFamily="34" charset="0"/>
                <a:ea typeface="Cambria" pitchFamily="34" charset="-122"/>
                <a:cs typeface="Cambria" pitchFamily="34" charset="-120"/>
              </a:rPr>
              <a:t>20.8%</a:t>
            </a:r>
            <a:endParaRPr lang="en-US" sz="3600" dirty="0"/>
          </a:p>
        </p:txBody>
      </p:sp>
      <p:sp>
        <p:nvSpPr>
          <p:cNvPr id="7" name="Text 3"/>
          <p:cNvSpPr txBox="1"/>
          <p:nvPr/>
        </p:nvSpPr>
        <p:spPr>
          <a:xfrm>
            <a:off x="6126480" y="2176272"/>
            <a:ext cx="2377440" cy="457200"/>
          </a:xfrm>
          <a:prstGeom prst="rect">
            <a:avLst/>
          </a:prstGeom>
          <a:noFill/>
          <a:ln/>
        </p:spPr>
        <p:txBody>
          <a:bodyPr wrap="square" lIns="0" tIns="0" rIns="0" bIns="0" rtlCol="0" anchor="t"/>
          <a:lstStyle/>
          <a:p>
            <a:pPr indent="0" marL="0">
              <a:buNone/>
            </a:pPr>
            <a:r>
              <a:rPr lang="en-US" sz="1300" dirty="0">
                <a:solidFill>
                  <a:srgbClr val="5B6B7D"/>
                </a:solidFill>
                <a:latin typeface="Calibri" pitchFamily="34" charset="0"/>
                <a:ea typeface="Calibri" pitchFamily="34" charset="-122"/>
                <a:cs typeface="Calibri" pitchFamily="34" charset="-120"/>
              </a:rPr>
              <a:t>average discount (median 15.5%, max 75%)</a:t>
            </a:r>
            <a:endParaRPr lang="en-US" sz="1300" dirty="0"/>
          </a:p>
        </p:txBody>
      </p:sp>
      <p:sp>
        <p:nvSpPr>
          <p:cNvPr id="8" name="stat card"/>
          <p:cNvSpPr/>
          <p:nvPr/>
        </p:nvSpPr>
        <p:spPr>
          <a:xfrm>
            <a:off x="8897112" y="1371600"/>
            <a:ext cx="2743200" cy="1325880"/>
          </a:xfrm>
          <a:prstGeom prst="roundRect">
            <a:avLst>
              <a:gd name="adj" fmla="val 8276"/>
            </a:avLst>
          </a:prstGeom>
          <a:solidFill>
            <a:srgbClr val="EEF2F6"/>
          </a:solidFill>
          <a:ln w="12700">
            <a:solidFill>
              <a:srgbClr val="EEF2F6"/>
            </a:solidFill>
            <a:prstDash val="solid"/>
          </a:ln>
        </p:spPr>
      </p:sp>
      <p:sp>
        <p:nvSpPr>
          <p:cNvPr id="9" name="Text 5"/>
          <p:cNvSpPr txBox="1"/>
          <p:nvPr/>
        </p:nvSpPr>
        <p:spPr>
          <a:xfrm>
            <a:off x="9079992" y="1481328"/>
            <a:ext cx="2377440" cy="685800"/>
          </a:xfrm>
          <a:prstGeom prst="rect">
            <a:avLst/>
          </a:prstGeom>
          <a:noFill/>
          <a:ln/>
        </p:spPr>
        <p:txBody>
          <a:bodyPr wrap="square" lIns="0" tIns="0" rIns="0" bIns="0" rtlCol="0" anchor="ctr"/>
          <a:lstStyle/>
          <a:p>
            <a:pPr indent="0" marL="0">
              <a:buNone/>
            </a:pPr>
            <a:r>
              <a:rPr lang="en-US" sz="3600" b="1" dirty="0">
                <a:solidFill>
                  <a:srgbClr val="232F3E"/>
                </a:solidFill>
                <a:latin typeface="Cambria" pitchFamily="34" charset="0"/>
                <a:ea typeface="Cambria" pitchFamily="34" charset="-122"/>
                <a:cs typeface="Cambria" pitchFamily="34" charset="-120"/>
              </a:rPr>
              <a:t>22</a:t>
            </a:r>
            <a:endParaRPr lang="en-US" sz="3600" dirty="0"/>
          </a:p>
        </p:txBody>
      </p:sp>
      <p:sp>
        <p:nvSpPr>
          <p:cNvPr id="10" name="Text 6"/>
          <p:cNvSpPr txBox="1"/>
          <p:nvPr/>
        </p:nvSpPr>
        <p:spPr>
          <a:xfrm>
            <a:off x="9079992" y="2176272"/>
            <a:ext cx="2377440" cy="457200"/>
          </a:xfrm>
          <a:prstGeom prst="rect">
            <a:avLst/>
          </a:prstGeom>
          <a:noFill/>
          <a:ln/>
        </p:spPr>
        <p:txBody>
          <a:bodyPr wrap="square" lIns="0" tIns="0" rIns="0" bIns="0" rtlCol="0" anchor="t"/>
          <a:lstStyle/>
          <a:p>
            <a:pPr indent="0" marL="0">
              <a:buNone/>
            </a:pPr>
            <a:r>
              <a:rPr lang="en-US" sz="1300" dirty="0">
                <a:solidFill>
                  <a:srgbClr val="5B6B7D"/>
                </a:solidFill>
                <a:latin typeface="Calibri" pitchFamily="34" charset="0"/>
                <a:ea typeface="Calibri" pitchFamily="34" charset="-122"/>
                <a:cs typeface="Calibri" pitchFamily="34" charset="-120"/>
              </a:rPr>
              <a:t>listings with a coupon (7%)</a:t>
            </a:r>
            <a:endParaRPr lang="en-US" sz="1300" dirty="0"/>
          </a:p>
        </p:txBody>
      </p:sp>
      <p:sp>
        <p:nvSpPr>
          <p:cNvPr id="11" name="stat card"/>
          <p:cNvSpPr/>
          <p:nvPr/>
        </p:nvSpPr>
        <p:spPr>
          <a:xfrm>
            <a:off x="5943600" y="2880360"/>
            <a:ext cx="2743200" cy="1325880"/>
          </a:xfrm>
          <a:prstGeom prst="roundRect">
            <a:avLst>
              <a:gd name="adj" fmla="val 8276"/>
            </a:avLst>
          </a:prstGeom>
          <a:solidFill>
            <a:srgbClr val="EEF2F6"/>
          </a:solidFill>
          <a:ln w="12700">
            <a:solidFill>
              <a:srgbClr val="EEF2F6"/>
            </a:solidFill>
            <a:prstDash val="solid"/>
          </a:ln>
        </p:spPr>
      </p:sp>
      <p:sp>
        <p:nvSpPr>
          <p:cNvPr id="12" name="Text 8"/>
          <p:cNvSpPr txBox="1"/>
          <p:nvPr/>
        </p:nvSpPr>
        <p:spPr>
          <a:xfrm>
            <a:off x="6126480" y="2990088"/>
            <a:ext cx="2377440" cy="685800"/>
          </a:xfrm>
          <a:prstGeom prst="rect">
            <a:avLst/>
          </a:prstGeom>
          <a:noFill/>
          <a:ln/>
        </p:spPr>
        <p:txBody>
          <a:bodyPr wrap="square" lIns="0" tIns="0" rIns="0" bIns="0" rtlCol="0" anchor="ctr"/>
          <a:lstStyle/>
          <a:p>
            <a:pPr indent="0" marL="0">
              <a:buNone/>
            </a:pPr>
            <a:r>
              <a:rPr lang="en-US" sz="3600" b="1" dirty="0">
                <a:solidFill>
                  <a:srgbClr val="D1495B"/>
                </a:solidFill>
                <a:latin typeface="Cambria" pitchFamily="34" charset="0"/>
                <a:ea typeface="Cambria" pitchFamily="34" charset="-122"/>
                <a:cs typeface="Cambria" pitchFamily="34" charset="-120"/>
              </a:rPr>
              <a:t>2</a:t>
            </a:r>
            <a:endParaRPr lang="en-US" sz="3600" dirty="0"/>
          </a:p>
        </p:txBody>
      </p:sp>
      <p:sp>
        <p:nvSpPr>
          <p:cNvPr id="13" name="Text 9"/>
          <p:cNvSpPr txBox="1"/>
          <p:nvPr/>
        </p:nvSpPr>
        <p:spPr>
          <a:xfrm>
            <a:off x="6126480" y="3685032"/>
            <a:ext cx="2377440" cy="457200"/>
          </a:xfrm>
          <a:prstGeom prst="rect">
            <a:avLst/>
          </a:prstGeom>
          <a:noFill/>
          <a:ln/>
        </p:spPr>
        <p:txBody>
          <a:bodyPr wrap="square" lIns="0" tIns="0" rIns="0" bIns="0" rtlCol="0" anchor="t"/>
          <a:lstStyle/>
          <a:p>
            <a:pPr indent="0" marL="0">
              <a:buNone/>
            </a:pPr>
            <a:r>
              <a:rPr lang="en-US" sz="1300" dirty="0">
                <a:solidFill>
                  <a:srgbClr val="5B6B7D"/>
                </a:solidFill>
                <a:latin typeface="Calibri" pitchFamily="34" charset="0"/>
                <a:ea typeface="Calibri" pitchFamily="34" charset="-122"/>
                <a:cs typeface="Calibri" pitchFamily="34" charset="-120"/>
              </a:rPr>
              <a:t>Best Seller listings only: too few to analyse</a:t>
            </a:r>
            <a:endParaRPr lang="en-US" sz="1300" dirty="0"/>
          </a:p>
        </p:txBody>
      </p:sp>
      <p:sp>
        <p:nvSpPr>
          <p:cNvPr id="14" name="stat card"/>
          <p:cNvSpPr/>
          <p:nvPr/>
        </p:nvSpPr>
        <p:spPr>
          <a:xfrm>
            <a:off x="8897112" y="2880360"/>
            <a:ext cx="2743200" cy="1325880"/>
          </a:xfrm>
          <a:prstGeom prst="roundRect">
            <a:avLst>
              <a:gd name="adj" fmla="val 8276"/>
            </a:avLst>
          </a:prstGeom>
          <a:solidFill>
            <a:srgbClr val="EEF2F6"/>
          </a:solidFill>
          <a:ln w="12700">
            <a:solidFill>
              <a:srgbClr val="EEF2F6"/>
            </a:solidFill>
            <a:prstDash val="solid"/>
          </a:ln>
        </p:spPr>
      </p:sp>
      <p:sp>
        <p:nvSpPr>
          <p:cNvPr id="15" name="Text 11"/>
          <p:cNvSpPr txBox="1"/>
          <p:nvPr/>
        </p:nvSpPr>
        <p:spPr>
          <a:xfrm>
            <a:off x="9079992" y="2990088"/>
            <a:ext cx="2377440" cy="685800"/>
          </a:xfrm>
          <a:prstGeom prst="rect">
            <a:avLst/>
          </a:prstGeom>
          <a:noFill/>
          <a:ln/>
        </p:spPr>
        <p:txBody>
          <a:bodyPr wrap="square" lIns="0" tIns="0" rIns="0" bIns="0" rtlCol="0" anchor="ctr"/>
          <a:lstStyle/>
          <a:p>
            <a:pPr indent="0" marL="0">
              <a:buNone/>
            </a:pPr>
            <a:r>
              <a:rPr lang="en-US" sz="2600" b="1" dirty="0">
                <a:solidFill>
                  <a:srgbClr val="232F3E"/>
                </a:solidFill>
                <a:latin typeface="Cambria" pitchFamily="34" charset="0"/>
                <a:ea typeface="Cambria" pitchFamily="34" charset="-122"/>
                <a:cs typeface="Cambria" pitchFamily="34" charset="-120"/>
              </a:rPr>
              <a:t>918 vs 291</a:t>
            </a:r>
            <a:endParaRPr lang="en-US" sz="2600" dirty="0"/>
          </a:p>
        </p:txBody>
      </p:sp>
      <p:sp>
        <p:nvSpPr>
          <p:cNvPr id="16" name="Text 12"/>
          <p:cNvSpPr txBox="1"/>
          <p:nvPr/>
        </p:nvSpPr>
        <p:spPr>
          <a:xfrm>
            <a:off x="9079992" y="3685032"/>
            <a:ext cx="2377440" cy="457200"/>
          </a:xfrm>
          <a:prstGeom prst="rect">
            <a:avLst/>
          </a:prstGeom>
          <a:noFill/>
          <a:ln/>
        </p:spPr>
        <p:txBody>
          <a:bodyPr wrap="square" lIns="0" tIns="0" rIns="0" bIns="0" rtlCol="0" anchor="t"/>
          <a:lstStyle/>
          <a:p>
            <a:pPr indent="0" marL="0">
              <a:buNone/>
            </a:pPr>
            <a:r>
              <a:rPr lang="en-US" sz="1300" dirty="0">
                <a:solidFill>
                  <a:srgbClr val="5B6B7D"/>
                </a:solidFill>
                <a:latin typeface="Calibri" pitchFamily="34" charset="0"/>
                <a:ea typeface="Calibri" pitchFamily="34" charset="-122"/>
                <a:cs typeface="Calibri" pitchFamily="34" charset="-120"/>
              </a:rPr>
              <a:t>median ratings count: discounted vs not</a:t>
            </a:r>
            <a:endParaRPr lang="en-US" sz="1300" dirty="0"/>
          </a:p>
        </p:txBody>
      </p:sp>
      <p:sp>
        <p:nvSpPr>
          <p:cNvPr id="17" name="insight card"/>
          <p:cNvSpPr/>
          <p:nvPr/>
        </p:nvSpPr>
        <p:spPr>
          <a:xfrm>
            <a:off x="5943600" y="4389120"/>
            <a:ext cx="5696712" cy="1645920"/>
          </a:xfrm>
          <a:prstGeom prst="roundRect">
            <a:avLst>
              <a:gd name="adj" fmla="val 6667"/>
            </a:avLst>
          </a:prstGeom>
          <a:solidFill>
            <a:srgbClr val="232F3E"/>
          </a:solidFill>
          <a:ln w="12700">
            <a:solidFill>
              <a:srgbClr val="232F3E"/>
            </a:solidFill>
            <a:prstDash val="solid"/>
          </a:ln>
        </p:spPr>
      </p:sp>
      <p:sp>
        <p:nvSpPr>
          <p:cNvPr id="18" name="Text 14"/>
          <p:cNvSpPr txBox="1"/>
          <p:nvPr/>
        </p:nvSpPr>
        <p:spPr>
          <a:xfrm>
            <a:off x="6126480" y="4480560"/>
            <a:ext cx="5349240" cy="14630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Discounted listings carry more customer ratings, but this is an association only: popular products may simply be discounted more often. Nothing here proves discounts cause more reviews.</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42"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600"/>
                                        <p:tgtEl>
                                          <p:spTgt spid="2"/>
                                        </p:tgtEl>
                                      </p:cBhvr>
                                    </p:animEffect>
                                    <p:anim calcmode="lin" valueType="num">
                                      <p:cBhvr additive="base">
                                        <p:cTn id="13" dur="600" fill="hold"/>
                                        <p:tgtEl>
                                          <p:spTgt spid="2"/>
                                        </p:tgtEl>
                                        <p:attrNameLst>
                                          <p:attrName>ppt_y</p:attrName>
                                        </p:attrNameLst>
                                      </p:cBhvr>
                                      <p:tavLst>
                                        <p:tav tm="0">
                                          <p:val>
                                            <p:strVal val="#ppt_y+0.05"/>
                                          </p:val>
                                        </p:tav>
                                        <p:tav tm="100000">
                                          <p:val>
                                            <p:strVal val="#ppt_y"/>
                                          </p:val>
                                        </p:tav>
                                      </p:tavLst>
                                    </p:anim>
                                  </p:childTnLst>
                                </p:cTn>
                              </p:par>
                              <p:par>
                                <p:cTn id="16" presetID="42" presetClass="entr" presetSubtype="0" fill="hold" nodeType="withEffect">
                                  <p:stCondLst>
                                    <p:cond delay="129"/>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600"/>
                                        <p:tgtEl>
                                          <p:spTgt spid="4"/>
                                        </p:tgtEl>
                                      </p:cBhvr>
                                    </p:animEffect>
                                    <p:anim calcmode="lin" valueType="num">
                                      <p:cBhvr additive="base">
                                        <p:cTn id="19" dur="600" fill="hold"/>
                                        <p:tgtEl>
                                          <p:spTgt spid="4"/>
                                        </p:tgtEl>
                                        <p:attrNameLst>
                                          <p:attrName>ppt_y</p:attrName>
                                        </p:attrNameLst>
                                      </p:cBhvr>
                                      <p:tavLst>
                                        <p:tav tm="0">
                                          <p:val>
                                            <p:strVal val="#ppt_y+0.05"/>
                                          </p:val>
                                        </p:tav>
                                        <p:tav tm="100000">
                                          <p:val>
                                            <p:strVal val="#ppt_y"/>
                                          </p:val>
                                        </p:tav>
                                      </p:tavLst>
                                    </p:anim>
                                  </p:childTnLst>
                                </p:cTn>
                              </p:par>
                              <p:par>
                                <p:cTn id="22" presetID="42" presetClass="entr" presetSubtype="0" fill="hold" nodeType="withEffect">
                                  <p:stCondLst>
                                    <p:cond delay="258"/>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600"/>
                                        <p:tgtEl>
                                          <p:spTgt spid="5"/>
                                        </p:tgtEl>
                                      </p:cBhvr>
                                    </p:animEffect>
                                    <p:anim calcmode="lin" valueType="num">
                                      <p:cBhvr additive="base">
                                        <p:cTn id="25" dur="600" fill="hold"/>
                                        <p:tgtEl>
                                          <p:spTgt spid="5"/>
                                        </p:tgtEl>
                                        <p:attrNameLst>
                                          <p:attrName>ppt_y</p:attrName>
                                        </p:attrNameLst>
                                      </p:cBhvr>
                                      <p:tavLst>
                                        <p:tav tm="0">
                                          <p:val>
                                            <p:strVal val="#ppt_y+0.05"/>
                                          </p:val>
                                        </p:tav>
                                        <p:tav tm="100000">
                                          <p:val>
                                            <p:strVal val="#ppt_y"/>
                                          </p:val>
                                        </p:tav>
                                      </p:tavLst>
                                    </p:anim>
                                  </p:childTnLst>
                                </p:cTn>
                              </p:par>
                              <p:par>
                                <p:cTn id="28" presetID="42" presetClass="entr" presetSubtype="0" fill="hold" nodeType="withEffect">
                                  <p:stCondLst>
                                    <p:cond delay="387"/>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600"/>
                                        <p:tgtEl>
                                          <p:spTgt spid="6"/>
                                        </p:tgtEl>
                                      </p:cBhvr>
                                    </p:animEffect>
                                    <p:anim calcmode="lin" valueType="num">
                                      <p:cBhvr additive="base">
                                        <p:cTn id="31" dur="600" fill="hold"/>
                                        <p:tgtEl>
                                          <p:spTgt spid="6"/>
                                        </p:tgtEl>
                                        <p:attrNameLst>
                                          <p:attrName>ppt_y</p:attrName>
                                        </p:attrNameLst>
                                      </p:cBhvr>
                                      <p:tavLst>
                                        <p:tav tm="0">
                                          <p:val>
                                            <p:strVal val="#ppt_y+0.05"/>
                                          </p:val>
                                        </p:tav>
                                        <p:tav tm="100000">
                                          <p:val>
                                            <p:strVal val="#ppt_y"/>
                                          </p:val>
                                        </p:tav>
                                      </p:tavLst>
                                    </p:anim>
                                  </p:childTnLst>
                                </p:cTn>
                              </p:par>
                              <p:par>
                                <p:cTn id="34" presetID="42" presetClass="entr" presetSubtype="0" fill="hold" nodeType="withEffect">
                                  <p:stCondLst>
                                    <p:cond delay="516"/>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600"/>
                                        <p:tgtEl>
                                          <p:spTgt spid="7"/>
                                        </p:tgtEl>
                                      </p:cBhvr>
                                    </p:animEffect>
                                    <p:anim calcmode="lin" valueType="num">
                                      <p:cBhvr additive="base">
                                        <p:cTn id="37" dur="600" fill="hold"/>
                                        <p:tgtEl>
                                          <p:spTgt spid="7"/>
                                        </p:tgtEl>
                                        <p:attrNameLst>
                                          <p:attrName>ppt_y</p:attrName>
                                        </p:attrNameLst>
                                      </p:cBhvr>
                                      <p:tavLst>
                                        <p:tav tm="0">
                                          <p:val>
                                            <p:strVal val="#ppt_y+0.05"/>
                                          </p:val>
                                        </p:tav>
                                        <p:tav tm="100000">
                                          <p:val>
                                            <p:strVal val="#ppt_y"/>
                                          </p:val>
                                        </p:tav>
                                      </p:tavLst>
                                    </p:anim>
                                  </p:childTnLst>
                                </p:cTn>
                              </p:par>
                              <p:par>
                                <p:cTn id="40" presetID="42" presetClass="entr" presetSubtype="0" fill="hold" nodeType="withEffect">
                                  <p:stCondLst>
                                    <p:cond delay="645"/>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600"/>
                                        <p:tgtEl>
                                          <p:spTgt spid="8"/>
                                        </p:tgtEl>
                                      </p:cBhvr>
                                    </p:animEffect>
                                    <p:anim calcmode="lin" valueType="num">
                                      <p:cBhvr additive="base">
                                        <p:cTn id="43" dur="600" fill="hold"/>
                                        <p:tgtEl>
                                          <p:spTgt spid="8"/>
                                        </p:tgtEl>
                                        <p:attrNameLst>
                                          <p:attrName>ppt_y</p:attrName>
                                        </p:attrNameLst>
                                      </p:cBhvr>
                                      <p:tavLst>
                                        <p:tav tm="0">
                                          <p:val>
                                            <p:strVal val="#ppt_y+0.05"/>
                                          </p:val>
                                        </p:tav>
                                        <p:tav tm="100000">
                                          <p:val>
                                            <p:strVal val="#ppt_y"/>
                                          </p:val>
                                        </p:tav>
                                      </p:tavLst>
                                    </p:anim>
                                  </p:childTnLst>
                                </p:cTn>
                              </p:par>
                              <p:par>
                                <p:cTn id="46" presetID="42" presetClass="entr" presetSubtype="0" fill="hold" nodeType="withEffect">
                                  <p:stCondLst>
                                    <p:cond delay="774"/>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600"/>
                                        <p:tgtEl>
                                          <p:spTgt spid="9"/>
                                        </p:tgtEl>
                                      </p:cBhvr>
                                    </p:animEffect>
                                    <p:anim calcmode="lin" valueType="num">
                                      <p:cBhvr additive="base">
                                        <p:cTn id="49" dur="600" fill="hold"/>
                                        <p:tgtEl>
                                          <p:spTgt spid="9"/>
                                        </p:tgtEl>
                                        <p:attrNameLst>
                                          <p:attrName>ppt_y</p:attrName>
                                        </p:attrNameLst>
                                      </p:cBhvr>
                                      <p:tavLst>
                                        <p:tav tm="0">
                                          <p:val>
                                            <p:strVal val="#ppt_y+0.05"/>
                                          </p:val>
                                        </p:tav>
                                        <p:tav tm="100000">
                                          <p:val>
                                            <p:strVal val="#ppt_y"/>
                                          </p:val>
                                        </p:tav>
                                      </p:tavLst>
                                    </p:anim>
                                  </p:childTnLst>
                                </p:cTn>
                              </p:par>
                              <p:par>
                                <p:cTn id="52" presetID="42" presetClass="entr" presetSubtype="0" fill="hold" nodeType="withEffect">
                                  <p:stCondLst>
                                    <p:cond delay="903"/>
                                  </p:stCondLst>
                                  <p:childTnLst>
                                    <p:set>
                                      <p:cBhvr>
                                        <p:cTn id="53" dur="1" fill="hold">
                                          <p:stCondLst>
                                            <p:cond delay="0"/>
                                          </p:stCondLst>
                                        </p:cTn>
                                        <p:tgtEl>
                                          <p:spTgt spid="10"/>
                                        </p:tgtEl>
                                        <p:attrNameLst>
                                          <p:attrName>style.visibility</p:attrName>
                                        </p:attrNameLst>
                                      </p:cBhvr>
                                      <p:to>
                                        <p:strVal val="visible"/>
                                      </p:to>
                                    </p:set>
                                    <p:animEffect transition="in" filter="fade">
                                      <p:cBhvr>
                                        <p:cTn id="54" dur="600"/>
                                        <p:tgtEl>
                                          <p:spTgt spid="10"/>
                                        </p:tgtEl>
                                      </p:cBhvr>
                                    </p:animEffect>
                                    <p:anim calcmode="lin" valueType="num">
                                      <p:cBhvr additive="base">
                                        <p:cTn id="55" dur="600" fill="hold"/>
                                        <p:tgtEl>
                                          <p:spTgt spid="10"/>
                                        </p:tgtEl>
                                        <p:attrNameLst>
                                          <p:attrName>ppt_y</p:attrName>
                                        </p:attrNameLst>
                                      </p:cBhvr>
                                      <p:tavLst>
                                        <p:tav tm="0">
                                          <p:val>
                                            <p:strVal val="#ppt_y+0.05"/>
                                          </p:val>
                                        </p:tav>
                                        <p:tav tm="100000">
                                          <p:val>
                                            <p:strVal val="#ppt_y"/>
                                          </p:val>
                                        </p:tav>
                                      </p:tavLst>
                                    </p:anim>
                                  </p:childTnLst>
                                </p:cTn>
                              </p:par>
                              <p:par>
                                <p:cTn id="58" presetID="42" presetClass="entr" presetSubtype="0" fill="hold" nodeType="withEffect">
                                  <p:stCondLst>
                                    <p:cond delay="1032"/>
                                  </p:stCondLst>
                                  <p:childTnLst>
                                    <p:set>
                                      <p:cBhvr>
                                        <p:cTn id="59" dur="1" fill="hold">
                                          <p:stCondLst>
                                            <p:cond delay="0"/>
                                          </p:stCondLst>
                                        </p:cTn>
                                        <p:tgtEl>
                                          <p:spTgt spid="11"/>
                                        </p:tgtEl>
                                        <p:attrNameLst>
                                          <p:attrName>style.visibility</p:attrName>
                                        </p:attrNameLst>
                                      </p:cBhvr>
                                      <p:to>
                                        <p:strVal val="visible"/>
                                      </p:to>
                                    </p:set>
                                    <p:animEffect transition="in" filter="fade">
                                      <p:cBhvr>
                                        <p:cTn id="60" dur="600"/>
                                        <p:tgtEl>
                                          <p:spTgt spid="11"/>
                                        </p:tgtEl>
                                      </p:cBhvr>
                                    </p:animEffect>
                                    <p:anim calcmode="lin" valueType="num">
                                      <p:cBhvr additive="base">
                                        <p:cTn id="61" dur="600" fill="hold"/>
                                        <p:tgtEl>
                                          <p:spTgt spid="11"/>
                                        </p:tgtEl>
                                        <p:attrNameLst>
                                          <p:attrName>ppt_y</p:attrName>
                                        </p:attrNameLst>
                                      </p:cBhvr>
                                      <p:tavLst>
                                        <p:tav tm="0">
                                          <p:val>
                                            <p:strVal val="#ppt_y+0.05"/>
                                          </p:val>
                                        </p:tav>
                                        <p:tav tm="100000">
                                          <p:val>
                                            <p:strVal val="#ppt_y"/>
                                          </p:val>
                                        </p:tav>
                                      </p:tavLst>
                                    </p:anim>
                                  </p:childTnLst>
                                </p:cTn>
                              </p:par>
                              <p:par>
                                <p:cTn id="64" presetID="42" presetClass="entr" presetSubtype="0" fill="hold" nodeType="withEffect">
                                  <p:stCondLst>
                                    <p:cond delay="1161"/>
                                  </p:stCondLst>
                                  <p:childTnLst>
                                    <p:set>
                                      <p:cBhvr>
                                        <p:cTn id="65" dur="1" fill="hold">
                                          <p:stCondLst>
                                            <p:cond delay="0"/>
                                          </p:stCondLst>
                                        </p:cTn>
                                        <p:tgtEl>
                                          <p:spTgt spid="12"/>
                                        </p:tgtEl>
                                        <p:attrNameLst>
                                          <p:attrName>style.visibility</p:attrName>
                                        </p:attrNameLst>
                                      </p:cBhvr>
                                      <p:to>
                                        <p:strVal val="visible"/>
                                      </p:to>
                                    </p:set>
                                    <p:animEffect transition="in" filter="fade">
                                      <p:cBhvr>
                                        <p:cTn id="66" dur="600"/>
                                        <p:tgtEl>
                                          <p:spTgt spid="12"/>
                                        </p:tgtEl>
                                      </p:cBhvr>
                                    </p:animEffect>
                                    <p:anim calcmode="lin" valueType="num">
                                      <p:cBhvr additive="base">
                                        <p:cTn id="67" dur="600" fill="hold"/>
                                        <p:tgtEl>
                                          <p:spTgt spid="12"/>
                                        </p:tgtEl>
                                        <p:attrNameLst>
                                          <p:attrName>ppt_y</p:attrName>
                                        </p:attrNameLst>
                                      </p:cBhvr>
                                      <p:tavLst>
                                        <p:tav tm="0">
                                          <p:val>
                                            <p:strVal val="#ppt_y+0.05"/>
                                          </p:val>
                                        </p:tav>
                                        <p:tav tm="100000">
                                          <p:val>
                                            <p:strVal val="#ppt_y"/>
                                          </p:val>
                                        </p:tav>
                                      </p:tavLst>
                                    </p:anim>
                                  </p:childTnLst>
                                </p:cTn>
                              </p:par>
                              <p:par>
                                <p:cTn id="70" presetID="42" presetClass="entr" presetSubtype="0" fill="hold" nodeType="withEffect">
                                  <p:stCondLst>
                                    <p:cond delay="1290"/>
                                  </p:stCondLst>
                                  <p:childTnLst>
                                    <p:set>
                                      <p:cBhvr>
                                        <p:cTn id="71" dur="1" fill="hold">
                                          <p:stCondLst>
                                            <p:cond delay="0"/>
                                          </p:stCondLst>
                                        </p:cTn>
                                        <p:tgtEl>
                                          <p:spTgt spid="13"/>
                                        </p:tgtEl>
                                        <p:attrNameLst>
                                          <p:attrName>style.visibility</p:attrName>
                                        </p:attrNameLst>
                                      </p:cBhvr>
                                      <p:to>
                                        <p:strVal val="visible"/>
                                      </p:to>
                                    </p:set>
                                    <p:animEffect transition="in" filter="fade">
                                      <p:cBhvr>
                                        <p:cTn id="72" dur="600"/>
                                        <p:tgtEl>
                                          <p:spTgt spid="13"/>
                                        </p:tgtEl>
                                      </p:cBhvr>
                                    </p:animEffect>
                                    <p:anim calcmode="lin" valueType="num">
                                      <p:cBhvr additive="base">
                                        <p:cTn id="73" dur="600" fill="hold"/>
                                        <p:tgtEl>
                                          <p:spTgt spid="13"/>
                                        </p:tgtEl>
                                        <p:attrNameLst>
                                          <p:attrName>ppt_y</p:attrName>
                                        </p:attrNameLst>
                                      </p:cBhvr>
                                      <p:tavLst>
                                        <p:tav tm="0">
                                          <p:val>
                                            <p:strVal val="#ppt_y+0.05"/>
                                          </p:val>
                                        </p:tav>
                                        <p:tav tm="100000">
                                          <p:val>
                                            <p:strVal val="#ppt_y"/>
                                          </p:val>
                                        </p:tav>
                                      </p:tavLst>
                                    </p:anim>
                                  </p:childTnLst>
                                </p:cTn>
                              </p:par>
                              <p:par>
                                <p:cTn id="76" presetID="42" presetClass="entr" presetSubtype="0" fill="hold" nodeType="withEffect">
                                  <p:stCondLst>
                                    <p:cond delay="1419"/>
                                  </p:stCondLst>
                                  <p:childTnLst>
                                    <p:set>
                                      <p:cBhvr>
                                        <p:cTn id="77" dur="1" fill="hold">
                                          <p:stCondLst>
                                            <p:cond delay="0"/>
                                          </p:stCondLst>
                                        </p:cTn>
                                        <p:tgtEl>
                                          <p:spTgt spid="14"/>
                                        </p:tgtEl>
                                        <p:attrNameLst>
                                          <p:attrName>style.visibility</p:attrName>
                                        </p:attrNameLst>
                                      </p:cBhvr>
                                      <p:to>
                                        <p:strVal val="visible"/>
                                      </p:to>
                                    </p:set>
                                    <p:animEffect transition="in" filter="fade">
                                      <p:cBhvr>
                                        <p:cTn id="78" dur="600"/>
                                        <p:tgtEl>
                                          <p:spTgt spid="14"/>
                                        </p:tgtEl>
                                      </p:cBhvr>
                                    </p:animEffect>
                                    <p:anim calcmode="lin" valueType="num">
                                      <p:cBhvr additive="base">
                                        <p:cTn id="79" dur="600" fill="hold"/>
                                        <p:tgtEl>
                                          <p:spTgt spid="14"/>
                                        </p:tgtEl>
                                        <p:attrNameLst>
                                          <p:attrName>ppt_y</p:attrName>
                                        </p:attrNameLst>
                                      </p:cBhvr>
                                      <p:tavLst>
                                        <p:tav tm="0">
                                          <p:val>
                                            <p:strVal val="#ppt_y+0.05"/>
                                          </p:val>
                                        </p:tav>
                                        <p:tav tm="100000">
                                          <p:val>
                                            <p:strVal val="#ppt_y"/>
                                          </p:val>
                                        </p:tav>
                                      </p:tavLst>
                                    </p:anim>
                                  </p:childTnLst>
                                </p:cTn>
                              </p:par>
                              <p:par>
                                <p:cTn id="82" presetID="42" presetClass="entr" presetSubtype="0" fill="hold" nodeType="withEffect">
                                  <p:stCondLst>
                                    <p:cond delay="1548"/>
                                  </p:stCondLst>
                                  <p:childTnLst>
                                    <p:set>
                                      <p:cBhvr>
                                        <p:cTn id="83" dur="1" fill="hold">
                                          <p:stCondLst>
                                            <p:cond delay="0"/>
                                          </p:stCondLst>
                                        </p:cTn>
                                        <p:tgtEl>
                                          <p:spTgt spid="15"/>
                                        </p:tgtEl>
                                        <p:attrNameLst>
                                          <p:attrName>style.visibility</p:attrName>
                                        </p:attrNameLst>
                                      </p:cBhvr>
                                      <p:to>
                                        <p:strVal val="visible"/>
                                      </p:to>
                                    </p:set>
                                    <p:animEffect transition="in" filter="fade">
                                      <p:cBhvr>
                                        <p:cTn id="84" dur="600"/>
                                        <p:tgtEl>
                                          <p:spTgt spid="15"/>
                                        </p:tgtEl>
                                      </p:cBhvr>
                                    </p:animEffect>
                                    <p:anim calcmode="lin" valueType="num">
                                      <p:cBhvr additive="base">
                                        <p:cTn id="85" dur="600" fill="hold"/>
                                        <p:tgtEl>
                                          <p:spTgt spid="15"/>
                                        </p:tgtEl>
                                        <p:attrNameLst>
                                          <p:attrName>ppt_y</p:attrName>
                                        </p:attrNameLst>
                                      </p:cBhvr>
                                      <p:tavLst>
                                        <p:tav tm="0">
                                          <p:val>
                                            <p:strVal val="#ppt_y+0.05"/>
                                          </p:val>
                                        </p:tav>
                                        <p:tav tm="100000">
                                          <p:val>
                                            <p:strVal val="#ppt_y"/>
                                          </p:val>
                                        </p:tav>
                                      </p:tavLst>
                                    </p:anim>
                                  </p:childTnLst>
                                </p:cTn>
                              </p:par>
                              <p:par>
                                <p:cTn id="88" presetID="42" presetClass="entr" presetSubtype="0" fill="hold" nodeType="withEffect">
                                  <p:stCondLst>
                                    <p:cond delay="1677"/>
                                  </p:stCondLst>
                                  <p:childTnLst>
                                    <p:set>
                                      <p:cBhvr>
                                        <p:cTn id="89" dur="1" fill="hold">
                                          <p:stCondLst>
                                            <p:cond delay="0"/>
                                          </p:stCondLst>
                                        </p:cTn>
                                        <p:tgtEl>
                                          <p:spTgt spid="16"/>
                                        </p:tgtEl>
                                        <p:attrNameLst>
                                          <p:attrName>style.visibility</p:attrName>
                                        </p:attrNameLst>
                                      </p:cBhvr>
                                      <p:to>
                                        <p:strVal val="visible"/>
                                      </p:to>
                                    </p:set>
                                    <p:animEffect transition="in" filter="fade">
                                      <p:cBhvr>
                                        <p:cTn id="90" dur="600"/>
                                        <p:tgtEl>
                                          <p:spTgt spid="16"/>
                                        </p:tgtEl>
                                      </p:cBhvr>
                                    </p:animEffect>
                                    <p:anim calcmode="lin" valueType="num">
                                      <p:cBhvr additive="base">
                                        <p:cTn id="91" dur="600" fill="hold"/>
                                        <p:tgtEl>
                                          <p:spTgt spid="16"/>
                                        </p:tgtEl>
                                        <p:attrNameLst>
                                          <p:attrName>ppt_y</p:attrName>
                                        </p:attrNameLst>
                                      </p:cBhvr>
                                      <p:tavLst>
                                        <p:tav tm="0">
                                          <p:val>
                                            <p:strVal val="#ppt_y+0.05"/>
                                          </p:val>
                                        </p:tav>
                                        <p:tav tm="100000">
                                          <p:val>
                                            <p:strVal val="#ppt_y"/>
                                          </p:val>
                                        </p:tav>
                                      </p:tavLst>
                                    </p:anim>
                                  </p:childTnLst>
                                </p:cTn>
                              </p:par>
                              <p:par>
                                <p:cTn id="94" presetID="42" presetClass="entr" presetSubtype="0" fill="hold" nodeType="withEffect">
                                  <p:stCondLst>
                                    <p:cond delay="1806"/>
                                  </p:stCondLst>
                                  <p:childTnLst>
                                    <p:set>
                                      <p:cBhvr>
                                        <p:cTn id="95" dur="1" fill="hold">
                                          <p:stCondLst>
                                            <p:cond delay="0"/>
                                          </p:stCondLst>
                                        </p:cTn>
                                        <p:tgtEl>
                                          <p:spTgt spid="17"/>
                                        </p:tgtEl>
                                        <p:attrNameLst>
                                          <p:attrName>style.visibility</p:attrName>
                                        </p:attrNameLst>
                                      </p:cBhvr>
                                      <p:to>
                                        <p:strVal val="visible"/>
                                      </p:to>
                                    </p:set>
                                    <p:animEffect transition="in" filter="fade">
                                      <p:cBhvr>
                                        <p:cTn id="96" dur="600"/>
                                        <p:tgtEl>
                                          <p:spTgt spid="17"/>
                                        </p:tgtEl>
                                      </p:cBhvr>
                                    </p:animEffect>
                                    <p:anim calcmode="lin" valueType="num">
                                      <p:cBhvr additive="base">
                                        <p:cTn id="97" dur="600" fill="hold"/>
                                        <p:tgtEl>
                                          <p:spTgt spid="17"/>
                                        </p:tgtEl>
                                        <p:attrNameLst>
                                          <p:attrName>ppt_y</p:attrName>
                                        </p:attrNameLst>
                                      </p:cBhvr>
                                      <p:tavLst>
                                        <p:tav tm="0">
                                          <p:val>
                                            <p:strVal val="#ppt_y+0.05"/>
                                          </p:val>
                                        </p:tav>
                                        <p:tav tm="100000">
                                          <p:val>
                                            <p:strVal val="#ppt_y"/>
                                          </p:val>
                                        </p:tav>
                                      </p:tavLst>
                                    </p:anim>
                                  </p:childTnLst>
                                </p:cTn>
                              </p:par>
                              <p:par>
                                <p:cTn id="100" presetID="42" presetClass="entr" presetSubtype="0" fill="hold" nodeType="withEffect">
                                  <p:stCondLst>
                                    <p:cond delay="1935"/>
                                  </p:stCondLst>
                                  <p:childTnLst>
                                    <p:set>
                                      <p:cBhvr>
                                        <p:cTn id="101" dur="1" fill="hold">
                                          <p:stCondLst>
                                            <p:cond delay="0"/>
                                          </p:stCondLst>
                                        </p:cTn>
                                        <p:tgtEl>
                                          <p:spTgt spid="18"/>
                                        </p:tgtEl>
                                        <p:attrNameLst>
                                          <p:attrName>style.visibility</p:attrName>
                                        </p:attrNameLst>
                                      </p:cBhvr>
                                      <p:to>
                                        <p:strVal val="visible"/>
                                      </p:to>
                                    </p:set>
                                    <p:animEffect transition="in" filter="fade">
                                      <p:cBhvr>
                                        <p:cTn id="102" dur="600"/>
                                        <p:tgtEl>
                                          <p:spTgt spid="18"/>
                                        </p:tgtEl>
                                      </p:cBhvr>
                                    </p:animEffect>
                                    <p:anim calcmode="lin" valueType="num">
                                      <p:cBhvr additive="base">
                                        <p:cTn id="103" dur="600" fill="hold"/>
                                        <p:tgtEl>
                                          <p:spTgt spid="18"/>
                                        </p:tgtEl>
                                        <p:attrNameLst>
                                          <p:attrName>ppt_y</p:attrName>
                                        </p:attrNameLst>
                                      </p:cBhvr>
                                      <p:tavLst>
                                        <p:tav tm="0">
                                          <p:val>
                                            <p:strVal val="#ppt_y+0.05"/>
                                          </p:val>
                                        </p:tav>
                                        <p:tav tm="100000">
                                          <p:val>
                                            <p:strVal val="#ppt_y"/>
                                          </p:val>
                                        </p:tav>
                                      </p:tavLst>
                                    </p:anim>
                                  </p:childTnLst>
                                </p:cTn>
                              </p:par>
                              <p:par>
                                <p:cTn id="106" presetID="42" presetClass="entr" presetSubtype="0" fill="hold" nodeType="withEffect">
                                  <p:stCondLst>
                                    <p:cond delay="2064"/>
                                  </p:stCondLst>
                                  <p:childTnLst>
                                    <p:set>
                                      <p:cBhvr>
                                        <p:cTn id="107" dur="1" fill="hold">
                                          <p:stCondLst>
                                            <p:cond delay="0"/>
                                          </p:stCondLst>
                                        </p:cTn>
                                        <p:tgtEl>
                                          <p:spTgt spid="25"/>
                                        </p:tgtEl>
                                        <p:attrNameLst>
                                          <p:attrName>style.visibility</p:attrName>
                                        </p:attrNameLst>
                                      </p:cBhvr>
                                      <p:to>
                                        <p:strVal val="visible"/>
                                      </p:to>
                                    </p:set>
                                    <p:animEffect transition="in" filter="fade">
                                      <p:cBhvr>
                                        <p:cTn id="108" dur="600"/>
                                        <p:tgtEl>
                                          <p:spTgt spid="25"/>
                                        </p:tgtEl>
                                      </p:cBhvr>
                                    </p:animEffect>
                                    <p:anim calcmode="lin" valueType="num">
                                      <p:cBhvr additive="base">
                                        <p:cTn id="109" dur="600" fill="hold"/>
                                        <p:tgtEl>
                                          <p:spTgt spid="25"/>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Conclusions and recommendations</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377440"/>
                <a:gridCol w="3291840"/>
                <a:gridCol w="5422392"/>
              </a:tblGrid>
              <a:tr h="4572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Observation</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232F3E"/>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Evidence</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232F3E"/>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Recommendation</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232F3E"/>
                    </a:solidFill>
                  </a:tcPr>
                </a:tc>
              </a:tr>
              <a:tr h="777240">
                <a:tc>
                  <a:txBody>
                    <a:bodyPr/>
                    <a:lstStyle/>
                    <a:p>
                      <a:pPr indent="0" marL="0">
                        <a:buNone/>
                      </a:pPr>
                      <a:r>
                        <a:rPr lang="en-US" sz="1500" b="1" dirty="0">
                          <a:solidFill>
                            <a:srgbClr val="232F3E"/>
                          </a:solidFill>
                          <a:latin typeface="Calibri" pitchFamily="34" charset="0"/>
                          <a:ea typeface="Calibri" pitchFamily="34" charset="-122"/>
                          <a:cs typeface="Calibri" pitchFamily="34" charset="-120"/>
                        </a:rPr>
                        <a:t>Budget-heavy market</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2F6"/>
                    </a:solidFill>
                  </a:tcPr>
                </a:tc>
                <a:tc>
                  <a:txBody>
                    <a:bodyPr/>
                    <a:lstStyle/>
                    <a:p>
                      <a:pPr indent="0" marL="0">
                        <a:buNone/>
                      </a:pPr>
                      <a:r>
                        <a:rPr lang="en-US" sz="1500" dirty="0">
                          <a:solidFill>
                            <a:srgbClr val="131A22"/>
                          </a:solidFill>
                          <a:latin typeface="Calibri" pitchFamily="34" charset="0"/>
                          <a:ea typeface="Calibri" pitchFamily="34" charset="-122"/>
                          <a:cs typeface="Calibri" pitchFamily="34" charset="-120"/>
                        </a:rPr>
                        <a:t>86% of listings under $300; median $114</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2F6"/>
                    </a:solidFill>
                  </a:tcPr>
                </a:tc>
                <a:tc>
                  <a:txBody>
                    <a:bodyPr/>
                    <a:lstStyle/>
                    <a:p>
                      <a:pPr indent="0" marL="0">
                        <a:buNone/>
                      </a:pPr>
                      <a:r>
                        <a:rPr lang="en-US" sz="1500" dirty="0">
                          <a:solidFill>
                            <a:srgbClr val="131A22"/>
                          </a:solidFill>
                          <a:latin typeface="Calibri" pitchFamily="34" charset="0"/>
                          <a:ea typeface="Calibri" pitchFamily="34" charset="-122"/>
                          <a:cs typeface="Calibri" pitchFamily="34" charset="-120"/>
                        </a:rPr>
                        <a:t>Focus assortment and pricing on the $100–299 band; in the under-$100 band (lowest rating, 4.00) prioritise quality control.</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2F6"/>
                    </a:solidFill>
                  </a:tcPr>
                </a:tc>
              </a:tr>
              <a:tr h="777240">
                <a:tc>
                  <a:txBody>
                    <a:bodyPr/>
                    <a:lstStyle/>
                    <a:p>
                      <a:pPr indent="0" marL="0">
                        <a:buNone/>
                      </a:pPr>
                      <a:r>
                        <a:rPr lang="en-US" sz="1500" b="1" dirty="0">
                          <a:solidFill>
                            <a:srgbClr val="232F3E"/>
                          </a:solidFill>
                          <a:latin typeface="Calibri" pitchFamily="34" charset="0"/>
                          <a:ea typeface="Calibri" pitchFamily="34" charset="-122"/>
                          <a:cs typeface="Calibri" pitchFamily="34" charset="-120"/>
                        </a:rPr>
                        <a:t>Prime is the baseline</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rgbClr val="131A22"/>
                          </a:solidFill>
                          <a:latin typeface="Calibri" pitchFamily="34" charset="0"/>
                          <a:ea typeface="Calibri" pitchFamily="34" charset="-122"/>
                          <a:cs typeface="Calibri" pitchFamily="34" charset="-120"/>
                        </a:rPr>
                        <a:t>72% Prime; ratings 4.09 vs 4.07</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rgbClr val="131A22"/>
                          </a:solidFill>
                          <a:latin typeface="Calibri" pitchFamily="34" charset="0"/>
                          <a:ea typeface="Calibri" pitchFamily="34" charset="-122"/>
                          <a:cs typeface="Calibri" pitchFamily="34" charset="-120"/>
                        </a:rPr>
                        <a:t>Treat Prime as a must-have for eligibility, not as a reason for customers to rate higher; compete on quality and price.</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777240">
                <a:tc>
                  <a:txBody>
                    <a:bodyPr/>
                    <a:lstStyle/>
                    <a:p>
                      <a:pPr indent="0" marL="0">
                        <a:buNone/>
                      </a:pPr>
                      <a:r>
                        <a:rPr lang="en-US" sz="1500" b="1" dirty="0">
                          <a:solidFill>
                            <a:srgbClr val="232F3E"/>
                          </a:solidFill>
                          <a:latin typeface="Calibri" pitchFamily="34" charset="0"/>
                          <a:ea typeface="Calibri" pitchFamily="34" charset="-122"/>
                          <a:cs typeface="Calibri" pitchFamily="34" charset="-120"/>
                        </a:rPr>
                        <a:t>Promotions under-used</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2F6"/>
                    </a:solidFill>
                  </a:tcPr>
                </a:tc>
                <a:tc>
                  <a:txBody>
                    <a:bodyPr/>
                    <a:lstStyle/>
                    <a:p>
                      <a:pPr indent="0" marL="0">
                        <a:buNone/>
                      </a:pPr>
                      <a:r>
                        <a:rPr lang="en-US" sz="1500" dirty="0">
                          <a:solidFill>
                            <a:srgbClr val="131A22"/>
                          </a:solidFill>
                          <a:latin typeface="Calibri" pitchFamily="34" charset="0"/>
                          <a:ea typeface="Calibri" pitchFamily="34" charset="-122"/>
                          <a:cs typeface="Calibri" pitchFamily="34" charset="-120"/>
                        </a:rPr>
                        <a:t>44% discounted; only 7% have coupons</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2F6"/>
                    </a:solidFill>
                  </a:tcPr>
                </a:tc>
                <a:tc>
                  <a:txBody>
                    <a:bodyPr/>
                    <a:lstStyle/>
                    <a:p>
                      <a:pPr indent="0" marL="0">
                        <a:buNone/>
                      </a:pPr>
                      <a:r>
                        <a:rPr lang="en-US" sz="1500" dirty="0">
                          <a:solidFill>
                            <a:srgbClr val="131A22"/>
                          </a:solidFill>
                          <a:latin typeface="Calibri" pitchFamily="34" charset="0"/>
                          <a:ea typeface="Calibri" pitchFamily="34" charset="-122"/>
                          <a:cs typeface="Calibri" pitchFamily="34" charset="-120"/>
                        </a:rPr>
                        <a:t>Test coupons on listings with no discount as a low-cost lever, and track results over time.</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2F6"/>
                    </a:solidFill>
                  </a:tcPr>
                </a:tc>
              </a:tr>
              <a:tr h="777240">
                <a:tc>
                  <a:txBody>
                    <a:bodyPr/>
                    <a:lstStyle/>
                    <a:p>
                      <a:pPr indent="0" marL="0">
                        <a:buNone/>
                      </a:pPr>
                      <a:r>
                        <a:rPr lang="en-US" sz="1500" b="1" dirty="0">
                          <a:solidFill>
                            <a:srgbClr val="232F3E"/>
                          </a:solidFill>
                          <a:latin typeface="Calibri" pitchFamily="34" charset="0"/>
                          <a:ea typeface="Calibri" pitchFamily="34" charset="-122"/>
                          <a:cs typeface="Calibri" pitchFamily="34" charset="-120"/>
                        </a:rPr>
                        <a:t>Messy search scope</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rgbClr val="131A22"/>
                          </a:solidFill>
                          <a:latin typeface="Calibri" pitchFamily="34" charset="0"/>
                          <a:ea typeface="Calibri" pitchFamily="34" charset="-122"/>
                          <a:cs typeface="Calibri" pitchFamily="34" charset="-120"/>
                        </a:rPr>
                        <a:t>26% of rows are not mobile phones</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rgbClr val="131A22"/>
                          </a:solidFill>
                          <a:latin typeface="Calibri" pitchFamily="34" charset="0"/>
                          <a:ea typeface="Calibri" pitchFamily="34" charset="-122"/>
                          <a:cs typeface="Calibri" pitchFamily="34" charset="-120"/>
                        </a:rPr>
                        <a:t>Filter by product type before benchmarking prices or picking “top” products.</a:t>
                      </a:r>
                      <a:endParaRPr lang="en-US" sz="1500" dirty="0">
                        <a:latin typeface="Calibri" charset="0"/>
                        <a:ea typeface="Calibri" charset="0"/>
                        <a:cs typeface="Calibri" charset="0"/>
                      </a:endParaRPr>
                    </a:p>
                  </a:txBody>
                  <a:tcPr marL="109728" marR="109728" marT="73152" marB="7315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bl>
          </a:graphicData>
        </a:graphic>
      </p:graphicFrame>
      <p:sp>
        <p:nvSpPr>
          <p:cNvPr id="5" name="bottom line"/>
          <p:cNvSpPr/>
          <p:nvPr/>
        </p:nvSpPr>
        <p:spPr>
          <a:xfrm>
            <a:off x="548640" y="5349240"/>
            <a:ext cx="11091672" cy="777240"/>
          </a:xfrm>
          <a:prstGeom prst="roundRect">
            <a:avLst>
              <a:gd name="adj" fmla="val 14118"/>
            </a:avLst>
          </a:prstGeom>
          <a:solidFill>
            <a:srgbClr val="232F3E"/>
          </a:solidFill>
          <a:ln w="12700">
            <a:solidFill>
              <a:srgbClr val="232F3E"/>
            </a:solidFill>
            <a:prstDash val="solid"/>
          </a:ln>
        </p:spPr>
      </p:sp>
      <p:sp>
        <p:nvSpPr>
          <p:cNvPr id="6" name="Text 2"/>
          <p:cNvSpPr txBox="1"/>
          <p:nvPr/>
        </p:nvSpPr>
        <p:spPr>
          <a:xfrm>
            <a:off x="777240" y="5349240"/>
            <a:ext cx="10607040" cy="7772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Bottom line: customers are broadly satisfied (avg 4.08), so growth levers are price positioning and promotions, not Prime status.</a:t>
            </a:r>
            <a:endParaRPr lang="en-US" sz="17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42"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600"/>
                                        <p:tgtEl>
                                          <p:spTgt spid="2"/>
                                        </p:tgtEl>
                                      </p:cBhvr>
                                    </p:animEffect>
                                    <p:anim calcmode="lin" valueType="num">
                                      <p:cBhvr additive="base">
                                        <p:cTn id="13" dur="600" fill="hold"/>
                                        <p:tgtEl>
                                          <p:spTgt spid="2"/>
                                        </p:tgtEl>
                                        <p:attrNameLst>
                                          <p:attrName>ppt_y</p:attrName>
                                        </p:attrNameLst>
                                      </p:cBhvr>
                                      <p:tavLst>
                                        <p:tav tm="0">
                                          <p:val>
                                            <p:strVal val="#ppt_y+0.05"/>
                                          </p:val>
                                        </p:tav>
                                        <p:tav tm="100000">
                                          <p:val>
                                            <p:strVal val="#ppt_y"/>
                                          </p:val>
                                        </p:tav>
                                      </p:tavLst>
                                    </p:anim>
                                  </p:childTnLst>
                                </p:cTn>
                              </p:par>
                              <p:par>
                                <p:cTn id="16" presetID="42" presetClass="entr" presetSubtype="0" fill="hold" nodeType="withEffect">
                                  <p:stCondLst>
                                    <p:cond delay="13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600"/>
                                        <p:tgtEl>
                                          <p:spTgt spid="17"/>
                                        </p:tgtEl>
                                      </p:cBhvr>
                                    </p:animEffect>
                                    <p:anim calcmode="lin" valueType="num">
                                      <p:cBhvr additive="base">
                                        <p:cTn id="19" dur="600" fill="hold"/>
                                        <p:tgtEl>
                                          <p:spTgt spid="17"/>
                                        </p:tgtEl>
                                        <p:attrNameLst>
                                          <p:attrName>ppt_y</p:attrName>
                                        </p:attrNameLst>
                                      </p:cBhvr>
                                      <p:tavLst>
                                        <p:tav tm="0">
                                          <p:val>
                                            <p:strVal val="#ppt_y+0.05"/>
                                          </p:val>
                                        </p:tav>
                                        <p:tav tm="100000">
                                          <p:val>
                                            <p:strVal val="#ppt_y"/>
                                          </p:val>
                                        </p:tav>
                                      </p:tavLst>
                                    </p:anim>
                                  </p:childTnLst>
                                </p:cTn>
                              </p:par>
                              <p:par>
                                <p:cTn id="22" presetID="42" presetClass="entr" presetSubtype="0" fill="hold" nodeType="withEffect">
                                  <p:stCondLst>
                                    <p:cond delay="26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600"/>
                                        <p:tgtEl>
                                          <p:spTgt spid="5"/>
                                        </p:tgtEl>
                                      </p:cBhvr>
                                    </p:animEffect>
                                    <p:anim calcmode="lin" valueType="num">
                                      <p:cBhvr additive="base">
                                        <p:cTn id="25" dur="600" fill="hold"/>
                                        <p:tgtEl>
                                          <p:spTgt spid="5"/>
                                        </p:tgtEl>
                                        <p:attrNameLst>
                                          <p:attrName>ppt_y</p:attrName>
                                        </p:attrNameLst>
                                      </p:cBhvr>
                                      <p:tavLst>
                                        <p:tav tm="0">
                                          <p:val>
                                            <p:strVal val="#ppt_y+0.05"/>
                                          </p:val>
                                        </p:tav>
                                        <p:tav tm="100000">
                                          <p:val>
                                            <p:strVal val="#ppt_y"/>
                                          </p:val>
                                        </p:tav>
                                      </p:tavLst>
                                    </p:anim>
                                  </p:childTnLst>
                                </p:cTn>
                              </p:par>
                              <p:par>
                                <p:cTn id="28" presetID="42" presetClass="entr" presetSubtype="0" fill="hold" nodeType="withEffect">
                                  <p:stCondLst>
                                    <p:cond delay="39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600"/>
                                        <p:tgtEl>
                                          <p:spTgt spid="6"/>
                                        </p:tgtEl>
                                      </p:cBhvr>
                                    </p:animEffect>
                                    <p:anim calcmode="lin" valueType="num">
                                      <p:cBhvr additive="base">
                                        <p:cTn id="31" dur="600" fill="hold"/>
                                        <p:tgtEl>
                                          <p:spTgt spid="6"/>
                                        </p:tgtEl>
                                        <p:attrNameLst>
                                          <p:attrName>ppt_y</p:attrName>
                                        </p:attrNameLst>
                                      </p:cBhvr>
                                      <p:tavLst>
                                        <p:tav tm="0">
                                          <p:val>
                                            <p:strVal val="#ppt_y+0.05"/>
                                          </p:val>
                                        </p:tav>
                                        <p:tav tm="100000">
                                          <p:val>
                                            <p:strVal val="#ppt_y"/>
                                          </p:val>
                                        </p:tav>
                                      </p:tavLst>
                                    </p:anim>
                                  </p:childTnLst>
                                </p:cTn>
                              </p:par>
                              <p:par>
                                <p:cTn id="34" presetID="42" presetClass="entr" presetSubtype="0" fill="hold" nodeType="withEffect">
                                  <p:stCondLst>
                                    <p:cond delay="52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600"/>
                                        <p:tgtEl>
                                          <p:spTgt spid="25"/>
                                        </p:tgtEl>
                                      </p:cBhvr>
                                    </p:animEffect>
                                    <p:anim calcmode="lin" valueType="num">
                                      <p:cBhvr additive="base">
                                        <p:cTn id="37" dur="600" fill="hold"/>
                                        <p:tgtEl>
                                          <p:spTgt spid="25"/>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000" b="1" dirty="0">
                <a:solidFill>
                  <a:srgbClr val="232F3E"/>
                </a:solidFill>
                <a:latin typeface="Cambria" pitchFamily="34" charset="0"/>
                <a:ea typeface="Cambria" pitchFamily="34" charset="-122"/>
                <a:cs typeface="Cambria" pitchFamily="34" charset="-120"/>
              </a:rPr>
              <a:t>Limitations and next steps</a:t>
            </a:r>
            <a:endParaRPr lang="en-US" sz="3000" dirty="0"/>
          </a:p>
        </p:txBody>
      </p:sp>
      <p:sp>
        <p:nvSpPr>
          <p:cNvPr id="4" name="limits card"/>
          <p:cNvSpPr/>
          <p:nvPr/>
        </p:nvSpPr>
        <p:spPr>
          <a:xfrm>
            <a:off x="548640" y="1417320"/>
            <a:ext cx="5440680" cy="4663440"/>
          </a:xfrm>
          <a:prstGeom prst="roundRect">
            <a:avLst>
              <a:gd name="adj" fmla="val 2353"/>
            </a:avLst>
          </a:prstGeom>
          <a:solidFill>
            <a:srgbClr val="EEF2F6"/>
          </a:solidFill>
          <a:ln w="12700">
            <a:solidFill>
              <a:srgbClr val="EEF2F6"/>
            </a:solidFill>
            <a:prstDash val="solid"/>
          </a:ln>
        </p:spPr>
      </p:sp>
      <p:sp>
        <p:nvSpPr>
          <p:cNvPr id="5" name="Text 2"/>
          <p:cNvSpPr txBox="1"/>
          <p:nvPr/>
        </p:nvSpPr>
        <p:spPr>
          <a:xfrm>
            <a:off x="777240" y="1600200"/>
            <a:ext cx="4937760" cy="457200"/>
          </a:xfrm>
          <a:prstGeom prst="rect">
            <a:avLst/>
          </a:prstGeom>
          <a:noFill/>
          <a:ln/>
        </p:spPr>
        <p:txBody>
          <a:bodyPr wrap="square" lIns="0" tIns="0" rIns="0" bIns="0" rtlCol="0" anchor="t"/>
          <a:lstStyle/>
          <a:p>
            <a:pPr indent="0" marL="0">
              <a:buNone/>
            </a:pPr>
            <a:r>
              <a:rPr lang="en-US" sz="2200" b="1" dirty="0">
                <a:solidFill>
                  <a:srgbClr val="D1495B"/>
                </a:solidFill>
                <a:latin typeface="Cambria" pitchFamily="34" charset="0"/>
                <a:ea typeface="Cambria" pitchFamily="34" charset="-122"/>
                <a:cs typeface="Cambria" pitchFamily="34" charset="-120"/>
              </a:rPr>
              <a:t>Limitations</a:t>
            </a:r>
            <a:endParaRPr lang="en-US" sz="2200" dirty="0"/>
          </a:p>
        </p:txBody>
      </p:sp>
      <p:sp>
        <p:nvSpPr>
          <p:cNvPr id="6" name="Text 3"/>
          <p:cNvSpPr txBox="1"/>
          <p:nvPr/>
        </p:nvSpPr>
        <p:spPr>
          <a:xfrm>
            <a:off x="777240" y="2240280"/>
            <a:ext cx="4983480" cy="365760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131A22"/>
                </a:solidFill>
                <a:latin typeface="Calibri" pitchFamily="34" charset="0"/>
                <a:ea typeface="Calibri" pitchFamily="34" charset="-122"/>
                <a:cs typeface="Calibri" pitchFamily="34" charset="-120"/>
              </a:rPr>
              <a:t>sales_volume_num is a rounded display-text proxy (274 valid values), not verified sales</a:t>
            </a:r>
            <a:endParaRPr lang="en-US" sz="1800" dirty="0"/>
          </a:p>
          <a:p>
            <a:pPr marL="342900" indent="-342900">
              <a:spcAft>
                <a:spcPts val="1400"/>
              </a:spcAft>
              <a:buSzPct val="100000"/>
              <a:buChar char="•"/>
            </a:pPr>
            <a:r>
              <a:rPr lang="en-US" sz="1800" dirty="0">
                <a:solidFill>
                  <a:srgbClr val="131A22"/>
                </a:solidFill>
                <a:latin typeface="Calibri" pitchFamily="34" charset="0"/>
                <a:ea typeface="Calibri" pitchFamily="34" charset="-122"/>
                <a:cs typeface="Calibri" pitchFamily="34" charset="-120"/>
              </a:rPr>
              <a:t>One snapshot (about Sep 2024): no time trends</a:t>
            </a:r>
            <a:endParaRPr lang="en-US" sz="1800" dirty="0"/>
          </a:p>
          <a:p>
            <a:pPr marL="342900" indent="-342900">
              <a:spcAft>
                <a:spcPts val="1400"/>
              </a:spcAft>
              <a:buSzPct val="100000"/>
              <a:buChar char="•"/>
            </a:pPr>
            <a:r>
              <a:rPr lang="en-US" sz="1800" dirty="0">
                <a:solidFill>
                  <a:srgbClr val="131A22"/>
                </a:solidFill>
                <a:latin typeface="Calibri" pitchFamily="34" charset="0"/>
                <a:ea typeface="Calibri" pitchFamily="34" charset="-122"/>
                <a:cs typeface="Calibri" pitchFamily="34" charset="-120"/>
              </a:rPr>
              <a:t>A sample of 340 search results, not the whole market</a:t>
            </a:r>
            <a:endParaRPr lang="en-US" sz="1800" dirty="0"/>
          </a:p>
          <a:p>
            <a:pPr marL="342900" indent="-342900">
              <a:spcAft>
                <a:spcPts val="1400"/>
              </a:spcAft>
              <a:buSzPct val="100000"/>
              <a:buChar char="•"/>
            </a:pPr>
            <a:r>
              <a:rPr lang="en-US" sz="1800" dirty="0">
                <a:solidFill>
                  <a:srgbClr val="131A22"/>
                </a:solidFill>
                <a:latin typeface="Calibri" pitchFamily="34" charset="0"/>
                <a:ea typeface="Calibri" pitchFamily="34" charset="-122"/>
                <a:cs typeface="Calibri" pitchFamily="34" charset="-120"/>
              </a:rPr>
              <a:t>Observational data: relationships are not causal</a:t>
            </a:r>
            <a:endParaRPr lang="en-US" sz="1800" dirty="0"/>
          </a:p>
          <a:p>
            <a:pPr marL="342900" indent="-342900">
              <a:spcAft>
                <a:spcPts val="1400"/>
              </a:spcAft>
              <a:buSzPct val="100000"/>
              <a:buChar char="•"/>
            </a:pPr>
            <a:r>
              <a:rPr lang="en-US" sz="1800" dirty="0">
                <a:solidFill>
                  <a:srgbClr val="131A22"/>
                </a:solidFill>
                <a:latin typeface="Calibri" pitchFamily="34" charset="0"/>
                <a:ea typeface="Calibri" pitchFamily="34" charset="-122"/>
                <a:cs typeface="Calibri" pitchFamily="34" charset="-120"/>
              </a:rPr>
              <a:t>Product-type split uses title keywords, so it is approximate</a:t>
            </a:r>
            <a:endParaRPr lang="en-US" sz="1800" dirty="0"/>
          </a:p>
        </p:txBody>
      </p:sp>
      <p:sp>
        <p:nvSpPr>
          <p:cNvPr id="7" name="next steps card"/>
          <p:cNvSpPr/>
          <p:nvPr/>
        </p:nvSpPr>
        <p:spPr>
          <a:xfrm>
            <a:off x="6199632" y="1417320"/>
            <a:ext cx="5440680" cy="4663440"/>
          </a:xfrm>
          <a:prstGeom prst="roundRect">
            <a:avLst>
              <a:gd name="adj" fmla="val 2353"/>
            </a:avLst>
          </a:prstGeom>
          <a:solidFill>
            <a:srgbClr val="EEF2F6"/>
          </a:solidFill>
          <a:ln w="12700">
            <a:solidFill>
              <a:srgbClr val="EEF2F6"/>
            </a:solidFill>
            <a:prstDash val="solid"/>
          </a:ln>
        </p:spPr>
      </p:sp>
      <p:sp>
        <p:nvSpPr>
          <p:cNvPr id="8" name="Text 5"/>
          <p:cNvSpPr txBox="1"/>
          <p:nvPr/>
        </p:nvSpPr>
        <p:spPr>
          <a:xfrm>
            <a:off x="6428232" y="1600200"/>
            <a:ext cx="4937760" cy="457200"/>
          </a:xfrm>
          <a:prstGeom prst="rect">
            <a:avLst/>
          </a:prstGeom>
          <a:noFill/>
          <a:ln/>
        </p:spPr>
        <p:txBody>
          <a:bodyPr wrap="square" lIns="0" tIns="0" rIns="0" bIns="0" rtlCol="0" anchor="t"/>
          <a:lstStyle/>
          <a:p>
            <a:pPr indent="0" marL="0">
              <a:buNone/>
            </a:pPr>
            <a:r>
              <a:rPr lang="en-US" sz="2200" b="1" dirty="0">
                <a:solidFill>
                  <a:srgbClr val="1B8A9A"/>
                </a:solidFill>
                <a:latin typeface="Cambria" pitchFamily="34" charset="0"/>
                <a:ea typeface="Cambria" pitchFamily="34" charset="-122"/>
                <a:cs typeface="Cambria" pitchFamily="34" charset="-120"/>
              </a:rPr>
              <a:t>Next steps</a:t>
            </a:r>
            <a:endParaRPr lang="en-US" sz="2200" dirty="0"/>
          </a:p>
        </p:txBody>
      </p:sp>
      <p:sp>
        <p:nvSpPr>
          <p:cNvPr id="9" name="Text 6"/>
          <p:cNvSpPr txBox="1"/>
          <p:nvPr/>
        </p:nvSpPr>
        <p:spPr>
          <a:xfrm>
            <a:off x="6428232" y="2240280"/>
            <a:ext cx="4983480" cy="365760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131A22"/>
                </a:solidFill>
                <a:latin typeface="Calibri" pitchFamily="34" charset="0"/>
                <a:ea typeface="Calibri" pitchFamily="34" charset="-122"/>
                <a:cs typeface="Calibri" pitchFamily="34" charset="-120"/>
              </a:rPr>
              <a:t>Keep one row per ASIN and decode HTML codes in titles</a:t>
            </a:r>
            <a:endParaRPr lang="en-US" sz="1800" dirty="0"/>
          </a:p>
          <a:p>
            <a:pPr marL="342900" indent="-342900">
              <a:spcAft>
                <a:spcPts val="1400"/>
              </a:spcAft>
              <a:buSzPct val="100000"/>
              <a:buChar char="•"/>
            </a:pPr>
            <a:r>
              <a:rPr lang="en-US" sz="1800" dirty="0">
                <a:solidFill>
                  <a:srgbClr val="131A22"/>
                </a:solidFill>
                <a:latin typeface="Calibri" pitchFamily="34" charset="0"/>
                <a:ea typeface="Calibri" pitchFamily="34" charset="-122"/>
                <a:cs typeface="Calibri" pitchFamily="34" charset="-120"/>
              </a:rPr>
              <a:t>Add product_type (and brand) as columns and slicers in Power BI</a:t>
            </a:r>
            <a:endParaRPr lang="en-US" sz="1800" dirty="0"/>
          </a:p>
          <a:p>
            <a:pPr marL="342900" indent="-342900">
              <a:spcAft>
                <a:spcPts val="1400"/>
              </a:spcAft>
              <a:buSzPct val="100000"/>
              <a:buChar char="•"/>
            </a:pPr>
            <a:r>
              <a:rPr lang="en-US" sz="1800" dirty="0">
                <a:solidFill>
                  <a:srgbClr val="131A22"/>
                </a:solidFill>
                <a:latin typeface="Calibri" pitchFamily="34" charset="0"/>
                <a:ea typeface="Calibri" pitchFamily="34" charset="-122"/>
                <a:cs typeface="Calibri" pitchFamily="34" charset="-120"/>
              </a:rPr>
              <a:t>Collect several dates to study price and discount trends</a:t>
            </a:r>
            <a:endParaRPr lang="en-US" sz="1800" dirty="0"/>
          </a:p>
          <a:p>
            <a:pPr marL="342900" indent="-342900">
              <a:spcAft>
                <a:spcPts val="1400"/>
              </a:spcAft>
              <a:buSzPct val="100000"/>
              <a:buChar char="•"/>
            </a:pPr>
            <a:r>
              <a:rPr lang="en-US" sz="1800" dirty="0">
                <a:solidFill>
                  <a:srgbClr val="131A22"/>
                </a:solidFill>
                <a:latin typeface="Calibri" pitchFamily="34" charset="0"/>
                <a:ea typeface="Calibri" pitchFamily="34" charset="-122"/>
                <a:cs typeface="Calibri" pitchFamily="34" charset="-120"/>
              </a:rPr>
              <a:t>Add a text-insights panel with numbers to dashboard page 3</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42"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600"/>
                                        <p:tgtEl>
                                          <p:spTgt spid="2"/>
                                        </p:tgtEl>
                                      </p:cBhvr>
                                    </p:animEffect>
                                    <p:anim calcmode="lin" valueType="num">
                                      <p:cBhvr additive="base">
                                        <p:cTn id="13" dur="600" fill="hold"/>
                                        <p:tgtEl>
                                          <p:spTgt spid="2"/>
                                        </p:tgtEl>
                                        <p:attrNameLst>
                                          <p:attrName>ppt_y</p:attrName>
                                        </p:attrNameLst>
                                      </p:cBhvr>
                                      <p:tavLst>
                                        <p:tav tm="0">
                                          <p:val>
                                            <p:strVal val="#ppt_y+0.05"/>
                                          </p:val>
                                        </p:tav>
                                        <p:tav tm="100000">
                                          <p:val>
                                            <p:strVal val="#ppt_y"/>
                                          </p:val>
                                        </p:tav>
                                      </p:tavLst>
                                    </p:anim>
                                  </p:childTnLst>
                                </p:cTn>
                              </p:par>
                              <p:par>
                                <p:cTn id="16" presetID="42" presetClass="entr" presetSubtype="0" fill="hold" nodeType="withEffect">
                                  <p:stCondLst>
                                    <p:cond delay="13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600"/>
                                        <p:tgtEl>
                                          <p:spTgt spid="4"/>
                                        </p:tgtEl>
                                      </p:cBhvr>
                                    </p:animEffect>
                                    <p:anim calcmode="lin" valueType="num">
                                      <p:cBhvr additive="base">
                                        <p:cTn id="19" dur="600" fill="hold"/>
                                        <p:tgtEl>
                                          <p:spTgt spid="4"/>
                                        </p:tgtEl>
                                        <p:attrNameLst>
                                          <p:attrName>ppt_y</p:attrName>
                                        </p:attrNameLst>
                                      </p:cBhvr>
                                      <p:tavLst>
                                        <p:tav tm="0">
                                          <p:val>
                                            <p:strVal val="#ppt_y+0.05"/>
                                          </p:val>
                                        </p:tav>
                                        <p:tav tm="100000">
                                          <p:val>
                                            <p:strVal val="#ppt_y"/>
                                          </p:val>
                                        </p:tav>
                                      </p:tavLst>
                                    </p:anim>
                                  </p:childTnLst>
                                </p:cTn>
                              </p:par>
                              <p:par>
                                <p:cTn id="22" presetID="42" presetClass="entr" presetSubtype="0" fill="hold" nodeType="withEffect">
                                  <p:stCondLst>
                                    <p:cond delay="26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600"/>
                                        <p:tgtEl>
                                          <p:spTgt spid="5"/>
                                        </p:tgtEl>
                                      </p:cBhvr>
                                    </p:animEffect>
                                    <p:anim calcmode="lin" valueType="num">
                                      <p:cBhvr additive="base">
                                        <p:cTn id="25" dur="600" fill="hold"/>
                                        <p:tgtEl>
                                          <p:spTgt spid="5"/>
                                        </p:tgtEl>
                                        <p:attrNameLst>
                                          <p:attrName>ppt_y</p:attrName>
                                        </p:attrNameLst>
                                      </p:cBhvr>
                                      <p:tavLst>
                                        <p:tav tm="0">
                                          <p:val>
                                            <p:strVal val="#ppt_y+0.05"/>
                                          </p:val>
                                        </p:tav>
                                        <p:tav tm="100000">
                                          <p:val>
                                            <p:strVal val="#ppt_y"/>
                                          </p:val>
                                        </p:tav>
                                      </p:tavLst>
                                    </p:anim>
                                  </p:childTnLst>
                                </p:cTn>
                              </p:par>
                              <p:par>
                                <p:cTn id="28" presetID="42" presetClass="entr" presetSubtype="0" fill="hold" nodeType="withEffect">
                                  <p:stCondLst>
                                    <p:cond delay="39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600"/>
                                        <p:tgtEl>
                                          <p:spTgt spid="6"/>
                                        </p:tgtEl>
                                      </p:cBhvr>
                                    </p:animEffect>
                                    <p:anim calcmode="lin" valueType="num">
                                      <p:cBhvr additive="base">
                                        <p:cTn id="31" dur="600" fill="hold"/>
                                        <p:tgtEl>
                                          <p:spTgt spid="6"/>
                                        </p:tgtEl>
                                        <p:attrNameLst>
                                          <p:attrName>ppt_y</p:attrName>
                                        </p:attrNameLst>
                                      </p:cBhvr>
                                      <p:tavLst>
                                        <p:tav tm="0">
                                          <p:val>
                                            <p:strVal val="#ppt_y+0.05"/>
                                          </p:val>
                                        </p:tav>
                                        <p:tav tm="100000">
                                          <p:val>
                                            <p:strVal val="#ppt_y"/>
                                          </p:val>
                                        </p:tav>
                                      </p:tavLst>
                                    </p:anim>
                                  </p:childTnLst>
                                </p:cTn>
                              </p:par>
                              <p:par>
                                <p:cTn id="34" presetID="42" presetClass="entr" presetSubtype="0" fill="hold" nodeType="withEffect">
                                  <p:stCondLst>
                                    <p:cond delay="52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600"/>
                                        <p:tgtEl>
                                          <p:spTgt spid="7"/>
                                        </p:tgtEl>
                                      </p:cBhvr>
                                    </p:animEffect>
                                    <p:anim calcmode="lin" valueType="num">
                                      <p:cBhvr additive="base">
                                        <p:cTn id="37" dur="600" fill="hold"/>
                                        <p:tgtEl>
                                          <p:spTgt spid="7"/>
                                        </p:tgtEl>
                                        <p:attrNameLst>
                                          <p:attrName>ppt_y</p:attrName>
                                        </p:attrNameLst>
                                      </p:cBhvr>
                                      <p:tavLst>
                                        <p:tav tm="0">
                                          <p:val>
                                            <p:strVal val="#ppt_y+0.05"/>
                                          </p:val>
                                        </p:tav>
                                        <p:tav tm="100000">
                                          <p:val>
                                            <p:strVal val="#ppt_y"/>
                                          </p:val>
                                        </p:tav>
                                      </p:tavLst>
                                    </p:anim>
                                  </p:childTnLst>
                                </p:cTn>
                              </p:par>
                              <p:par>
                                <p:cTn id="40" presetID="42" presetClass="entr" presetSubtype="0" fill="hold" nodeType="withEffect">
                                  <p:stCondLst>
                                    <p:cond delay="65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600"/>
                                        <p:tgtEl>
                                          <p:spTgt spid="8"/>
                                        </p:tgtEl>
                                      </p:cBhvr>
                                    </p:animEffect>
                                    <p:anim calcmode="lin" valueType="num">
                                      <p:cBhvr additive="base">
                                        <p:cTn id="43" dur="600" fill="hold"/>
                                        <p:tgtEl>
                                          <p:spTgt spid="8"/>
                                        </p:tgtEl>
                                        <p:attrNameLst>
                                          <p:attrName>ppt_y</p:attrName>
                                        </p:attrNameLst>
                                      </p:cBhvr>
                                      <p:tavLst>
                                        <p:tav tm="0">
                                          <p:val>
                                            <p:strVal val="#ppt_y+0.05"/>
                                          </p:val>
                                        </p:tav>
                                        <p:tav tm="100000">
                                          <p:val>
                                            <p:strVal val="#ppt_y"/>
                                          </p:val>
                                        </p:tav>
                                      </p:tavLst>
                                    </p:anim>
                                  </p:childTnLst>
                                </p:cTn>
                              </p:par>
                              <p:par>
                                <p:cTn id="46" presetID="42" presetClass="entr" presetSubtype="0" fill="hold" nodeType="withEffect">
                                  <p:stCondLst>
                                    <p:cond delay="78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600"/>
                                        <p:tgtEl>
                                          <p:spTgt spid="9"/>
                                        </p:tgtEl>
                                      </p:cBhvr>
                                    </p:animEffect>
                                    <p:anim calcmode="lin" valueType="num">
                                      <p:cBhvr additive="base">
                                        <p:cTn id="49" dur="600" fill="hold"/>
                                        <p:tgtEl>
                                          <p:spTgt spid="9"/>
                                        </p:tgtEl>
                                        <p:attrNameLst>
                                          <p:attrName>ppt_y</p:attrName>
                                        </p:attrNameLst>
                                      </p:cBhvr>
                                      <p:tavLst>
                                        <p:tav tm="0">
                                          <p:val>
                                            <p:strVal val="#ppt_y+0.05"/>
                                          </p:val>
                                        </p:tav>
                                        <p:tav tm="100000">
                                          <p:val>
                                            <p:strVal val="#ppt_y"/>
                                          </p:val>
                                        </p:tav>
                                      </p:tavLst>
                                    </p:anim>
                                  </p:childTnLst>
                                </p:cTn>
                              </p:par>
                              <p:par>
                                <p:cTn id="52" presetID="42" presetClass="entr" presetSubtype="0" fill="hold" nodeType="withEffect">
                                  <p:stCondLst>
                                    <p:cond delay="91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600"/>
                                        <p:tgtEl>
                                          <p:spTgt spid="25"/>
                                        </p:tgtEl>
                                      </p:cBhvr>
                                    </p:animEffect>
                                    <p:anim calcmode="lin" valueType="num">
                                      <p:cBhvr additive="base">
                                        <p:cTn id="55" dur="600" fill="hold"/>
                                        <p:tgtEl>
                                          <p:spTgt spid="25"/>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502920"/>
            <a:ext cx="10698480" cy="91440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Deliverables and Q&amp;A</a:t>
            </a:r>
            <a:endParaRPr lang="en-US" sz="4000" dirty="0"/>
          </a:p>
        </p:txBody>
      </p:sp>
      <p:sp>
        <p:nvSpPr>
          <p:cNvPr id="3" name="glow circle"/>
          <p:cNvSpPr/>
          <p:nvPr/>
        </p:nvSpPr>
        <p:spPr>
          <a:xfrm>
            <a:off x="9692640" y="-1097280"/>
            <a:ext cx="3291840" cy="3291840"/>
          </a:xfrm>
          <a:prstGeom prst="ellipse">
            <a:avLst/>
          </a:prstGeom>
          <a:solidFill>
            <a:srgbClr val="FF9900">
              <a:alpha val="15000"/>
            </a:srgbClr>
          </a:solidFill>
          <a:ln w="12700">
            <a:solidFill>
              <a:srgbClr val="FF9900"/>
            </a:solidFill>
            <a:prstDash val="solid"/>
          </a:ln>
        </p:spPr>
      </p:sp>
      <p:pic>
        <p:nvPicPr>
          <p:cNvPr id="4" name="Image 0" descr="folder icon">    </p:cNvPr>
          <p:cNvPicPr>
            <a:picLocks noChangeAspect="1"/>
          </p:cNvPicPr>
          <p:nvPr/>
        </p:nvPicPr>
        <p:blipFill>
          <a:blip r:embed="rId1"/>
          <a:stretch>
            <a:fillRect/>
          </a:stretch>
        </p:blipFill>
        <p:spPr>
          <a:xfrm>
            <a:off x="731520" y="1737360"/>
            <a:ext cx="457200" cy="457200"/>
          </a:xfrm>
          <a:prstGeom prst="rect">
            <a:avLst/>
          </a:prstGeom>
        </p:spPr>
      </p:pic>
      <p:sp>
        <p:nvSpPr>
          <p:cNvPr id="5" name="Text 2"/>
          <p:cNvSpPr txBox="1"/>
          <p:nvPr/>
        </p:nvSpPr>
        <p:spPr>
          <a:xfrm>
            <a:off x="1371600" y="1737360"/>
            <a:ext cx="7315200" cy="457200"/>
          </a:xfrm>
          <a:prstGeom prst="rect">
            <a:avLst/>
          </a:prstGeom>
          <a:noFill/>
          <a:ln/>
        </p:spPr>
        <p:txBody>
          <a:bodyPr wrap="square" lIns="0" tIns="0" rIns="0" bIns="0" rtlCol="0" anchor="ctr"/>
          <a:lstStyle/>
          <a:p>
            <a:pPr indent="0" marL="0">
              <a:buNone/>
            </a:pPr>
            <a:r>
              <a:rPr lang="en-US" sz="2000" b="1" dirty="0">
                <a:solidFill>
                  <a:srgbClr val="FF9900"/>
                </a:solidFill>
                <a:latin typeface="Calibri" pitchFamily="34" charset="0"/>
                <a:ea typeface="Calibri" pitchFamily="34" charset="-122"/>
                <a:cs typeface="Calibri" pitchFamily="34" charset="-120"/>
              </a:rPr>
              <a:t>Amazon_Phone_Market_Analysis.zip</a:t>
            </a:r>
            <a:endParaRPr lang="en-US" sz="2000" dirty="0"/>
          </a:p>
        </p:txBody>
      </p:sp>
      <p:sp>
        <p:nvSpPr>
          <p:cNvPr id="6" name="Text 3"/>
          <p:cNvSpPr txBox="1"/>
          <p:nvPr/>
        </p:nvSpPr>
        <p:spPr>
          <a:xfrm>
            <a:off x="1371600" y="2468880"/>
            <a:ext cx="2926080" cy="411480"/>
          </a:xfrm>
          <a:prstGeom prst="rect">
            <a:avLst/>
          </a:prstGeom>
          <a:noFill/>
          <a:ln/>
        </p:spPr>
        <p:txBody>
          <a:bodyPr wrap="square" lIns="0" tIns="0" rIns="0" bIns="0" rtlCol="0" anchor="ctr"/>
          <a:lstStyle/>
          <a:p>
            <a:pPr indent="0" marL="0">
              <a:buNone/>
            </a:pPr>
            <a:r>
              <a:rPr lang="en-US" sz="1600" b="1" dirty="0">
                <a:solidFill>
                  <a:srgbClr val="FFFFFF"/>
                </a:solidFill>
                <a:latin typeface="Courier New" pitchFamily="34" charset="0"/>
                <a:ea typeface="Courier New" pitchFamily="34" charset="-122"/>
                <a:cs typeface="Courier New" pitchFamily="34" charset="-120"/>
              </a:rPr>
              <a:t>01_Raw_Data</a:t>
            </a:r>
            <a:endParaRPr lang="en-US" sz="1600" dirty="0"/>
          </a:p>
        </p:txBody>
      </p:sp>
      <p:sp>
        <p:nvSpPr>
          <p:cNvPr id="7" name="Text 4"/>
          <p:cNvSpPr txBox="1"/>
          <p:nvPr/>
        </p:nvSpPr>
        <p:spPr>
          <a:xfrm>
            <a:off x="4389120" y="2468880"/>
            <a:ext cx="4572000" cy="411480"/>
          </a:xfrm>
          <a:prstGeom prst="rect">
            <a:avLst/>
          </a:prstGeom>
          <a:noFill/>
          <a:ln/>
        </p:spPr>
        <p:txBody>
          <a:bodyPr wrap="square" lIns="0" tIns="0" rIns="0" bIns="0" rtlCol="0" anchor="ctr"/>
          <a:lstStyle/>
          <a:p>
            <a:pPr indent="0" marL="0">
              <a:buNone/>
            </a:pPr>
            <a:r>
              <a:rPr lang="en-US" sz="1600" dirty="0">
                <a:solidFill>
                  <a:srgbClr val="C9D3DE"/>
                </a:solidFill>
                <a:latin typeface="Calibri" pitchFamily="34" charset="0"/>
                <a:ea typeface="Calibri" pitchFamily="34" charset="-122"/>
                <a:cs typeface="Calibri" pitchFamily="34" charset="-120"/>
              </a:rPr>
              <a:t>phone search (1).csv</a:t>
            </a:r>
            <a:endParaRPr lang="en-US" sz="1600" dirty="0"/>
          </a:p>
        </p:txBody>
      </p:sp>
      <p:sp>
        <p:nvSpPr>
          <p:cNvPr id="8" name="Text 5"/>
          <p:cNvSpPr txBox="1"/>
          <p:nvPr/>
        </p:nvSpPr>
        <p:spPr>
          <a:xfrm>
            <a:off x="1371600" y="2971800"/>
            <a:ext cx="2926080" cy="411480"/>
          </a:xfrm>
          <a:prstGeom prst="rect">
            <a:avLst/>
          </a:prstGeom>
          <a:noFill/>
          <a:ln/>
        </p:spPr>
        <p:txBody>
          <a:bodyPr wrap="square" lIns="0" tIns="0" rIns="0" bIns="0" rtlCol="0" anchor="ctr"/>
          <a:lstStyle/>
          <a:p>
            <a:pPr indent="0" marL="0">
              <a:buNone/>
            </a:pPr>
            <a:r>
              <a:rPr lang="en-US" sz="1600" b="1" dirty="0">
                <a:solidFill>
                  <a:srgbClr val="FFFFFF"/>
                </a:solidFill>
                <a:latin typeface="Courier New" pitchFamily="34" charset="0"/>
                <a:ea typeface="Courier New" pitchFamily="34" charset="-122"/>
                <a:cs typeface="Courier New" pitchFamily="34" charset="-120"/>
              </a:rPr>
              <a:t>02_Python</a:t>
            </a:r>
            <a:endParaRPr lang="en-US" sz="1600" dirty="0"/>
          </a:p>
        </p:txBody>
      </p:sp>
      <p:sp>
        <p:nvSpPr>
          <p:cNvPr id="9" name="Text 6"/>
          <p:cNvSpPr txBox="1"/>
          <p:nvPr/>
        </p:nvSpPr>
        <p:spPr>
          <a:xfrm>
            <a:off x="4389120" y="2971800"/>
            <a:ext cx="4572000" cy="411480"/>
          </a:xfrm>
          <a:prstGeom prst="rect">
            <a:avLst/>
          </a:prstGeom>
          <a:noFill/>
          <a:ln/>
        </p:spPr>
        <p:txBody>
          <a:bodyPr wrap="square" lIns="0" tIns="0" rIns="0" bIns="0" rtlCol="0" anchor="ctr"/>
          <a:lstStyle/>
          <a:p>
            <a:pPr indent="0" marL="0">
              <a:buNone/>
            </a:pPr>
            <a:r>
              <a:rPr lang="en-US" sz="1600" dirty="0">
                <a:solidFill>
                  <a:srgbClr val="C9D3DE"/>
                </a:solidFill>
                <a:latin typeface="Calibri" pitchFamily="34" charset="0"/>
                <a:ea typeface="Calibri" pitchFamily="34" charset="-122"/>
                <a:cs typeface="Calibri" pitchFamily="34" charset="-120"/>
              </a:rPr>
              <a:t>Amazon Phone Market Analysis2.ipynb</a:t>
            </a:r>
            <a:endParaRPr lang="en-US" sz="1600" dirty="0"/>
          </a:p>
        </p:txBody>
      </p:sp>
      <p:sp>
        <p:nvSpPr>
          <p:cNvPr id="10" name="Text 7"/>
          <p:cNvSpPr txBox="1"/>
          <p:nvPr/>
        </p:nvSpPr>
        <p:spPr>
          <a:xfrm>
            <a:off x="1371600" y="3474720"/>
            <a:ext cx="2926080" cy="411480"/>
          </a:xfrm>
          <a:prstGeom prst="rect">
            <a:avLst/>
          </a:prstGeom>
          <a:noFill/>
          <a:ln/>
        </p:spPr>
        <p:txBody>
          <a:bodyPr wrap="square" lIns="0" tIns="0" rIns="0" bIns="0" rtlCol="0" anchor="ctr"/>
          <a:lstStyle/>
          <a:p>
            <a:pPr indent="0" marL="0">
              <a:buNone/>
            </a:pPr>
            <a:r>
              <a:rPr lang="en-US" sz="1600" b="1" dirty="0">
                <a:solidFill>
                  <a:srgbClr val="FFFFFF"/>
                </a:solidFill>
                <a:latin typeface="Courier New" pitchFamily="34" charset="0"/>
                <a:ea typeface="Courier New" pitchFamily="34" charset="-122"/>
                <a:cs typeface="Courier New" pitchFamily="34" charset="-120"/>
              </a:rPr>
              <a:t>03_Cleaned_Data</a:t>
            </a:r>
            <a:endParaRPr lang="en-US" sz="1600" dirty="0"/>
          </a:p>
        </p:txBody>
      </p:sp>
      <p:sp>
        <p:nvSpPr>
          <p:cNvPr id="11" name="Text 8"/>
          <p:cNvSpPr txBox="1"/>
          <p:nvPr/>
        </p:nvSpPr>
        <p:spPr>
          <a:xfrm>
            <a:off x="4389120" y="3474720"/>
            <a:ext cx="4572000" cy="411480"/>
          </a:xfrm>
          <a:prstGeom prst="rect">
            <a:avLst/>
          </a:prstGeom>
          <a:noFill/>
          <a:ln/>
        </p:spPr>
        <p:txBody>
          <a:bodyPr wrap="square" lIns="0" tIns="0" rIns="0" bIns="0" rtlCol="0" anchor="ctr"/>
          <a:lstStyle/>
          <a:p>
            <a:pPr indent="0" marL="0">
              <a:buNone/>
            </a:pPr>
            <a:r>
              <a:rPr lang="en-US" sz="1600" dirty="0">
                <a:solidFill>
                  <a:srgbClr val="C9D3DE"/>
                </a:solidFill>
                <a:latin typeface="Calibri" pitchFamily="34" charset="0"/>
                <a:ea typeface="Calibri" pitchFamily="34" charset="-122"/>
                <a:cs typeface="Calibri" pitchFamily="34" charset="-120"/>
              </a:rPr>
              <a:t>cleaned_phone_data.csv / .xlsx</a:t>
            </a:r>
            <a:endParaRPr lang="en-US" sz="1600" dirty="0"/>
          </a:p>
        </p:txBody>
      </p:sp>
      <p:sp>
        <p:nvSpPr>
          <p:cNvPr id="12" name="Text 9"/>
          <p:cNvSpPr txBox="1"/>
          <p:nvPr/>
        </p:nvSpPr>
        <p:spPr>
          <a:xfrm>
            <a:off x="1371600" y="3977640"/>
            <a:ext cx="2926080" cy="411480"/>
          </a:xfrm>
          <a:prstGeom prst="rect">
            <a:avLst/>
          </a:prstGeom>
          <a:noFill/>
          <a:ln/>
        </p:spPr>
        <p:txBody>
          <a:bodyPr wrap="square" lIns="0" tIns="0" rIns="0" bIns="0" rtlCol="0" anchor="ctr"/>
          <a:lstStyle/>
          <a:p>
            <a:pPr indent="0" marL="0">
              <a:buNone/>
            </a:pPr>
            <a:r>
              <a:rPr lang="en-US" sz="1600" b="1" dirty="0">
                <a:solidFill>
                  <a:srgbClr val="FFFFFF"/>
                </a:solidFill>
                <a:latin typeface="Courier New" pitchFamily="34" charset="0"/>
                <a:ea typeface="Courier New" pitchFamily="34" charset="-122"/>
                <a:cs typeface="Courier New" pitchFamily="34" charset="-120"/>
              </a:rPr>
              <a:t>04_SQL</a:t>
            </a:r>
            <a:endParaRPr lang="en-US" sz="1600" dirty="0"/>
          </a:p>
        </p:txBody>
      </p:sp>
      <p:sp>
        <p:nvSpPr>
          <p:cNvPr id="13" name="Text 10"/>
          <p:cNvSpPr txBox="1"/>
          <p:nvPr/>
        </p:nvSpPr>
        <p:spPr>
          <a:xfrm>
            <a:off x="4389120" y="3977640"/>
            <a:ext cx="4572000" cy="411480"/>
          </a:xfrm>
          <a:prstGeom prst="rect">
            <a:avLst/>
          </a:prstGeom>
          <a:noFill/>
          <a:ln/>
        </p:spPr>
        <p:txBody>
          <a:bodyPr wrap="square" lIns="0" tIns="0" rIns="0" bIns="0" rtlCol="0" anchor="ctr"/>
          <a:lstStyle/>
          <a:p>
            <a:pPr indent="0" marL="0">
              <a:buNone/>
            </a:pPr>
            <a:r>
              <a:rPr lang="en-US" sz="1600" dirty="0">
                <a:solidFill>
                  <a:srgbClr val="C9D3DE"/>
                </a:solidFill>
                <a:latin typeface="Calibri" pitchFamily="34" charset="0"/>
                <a:ea typeface="Calibri" pitchFamily="34" charset="-122"/>
                <a:cs typeface="Calibri" pitchFamily="34" charset="-120"/>
              </a:rPr>
              <a:t>ALL_SQL_ANALYSIS.sql</a:t>
            </a:r>
            <a:endParaRPr lang="en-US" sz="1600" dirty="0"/>
          </a:p>
        </p:txBody>
      </p:sp>
      <p:sp>
        <p:nvSpPr>
          <p:cNvPr id="14" name="Text 11"/>
          <p:cNvSpPr txBox="1"/>
          <p:nvPr/>
        </p:nvSpPr>
        <p:spPr>
          <a:xfrm>
            <a:off x="1371600" y="4480560"/>
            <a:ext cx="2926080" cy="411480"/>
          </a:xfrm>
          <a:prstGeom prst="rect">
            <a:avLst/>
          </a:prstGeom>
          <a:noFill/>
          <a:ln/>
        </p:spPr>
        <p:txBody>
          <a:bodyPr wrap="square" lIns="0" tIns="0" rIns="0" bIns="0" rtlCol="0" anchor="ctr"/>
          <a:lstStyle/>
          <a:p>
            <a:pPr indent="0" marL="0">
              <a:buNone/>
            </a:pPr>
            <a:r>
              <a:rPr lang="en-US" sz="1600" b="1" dirty="0">
                <a:solidFill>
                  <a:srgbClr val="FFFFFF"/>
                </a:solidFill>
                <a:latin typeface="Courier New" pitchFamily="34" charset="0"/>
                <a:ea typeface="Courier New" pitchFamily="34" charset="-122"/>
                <a:cs typeface="Courier New" pitchFamily="34" charset="-120"/>
              </a:rPr>
              <a:t>05_PowerBI</a:t>
            </a:r>
            <a:endParaRPr lang="en-US" sz="1600" dirty="0"/>
          </a:p>
        </p:txBody>
      </p:sp>
      <p:sp>
        <p:nvSpPr>
          <p:cNvPr id="15" name="Text 12"/>
          <p:cNvSpPr txBox="1"/>
          <p:nvPr/>
        </p:nvSpPr>
        <p:spPr>
          <a:xfrm>
            <a:off x="4389120" y="4480560"/>
            <a:ext cx="4572000" cy="411480"/>
          </a:xfrm>
          <a:prstGeom prst="rect">
            <a:avLst/>
          </a:prstGeom>
          <a:noFill/>
          <a:ln/>
        </p:spPr>
        <p:txBody>
          <a:bodyPr wrap="square" lIns="0" tIns="0" rIns="0" bIns="0" rtlCol="0" anchor="ctr"/>
          <a:lstStyle/>
          <a:p>
            <a:pPr indent="0" marL="0">
              <a:buNone/>
            </a:pPr>
            <a:r>
              <a:rPr lang="en-US" sz="1600" dirty="0">
                <a:solidFill>
                  <a:srgbClr val="C9D3DE"/>
                </a:solidFill>
                <a:latin typeface="Calibri" pitchFamily="34" charset="0"/>
                <a:ea typeface="Calibri" pitchFamily="34" charset="-122"/>
                <a:cs typeface="Calibri" pitchFamily="34" charset="-120"/>
              </a:rPr>
              <a:t>phone.pbix + step-by-step notes</a:t>
            </a:r>
            <a:endParaRPr lang="en-US" sz="1600" dirty="0"/>
          </a:p>
        </p:txBody>
      </p:sp>
      <p:sp>
        <p:nvSpPr>
          <p:cNvPr id="16" name="Text 13"/>
          <p:cNvSpPr txBox="1"/>
          <p:nvPr/>
        </p:nvSpPr>
        <p:spPr>
          <a:xfrm>
            <a:off x="1371600" y="4983480"/>
            <a:ext cx="2926080" cy="411480"/>
          </a:xfrm>
          <a:prstGeom prst="rect">
            <a:avLst/>
          </a:prstGeom>
          <a:noFill/>
          <a:ln/>
        </p:spPr>
        <p:txBody>
          <a:bodyPr wrap="square" lIns="0" tIns="0" rIns="0" bIns="0" rtlCol="0" anchor="ctr"/>
          <a:lstStyle/>
          <a:p>
            <a:pPr indent="0" marL="0">
              <a:buNone/>
            </a:pPr>
            <a:r>
              <a:rPr lang="en-US" sz="1600" b="1" dirty="0">
                <a:solidFill>
                  <a:srgbClr val="FFFFFF"/>
                </a:solidFill>
                <a:latin typeface="Courier New" pitchFamily="34" charset="0"/>
                <a:ea typeface="Courier New" pitchFamily="34" charset="-122"/>
                <a:cs typeface="Courier New" pitchFamily="34" charset="-120"/>
              </a:rPr>
              <a:t>06_Presentation</a:t>
            </a:r>
            <a:endParaRPr lang="en-US" sz="1600" dirty="0"/>
          </a:p>
        </p:txBody>
      </p:sp>
      <p:sp>
        <p:nvSpPr>
          <p:cNvPr id="17" name="Text 14"/>
          <p:cNvSpPr txBox="1"/>
          <p:nvPr/>
        </p:nvSpPr>
        <p:spPr>
          <a:xfrm>
            <a:off x="4389120" y="4983480"/>
            <a:ext cx="4572000" cy="411480"/>
          </a:xfrm>
          <a:prstGeom prst="rect">
            <a:avLst/>
          </a:prstGeom>
          <a:noFill/>
          <a:ln/>
        </p:spPr>
        <p:txBody>
          <a:bodyPr wrap="square" lIns="0" tIns="0" rIns="0" bIns="0" rtlCol="0" anchor="ctr"/>
          <a:lstStyle/>
          <a:p>
            <a:pPr indent="0" marL="0">
              <a:buNone/>
            </a:pPr>
            <a:r>
              <a:rPr lang="en-US" sz="1600" dirty="0">
                <a:solidFill>
                  <a:srgbClr val="C9D3DE"/>
                </a:solidFill>
                <a:latin typeface="Calibri" pitchFamily="34" charset="0"/>
                <a:ea typeface="Calibri" pitchFamily="34" charset="-122"/>
                <a:cs typeface="Calibri" pitchFamily="34" charset="-120"/>
              </a:rPr>
              <a:t>this PowerPoint</a:t>
            </a:r>
            <a:endParaRPr lang="en-US" sz="1600" dirty="0"/>
          </a:p>
        </p:txBody>
      </p:sp>
      <p:sp>
        <p:nvSpPr>
          <p:cNvPr id="18" name="Text 15"/>
          <p:cNvSpPr txBox="1"/>
          <p:nvPr/>
        </p:nvSpPr>
        <p:spPr>
          <a:xfrm>
            <a:off x="1371600" y="5486400"/>
            <a:ext cx="2926080" cy="411480"/>
          </a:xfrm>
          <a:prstGeom prst="rect">
            <a:avLst/>
          </a:prstGeom>
          <a:noFill/>
          <a:ln/>
        </p:spPr>
        <p:txBody>
          <a:bodyPr wrap="square" lIns="0" tIns="0" rIns="0" bIns="0" rtlCol="0" anchor="ctr"/>
          <a:lstStyle/>
          <a:p>
            <a:pPr indent="0" marL="0">
              <a:buNone/>
            </a:pPr>
            <a:r>
              <a:rPr lang="en-US" sz="1600" b="1" dirty="0">
                <a:solidFill>
                  <a:srgbClr val="FFFFFF"/>
                </a:solidFill>
                <a:latin typeface="Courier New" pitchFamily="34" charset="0"/>
                <a:ea typeface="Courier New" pitchFamily="34" charset="-122"/>
                <a:cs typeface="Courier New" pitchFamily="34" charset="-120"/>
              </a:rPr>
              <a:t>07_Documentation</a:t>
            </a:r>
            <a:endParaRPr lang="en-US" sz="1600" dirty="0"/>
          </a:p>
        </p:txBody>
      </p:sp>
      <p:sp>
        <p:nvSpPr>
          <p:cNvPr id="19" name="Text 16"/>
          <p:cNvSpPr txBox="1"/>
          <p:nvPr/>
        </p:nvSpPr>
        <p:spPr>
          <a:xfrm>
            <a:off x="4389120" y="5486400"/>
            <a:ext cx="4572000" cy="411480"/>
          </a:xfrm>
          <a:prstGeom prst="rect">
            <a:avLst/>
          </a:prstGeom>
          <a:noFill/>
          <a:ln/>
        </p:spPr>
        <p:txBody>
          <a:bodyPr wrap="square" lIns="0" tIns="0" rIns="0" bIns="0" rtlCol="0" anchor="ctr"/>
          <a:lstStyle/>
          <a:p>
            <a:pPr indent="0" marL="0">
              <a:buNone/>
            </a:pPr>
            <a:r>
              <a:rPr lang="en-US" sz="1600" dirty="0">
                <a:solidFill>
                  <a:srgbClr val="C9D3DE"/>
                </a:solidFill>
                <a:latin typeface="Calibri" pitchFamily="34" charset="0"/>
                <a:ea typeface="Calibri" pitchFamily="34" charset="-122"/>
                <a:cs typeface="Calibri" pitchFamily="34" charset="-120"/>
              </a:rPr>
              <a:t>data dictionary + data quality report</a:t>
            </a:r>
            <a:endParaRPr lang="en-US" sz="1600" dirty="0"/>
          </a:p>
        </p:txBody>
      </p:sp>
      <p:sp>
        <p:nvSpPr>
          <p:cNvPr id="20" name="thanks card"/>
          <p:cNvSpPr/>
          <p:nvPr/>
        </p:nvSpPr>
        <p:spPr>
          <a:xfrm>
            <a:off x="9052560" y="2468880"/>
            <a:ext cx="2606040" cy="3383280"/>
          </a:xfrm>
          <a:prstGeom prst="roundRect">
            <a:avLst>
              <a:gd name="adj" fmla="val 4211"/>
            </a:avLst>
          </a:prstGeom>
          <a:solidFill>
            <a:srgbClr val="232F3E"/>
          </a:solidFill>
          <a:ln w="12700">
            <a:solidFill>
              <a:srgbClr val="232F3E"/>
            </a:solidFill>
            <a:prstDash val="solid"/>
          </a:ln>
        </p:spPr>
      </p:sp>
      <p:sp>
        <p:nvSpPr>
          <p:cNvPr id="21" name="Text 18"/>
          <p:cNvSpPr txBox="1"/>
          <p:nvPr/>
        </p:nvSpPr>
        <p:spPr>
          <a:xfrm>
            <a:off x="9189720" y="2926080"/>
            <a:ext cx="2331720" cy="731520"/>
          </a:xfrm>
          <a:prstGeom prst="rect">
            <a:avLst/>
          </a:prstGeom>
          <a:noFill/>
          <a:ln/>
        </p:spPr>
        <p:txBody>
          <a:bodyPr wrap="square" lIns="0" tIns="0" rIns="0" bIns="0" rtlCol="0" anchor="t"/>
          <a:lstStyle/>
          <a:p>
            <a:pPr algn="ctr" indent="0" marL="0">
              <a:buNone/>
            </a:pPr>
            <a:r>
              <a:rPr lang="en-US" sz="2800" b="1" dirty="0">
                <a:solidFill>
                  <a:srgbClr val="FF9900"/>
                </a:solidFill>
                <a:latin typeface="Cambria" pitchFamily="34" charset="0"/>
                <a:ea typeface="Cambria" pitchFamily="34" charset="-122"/>
                <a:cs typeface="Cambria" pitchFamily="34" charset="-120"/>
              </a:rPr>
              <a:t>Thank you</a:t>
            </a:r>
            <a:endParaRPr lang="en-US" sz="2800" dirty="0"/>
          </a:p>
        </p:txBody>
      </p:sp>
      <p:sp>
        <p:nvSpPr>
          <p:cNvPr id="22" name="Text 19"/>
          <p:cNvSpPr txBox="1"/>
          <p:nvPr/>
        </p:nvSpPr>
        <p:spPr>
          <a:xfrm>
            <a:off x="9189720" y="3749040"/>
            <a:ext cx="2331720" cy="548640"/>
          </a:xfrm>
          <a:prstGeom prst="rect">
            <a:avLst/>
          </a:prstGeom>
          <a:noFill/>
          <a:ln/>
        </p:spPr>
        <p:txBody>
          <a:bodyPr wrap="square" lIns="0" tIns="0" rIns="0" bIns="0" rtlCol="0" anchor="t"/>
          <a:lstStyle/>
          <a:p>
            <a:pPr algn="ctr" indent="0" marL="0">
              <a:buNone/>
            </a:pPr>
            <a:r>
              <a:rPr lang="en-US" sz="2200" dirty="0">
                <a:solidFill>
                  <a:srgbClr val="FFFFFF"/>
                </a:solidFill>
                <a:latin typeface="Calibri" pitchFamily="34" charset="0"/>
                <a:ea typeface="Calibri" pitchFamily="34" charset="-122"/>
                <a:cs typeface="Calibri" pitchFamily="34" charset="-120"/>
              </a:rPr>
              <a:t>Questions?</a:t>
            </a:r>
            <a:endParaRPr lang="en-US" sz="2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10" presetID="42"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600"/>
                                        <p:tgtEl>
                                          <p:spTgt spid="2"/>
                                        </p:tgtEl>
                                      </p:cBhvr>
                                    </p:animEffect>
                                    <p:anim calcmode="lin" valueType="num">
                                      <p:cBhvr additive="base">
                                        <p:cTn id="13" dur="600" fill="hold"/>
                                        <p:tgtEl>
                                          <p:spTgt spid="2"/>
                                        </p:tgtEl>
                                        <p:attrNameLst>
                                          <p:attrName>ppt_y</p:attrName>
                                        </p:attrNameLst>
                                      </p:cBhvr>
                                      <p:tavLst>
                                        <p:tav tm="0">
                                          <p:val>
                                            <p:strVal val="#ppt_y+0.05"/>
                                          </p:val>
                                        </p:tav>
                                        <p:tav tm="100000">
                                          <p:val>
                                            <p:strVal val="#ppt_y"/>
                                          </p:val>
                                        </p:tav>
                                      </p:tavLst>
                                    </p:anim>
                                  </p:childTnLst>
                                </p:cTn>
                              </p:par>
                              <p:par>
                                <p:cTn id="16" presetID="42" presetClass="entr" presetSubtype="0" fill="hold" nodeType="withEffect">
                                  <p:stCondLst>
                                    <p:cond delay="104"/>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600"/>
                                        <p:tgtEl>
                                          <p:spTgt spid="3"/>
                                        </p:tgtEl>
                                      </p:cBhvr>
                                    </p:animEffect>
                                    <p:anim calcmode="lin" valueType="num">
                                      <p:cBhvr additive="base">
                                        <p:cTn id="19" dur="600" fill="hold"/>
                                        <p:tgtEl>
                                          <p:spTgt spid="3"/>
                                        </p:tgtEl>
                                        <p:attrNameLst>
                                          <p:attrName>ppt_y</p:attrName>
                                        </p:attrNameLst>
                                      </p:cBhvr>
                                      <p:tavLst>
                                        <p:tav tm="0">
                                          <p:val>
                                            <p:strVal val="#ppt_y+0.05"/>
                                          </p:val>
                                        </p:tav>
                                        <p:tav tm="100000">
                                          <p:val>
                                            <p:strVal val="#ppt_y"/>
                                          </p:val>
                                        </p:tav>
                                      </p:tavLst>
                                    </p:anim>
                                  </p:childTnLst>
                                </p:cTn>
                              </p:par>
                              <p:par>
                                <p:cTn id="22" presetID="42" presetClass="entr" presetSubtype="0" fill="hold" nodeType="withEffect">
                                  <p:stCondLst>
                                    <p:cond delay="208"/>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600"/>
                                        <p:tgtEl>
                                          <p:spTgt spid="4"/>
                                        </p:tgtEl>
                                      </p:cBhvr>
                                    </p:animEffect>
                                    <p:anim calcmode="lin" valueType="num">
                                      <p:cBhvr additive="base">
                                        <p:cTn id="25" dur="600" fill="hold"/>
                                        <p:tgtEl>
                                          <p:spTgt spid="4"/>
                                        </p:tgtEl>
                                        <p:attrNameLst>
                                          <p:attrName>ppt_y</p:attrName>
                                        </p:attrNameLst>
                                      </p:cBhvr>
                                      <p:tavLst>
                                        <p:tav tm="0">
                                          <p:val>
                                            <p:strVal val="#ppt_y+0.05"/>
                                          </p:val>
                                        </p:tav>
                                        <p:tav tm="100000">
                                          <p:val>
                                            <p:strVal val="#ppt_y"/>
                                          </p:val>
                                        </p:tav>
                                      </p:tavLst>
                                    </p:anim>
                                  </p:childTnLst>
                                </p:cTn>
                              </p:par>
                              <p:par>
                                <p:cTn id="28" presetID="42" presetClass="entr" presetSubtype="0" fill="hold" nodeType="withEffect">
                                  <p:stCondLst>
                                    <p:cond delay="312"/>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600"/>
                                        <p:tgtEl>
                                          <p:spTgt spid="5"/>
                                        </p:tgtEl>
                                      </p:cBhvr>
                                    </p:animEffect>
                                    <p:anim calcmode="lin" valueType="num">
                                      <p:cBhvr additive="base">
                                        <p:cTn id="31" dur="600" fill="hold"/>
                                        <p:tgtEl>
                                          <p:spTgt spid="5"/>
                                        </p:tgtEl>
                                        <p:attrNameLst>
                                          <p:attrName>ppt_y</p:attrName>
                                        </p:attrNameLst>
                                      </p:cBhvr>
                                      <p:tavLst>
                                        <p:tav tm="0">
                                          <p:val>
                                            <p:strVal val="#ppt_y+0.05"/>
                                          </p:val>
                                        </p:tav>
                                        <p:tav tm="100000">
                                          <p:val>
                                            <p:strVal val="#ppt_y"/>
                                          </p:val>
                                        </p:tav>
                                      </p:tavLst>
                                    </p:anim>
                                  </p:childTnLst>
                                </p:cTn>
                              </p:par>
                              <p:par>
                                <p:cTn id="34" presetID="42" presetClass="entr" presetSubtype="0" fill="hold" nodeType="withEffect">
                                  <p:stCondLst>
                                    <p:cond delay="416"/>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600"/>
                                        <p:tgtEl>
                                          <p:spTgt spid="6"/>
                                        </p:tgtEl>
                                      </p:cBhvr>
                                    </p:animEffect>
                                    <p:anim calcmode="lin" valueType="num">
                                      <p:cBhvr additive="base">
                                        <p:cTn id="37" dur="600" fill="hold"/>
                                        <p:tgtEl>
                                          <p:spTgt spid="6"/>
                                        </p:tgtEl>
                                        <p:attrNameLst>
                                          <p:attrName>ppt_y</p:attrName>
                                        </p:attrNameLst>
                                      </p:cBhvr>
                                      <p:tavLst>
                                        <p:tav tm="0">
                                          <p:val>
                                            <p:strVal val="#ppt_y+0.05"/>
                                          </p:val>
                                        </p:tav>
                                        <p:tav tm="100000">
                                          <p:val>
                                            <p:strVal val="#ppt_y"/>
                                          </p:val>
                                        </p:tav>
                                      </p:tavLst>
                                    </p:anim>
                                  </p:childTnLst>
                                </p:cTn>
                              </p:par>
                              <p:par>
                                <p:cTn id="40" presetID="42" presetClass="entr" presetSubtype="0" fill="hold" nodeType="withEffect">
                                  <p:stCondLst>
                                    <p:cond delay="52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600"/>
                                        <p:tgtEl>
                                          <p:spTgt spid="7"/>
                                        </p:tgtEl>
                                      </p:cBhvr>
                                    </p:animEffect>
                                    <p:anim calcmode="lin" valueType="num">
                                      <p:cBhvr additive="base">
                                        <p:cTn id="43" dur="600" fill="hold"/>
                                        <p:tgtEl>
                                          <p:spTgt spid="7"/>
                                        </p:tgtEl>
                                        <p:attrNameLst>
                                          <p:attrName>ppt_y</p:attrName>
                                        </p:attrNameLst>
                                      </p:cBhvr>
                                      <p:tavLst>
                                        <p:tav tm="0">
                                          <p:val>
                                            <p:strVal val="#ppt_y+0.05"/>
                                          </p:val>
                                        </p:tav>
                                        <p:tav tm="100000">
                                          <p:val>
                                            <p:strVal val="#ppt_y"/>
                                          </p:val>
                                        </p:tav>
                                      </p:tavLst>
                                    </p:anim>
                                  </p:childTnLst>
                                </p:cTn>
                              </p:par>
                              <p:par>
                                <p:cTn id="46" presetID="42" presetClass="entr" presetSubtype="0" fill="hold" nodeType="withEffect">
                                  <p:stCondLst>
                                    <p:cond delay="624"/>
                                  </p:stCondLst>
                                  <p:childTnLst>
                                    <p:set>
                                      <p:cBhvr>
                                        <p:cTn id="47" dur="1" fill="hold">
                                          <p:stCondLst>
                                            <p:cond delay="0"/>
                                          </p:stCondLst>
                                        </p:cTn>
                                        <p:tgtEl>
                                          <p:spTgt spid="8"/>
                                        </p:tgtEl>
                                        <p:attrNameLst>
                                          <p:attrName>style.visibility</p:attrName>
                                        </p:attrNameLst>
                                      </p:cBhvr>
                                      <p:to>
                                        <p:strVal val="visible"/>
                                      </p:to>
                                    </p:set>
                                    <p:animEffect transition="in" filter="fade">
                                      <p:cBhvr>
                                        <p:cTn id="48" dur="600"/>
                                        <p:tgtEl>
                                          <p:spTgt spid="8"/>
                                        </p:tgtEl>
                                      </p:cBhvr>
                                    </p:animEffect>
                                    <p:anim calcmode="lin" valueType="num">
                                      <p:cBhvr additive="base">
                                        <p:cTn id="49" dur="600" fill="hold"/>
                                        <p:tgtEl>
                                          <p:spTgt spid="8"/>
                                        </p:tgtEl>
                                        <p:attrNameLst>
                                          <p:attrName>ppt_y</p:attrName>
                                        </p:attrNameLst>
                                      </p:cBhvr>
                                      <p:tavLst>
                                        <p:tav tm="0">
                                          <p:val>
                                            <p:strVal val="#ppt_y+0.05"/>
                                          </p:val>
                                        </p:tav>
                                        <p:tav tm="100000">
                                          <p:val>
                                            <p:strVal val="#ppt_y"/>
                                          </p:val>
                                        </p:tav>
                                      </p:tavLst>
                                    </p:anim>
                                  </p:childTnLst>
                                </p:cTn>
                              </p:par>
                              <p:par>
                                <p:cTn id="52" presetID="42" presetClass="entr" presetSubtype="0" fill="hold" nodeType="withEffect">
                                  <p:stCondLst>
                                    <p:cond delay="728"/>
                                  </p:stCondLst>
                                  <p:childTnLst>
                                    <p:set>
                                      <p:cBhvr>
                                        <p:cTn id="53" dur="1" fill="hold">
                                          <p:stCondLst>
                                            <p:cond delay="0"/>
                                          </p:stCondLst>
                                        </p:cTn>
                                        <p:tgtEl>
                                          <p:spTgt spid="9"/>
                                        </p:tgtEl>
                                        <p:attrNameLst>
                                          <p:attrName>style.visibility</p:attrName>
                                        </p:attrNameLst>
                                      </p:cBhvr>
                                      <p:to>
                                        <p:strVal val="visible"/>
                                      </p:to>
                                    </p:set>
                                    <p:animEffect transition="in" filter="fade">
                                      <p:cBhvr>
                                        <p:cTn id="54" dur="600"/>
                                        <p:tgtEl>
                                          <p:spTgt spid="9"/>
                                        </p:tgtEl>
                                      </p:cBhvr>
                                    </p:animEffect>
                                    <p:anim calcmode="lin" valueType="num">
                                      <p:cBhvr additive="base">
                                        <p:cTn id="55" dur="600" fill="hold"/>
                                        <p:tgtEl>
                                          <p:spTgt spid="9"/>
                                        </p:tgtEl>
                                        <p:attrNameLst>
                                          <p:attrName>ppt_y</p:attrName>
                                        </p:attrNameLst>
                                      </p:cBhvr>
                                      <p:tavLst>
                                        <p:tav tm="0">
                                          <p:val>
                                            <p:strVal val="#ppt_y+0.05"/>
                                          </p:val>
                                        </p:tav>
                                        <p:tav tm="100000">
                                          <p:val>
                                            <p:strVal val="#ppt_y"/>
                                          </p:val>
                                        </p:tav>
                                      </p:tavLst>
                                    </p:anim>
                                  </p:childTnLst>
                                </p:cTn>
                              </p:par>
                              <p:par>
                                <p:cTn id="58" presetID="42" presetClass="entr" presetSubtype="0" fill="hold" nodeType="withEffect">
                                  <p:stCondLst>
                                    <p:cond delay="832"/>
                                  </p:stCondLst>
                                  <p:childTnLst>
                                    <p:set>
                                      <p:cBhvr>
                                        <p:cTn id="59" dur="1" fill="hold">
                                          <p:stCondLst>
                                            <p:cond delay="0"/>
                                          </p:stCondLst>
                                        </p:cTn>
                                        <p:tgtEl>
                                          <p:spTgt spid="10"/>
                                        </p:tgtEl>
                                        <p:attrNameLst>
                                          <p:attrName>style.visibility</p:attrName>
                                        </p:attrNameLst>
                                      </p:cBhvr>
                                      <p:to>
                                        <p:strVal val="visible"/>
                                      </p:to>
                                    </p:set>
                                    <p:animEffect transition="in" filter="fade">
                                      <p:cBhvr>
                                        <p:cTn id="60" dur="600"/>
                                        <p:tgtEl>
                                          <p:spTgt spid="10"/>
                                        </p:tgtEl>
                                      </p:cBhvr>
                                    </p:animEffect>
                                    <p:anim calcmode="lin" valueType="num">
                                      <p:cBhvr additive="base">
                                        <p:cTn id="61" dur="600" fill="hold"/>
                                        <p:tgtEl>
                                          <p:spTgt spid="10"/>
                                        </p:tgtEl>
                                        <p:attrNameLst>
                                          <p:attrName>ppt_y</p:attrName>
                                        </p:attrNameLst>
                                      </p:cBhvr>
                                      <p:tavLst>
                                        <p:tav tm="0">
                                          <p:val>
                                            <p:strVal val="#ppt_y+0.05"/>
                                          </p:val>
                                        </p:tav>
                                        <p:tav tm="100000">
                                          <p:val>
                                            <p:strVal val="#ppt_y"/>
                                          </p:val>
                                        </p:tav>
                                      </p:tavLst>
                                    </p:anim>
                                  </p:childTnLst>
                                </p:cTn>
                              </p:par>
                              <p:par>
                                <p:cTn id="64" presetID="42" presetClass="entr" presetSubtype="0" fill="hold" nodeType="withEffect">
                                  <p:stCondLst>
                                    <p:cond delay="936"/>
                                  </p:stCondLst>
                                  <p:childTnLst>
                                    <p:set>
                                      <p:cBhvr>
                                        <p:cTn id="65" dur="1" fill="hold">
                                          <p:stCondLst>
                                            <p:cond delay="0"/>
                                          </p:stCondLst>
                                        </p:cTn>
                                        <p:tgtEl>
                                          <p:spTgt spid="11"/>
                                        </p:tgtEl>
                                        <p:attrNameLst>
                                          <p:attrName>style.visibility</p:attrName>
                                        </p:attrNameLst>
                                      </p:cBhvr>
                                      <p:to>
                                        <p:strVal val="visible"/>
                                      </p:to>
                                    </p:set>
                                    <p:animEffect transition="in" filter="fade">
                                      <p:cBhvr>
                                        <p:cTn id="66" dur="600"/>
                                        <p:tgtEl>
                                          <p:spTgt spid="11"/>
                                        </p:tgtEl>
                                      </p:cBhvr>
                                    </p:animEffect>
                                    <p:anim calcmode="lin" valueType="num">
                                      <p:cBhvr additive="base">
                                        <p:cTn id="67" dur="600" fill="hold"/>
                                        <p:tgtEl>
                                          <p:spTgt spid="11"/>
                                        </p:tgtEl>
                                        <p:attrNameLst>
                                          <p:attrName>ppt_y</p:attrName>
                                        </p:attrNameLst>
                                      </p:cBhvr>
                                      <p:tavLst>
                                        <p:tav tm="0">
                                          <p:val>
                                            <p:strVal val="#ppt_y+0.05"/>
                                          </p:val>
                                        </p:tav>
                                        <p:tav tm="100000">
                                          <p:val>
                                            <p:strVal val="#ppt_y"/>
                                          </p:val>
                                        </p:tav>
                                      </p:tavLst>
                                    </p:anim>
                                  </p:childTnLst>
                                </p:cTn>
                              </p:par>
                              <p:par>
                                <p:cTn id="70" presetID="42" presetClass="entr" presetSubtype="0" fill="hold" nodeType="withEffect">
                                  <p:stCondLst>
                                    <p:cond delay="1040"/>
                                  </p:stCondLst>
                                  <p:childTnLst>
                                    <p:set>
                                      <p:cBhvr>
                                        <p:cTn id="71" dur="1" fill="hold">
                                          <p:stCondLst>
                                            <p:cond delay="0"/>
                                          </p:stCondLst>
                                        </p:cTn>
                                        <p:tgtEl>
                                          <p:spTgt spid="12"/>
                                        </p:tgtEl>
                                        <p:attrNameLst>
                                          <p:attrName>style.visibility</p:attrName>
                                        </p:attrNameLst>
                                      </p:cBhvr>
                                      <p:to>
                                        <p:strVal val="visible"/>
                                      </p:to>
                                    </p:set>
                                    <p:animEffect transition="in" filter="fade">
                                      <p:cBhvr>
                                        <p:cTn id="72" dur="600"/>
                                        <p:tgtEl>
                                          <p:spTgt spid="12"/>
                                        </p:tgtEl>
                                      </p:cBhvr>
                                    </p:animEffect>
                                    <p:anim calcmode="lin" valueType="num">
                                      <p:cBhvr additive="base">
                                        <p:cTn id="73" dur="600" fill="hold"/>
                                        <p:tgtEl>
                                          <p:spTgt spid="12"/>
                                        </p:tgtEl>
                                        <p:attrNameLst>
                                          <p:attrName>ppt_y</p:attrName>
                                        </p:attrNameLst>
                                      </p:cBhvr>
                                      <p:tavLst>
                                        <p:tav tm="0">
                                          <p:val>
                                            <p:strVal val="#ppt_y+0.05"/>
                                          </p:val>
                                        </p:tav>
                                        <p:tav tm="100000">
                                          <p:val>
                                            <p:strVal val="#ppt_y"/>
                                          </p:val>
                                        </p:tav>
                                      </p:tavLst>
                                    </p:anim>
                                  </p:childTnLst>
                                </p:cTn>
                              </p:par>
                              <p:par>
                                <p:cTn id="76" presetID="42" presetClass="entr" presetSubtype="0" fill="hold" nodeType="withEffect">
                                  <p:stCondLst>
                                    <p:cond delay="1144"/>
                                  </p:stCondLst>
                                  <p:childTnLst>
                                    <p:set>
                                      <p:cBhvr>
                                        <p:cTn id="77" dur="1" fill="hold">
                                          <p:stCondLst>
                                            <p:cond delay="0"/>
                                          </p:stCondLst>
                                        </p:cTn>
                                        <p:tgtEl>
                                          <p:spTgt spid="13"/>
                                        </p:tgtEl>
                                        <p:attrNameLst>
                                          <p:attrName>style.visibility</p:attrName>
                                        </p:attrNameLst>
                                      </p:cBhvr>
                                      <p:to>
                                        <p:strVal val="visible"/>
                                      </p:to>
                                    </p:set>
                                    <p:animEffect transition="in" filter="fade">
                                      <p:cBhvr>
                                        <p:cTn id="78" dur="600"/>
                                        <p:tgtEl>
                                          <p:spTgt spid="13"/>
                                        </p:tgtEl>
                                      </p:cBhvr>
                                    </p:animEffect>
                                    <p:anim calcmode="lin" valueType="num">
                                      <p:cBhvr additive="base">
                                        <p:cTn id="79" dur="600" fill="hold"/>
                                        <p:tgtEl>
                                          <p:spTgt spid="13"/>
                                        </p:tgtEl>
                                        <p:attrNameLst>
                                          <p:attrName>ppt_y</p:attrName>
                                        </p:attrNameLst>
                                      </p:cBhvr>
                                      <p:tavLst>
                                        <p:tav tm="0">
                                          <p:val>
                                            <p:strVal val="#ppt_y+0.05"/>
                                          </p:val>
                                        </p:tav>
                                        <p:tav tm="100000">
                                          <p:val>
                                            <p:strVal val="#ppt_y"/>
                                          </p:val>
                                        </p:tav>
                                      </p:tavLst>
                                    </p:anim>
                                  </p:childTnLst>
                                </p:cTn>
                              </p:par>
                              <p:par>
                                <p:cTn id="82" presetID="42" presetClass="entr" presetSubtype="0" fill="hold" nodeType="withEffect">
                                  <p:stCondLst>
                                    <p:cond delay="1248"/>
                                  </p:stCondLst>
                                  <p:childTnLst>
                                    <p:set>
                                      <p:cBhvr>
                                        <p:cTn id="83" dur="1" fill="hold">
                                          <p:stCondLst>
                                            <p:cond delay="0"/>
                                          </p:stCondLst>
                                        </p:cTn>
                                        <p:tgtEl>
                                          <p:spTgt spid="14"/>
                                        </p:tgtEl>
                                        <p:attrNameLst>
                                          <p:attrName>style.visibility</p:attrName>
                                        </p:attrNameLst>
                                      </p:cBhvr>
                                      <p:to>
                                        <p:strVal val="visible"/>
                                      </p:to>
                                    </p:set>
                                    <p:animEffect transition="in" filter="fade">
                                      <p:cBhvr>
                                        <p:cTn id="84" dur="600"/>
                                        <p:tgtEl>
                                          <p:spTgt spid="14"/>
                                        </p:tgtEl>
                                      </p:cBhvr>
                                    </p:animEffect>
                                    <p:anim calcmode="lin" valueType="num">
                                      <p:cBhvr additive="base">
                                        <p:cTn id="85" dur="600" fill="hold"/>
                                        <p:tgtEl>
                                          <p:spTgt spid="14"/>
                                        </p:tgtEl>
                                        <p:attrNameLst>
                                          <p:attrName>ppt_y</p:attrName>
                                        </p:attrNameLst>
                                      </p:cBhvr>
                                      <p:tavLst>
                                        <p:tav tm="0">
                                          <p:val>
                                            <p:strVal val="#ppt_y+0.05"/>
                                          </p:val>
                                        </p:tav>
                                        <p:tav tm="100000">
                                          <p:val>
                                            <p:strVal val="#ppt_y"/>
                                          </p:val>
                                        </p:tav>
                                      </p:tavLst>
                                    </p:anim>
                                  </p:childTnLst>
                                </p:cTn>
                              </p:par>
                              <p:par>
                                <p:cTn id="88" presetID="42" presetClass="entr" presetSubtype="0" fill="hold" nodeType="withEffect">
                                  <p:stCondLst>
                                    <p:cond delay="1352"/>
                                  </p:stCondLst>
                                  <p:childTnLst>
                                    <p:set>
                                      <p:cBhvr>
                                        <p:cTn id="89" dur="1" fill="hold">
                                          <p:stCondLst>
                                            <p:cond delay="0"/>
                                          </p:stCondLst>
                                        </p:cTn>
                                        <p:tgtEl>
                                          <p:spTgt spid="15"/>
                                        </p:tgtEl>
                                        <p:attrNameLst>
                                          <p:attrName>style.visibility</p:attrName>
                                        </p:attrNameLst>
                                      </p:cBhvr>
                                      <p:to>
                                        <p:strVal val="visible"/>
                                      </p:to>
                                    </p:set>
                                    <p:animEffect transition="in" filter="fade">
                                      <p:cBhvr>
                                        <p:cTn id="90" dur="600"/>
                                        <p:tgtEl>
                                          <p:spTgt spid="15"/>
                                        </p:tgtEl>
                                      </p:cBhvr>
                                    </p:animEffect>
                                    <p:anim calcmode="lin" valueType="num">
                                      <p:cBhvr additive="base">
                                        <p:cTn id="91" dur="600" fill="hold"/>
                                        <p:tgtEl>
                                          <p:spTgt spid="15"/>
                                        </p:tgtEl>
                                        <p:attrNameLst>
                                          <p:attrName>ppt_y</p:attrName>
                                        </p:attrNameLst>
                                      </p:cBhvr>
                                      <p:tavLst>
                                        <p:tav tm="0">
                                          <p:val>
                                            <p:strVal val="#ppt_y+0.05"/>
                                          </p:val>
                                        </p:tav>
                                        <p:tav tm="100000">
                                          <p:val>
                                            <p:strVal val="#ppt_y"/>
                                          </p:val>
                                        </p:tav>
                                      </p:tavLst>
                                    </p:anim>
                                  </p:childTnLst>
                                </p:cTn>
                              </p:par>
                              <p:par>
                                <p:cTn id="94" presetID="42" presetClass="entr" presetSubtype="0" fill="hold" nodeType="withEffect">
                                  <p:stCondLst>
                                    <p:cond delay="1456"/>
                                  </p:stCondLst>
                                  <p:childTnLst>
                                    <p:set>
                                      <p:cBhvr>
                                        <p:cTn id="95" dur="1" fill="hold">
                                          <p:stCondLst>
                                            <p:cond delay="0"/>
                                          </p:stCondLst>
                                        </p:cTn>
                                        <p:tgtEl>
                                          <p:spTgt spid="16"/>
                                        </p:tgtEl>
                                        <p:attrNameLst>
                                          <p:attrName>style.visibility</p:attrName>
                                        </p:attrNameLst>
                                      </p:cBhvr>
                                      <p:to>
                                        <p:strVal val="visible"/>
                                      </p:to>
                                    </p:set>
                                    <p:animEffect transition="in" filter="fade">
                                      <p:cBhvr>
                                        <p:cTn id="96" dur="600"/>
                                        <p:tgtEl>
                                          <p:spTgt spid="16"/>
                                        </p:tgtEl>
                                      </p:cBhvr>
                                    </p:animEffect>
                                    <p:anim calcmode="lin" valueType="num">
                                      <p:cBhvr additive="base">
                                        <p:cTn id="97" dur="600" fill="hold"/>
                                        <p:tgtEl>
                                          <p:spTgt spid="16"/>
                                        </p:tgtEl>
                                        <p:attrNameLst>
                                          <p:attrName>ppt_y</p:attrName>
                                        </p:attrNameLst>
                                      </p:cBhvr>
                                      <p:tavLst>
                                        <p:tav tm="0">
                                          <p:val>
                                            <p:strVal val="#ppt_y+0.05"/>
                                          </p:val>
                                        </p:tav>
                                        <p:tav tm="100000">
                                          <p:val>
                                            <p:strVal val="#ppt_y"/>
                                          </p:val>
                                        </p:tav>
                                      </p:tavLst>
                                    </p:anim>
                                  </p:childTnLst>
                                </p:cTn>
                              </p:par>
                              <p:par>
                                <p:cTn id="100" presetID="42" presetClass="entr" presetSubtype="0" fill="hold" nodeType="withEffect">
                                  <p:stCondLst>
                                    <p:cond delay="1560"/>
                                  </p:stCondLst>
                                  <p:childTnLst>
                                    <p:set>
                                      <p:cBhvr>
                                        <p:cTn id="101" dur="1" fill="hold">
                                          <p:stCondLst>
                                            <p:cond delay="0"/>
                                          </p:stCondLst>
                                        </p:cTn>
                                        <p:tgtEl>
                                          <p:spTgt spid="17"/>
                                        </p:tgtEl>
                                        <p:attrNameLst>
                                          <p:attrName>style.visibility</p:attrName>
                                        </p:attrNameLst>
                                      </p:cBhvr>
                                      <p:to>
                                        <p:strVal val="visible"/>
                                      </p:to>
                                    </p:set>
                                    <p:animEffect transition="in" filter="fade">
                                      <p:cBhvr>
                                        <p:cTn id="102" dur="600"/>
                                        <p:tgtEl>
                                          <p:spTgt spid="17"/>
                                        </p:tgtEl>
                                      </p:cBhvr>
                                    </p:animEffect>
                                    <p:anim calcmode="lin" valueType="num">
                                      <p:cBhvr additive="base">
                                        <p:cTn id="103" dur="600" fill="hold"/>
                                        <p:tgtEl>
                                          <p:spTgt spid="17"/>
                                        </p:tgtEl>
                                        <p:attrNameLst>
                                          <p:attrName>ppt_y</p:attrName>
                                        </p:attrNameLst>
                                      </p:cBhvr>
                                      <p:tavLst>
                                        <p:tav tm="0">
                                          <p:val>
                                            <p:strVal val="#ppt_y+0.05"/>
                                          </p:val>
                                        </p:tav>
                                        <p:tav tm="100000">
                                          <p:val>
                                            <p:strVal val="#ppt_y"/>
                                          </p:val>
                                        </p:tav>
                                      </p:tavLst>
                                    </p:anim>
                                  </p:childTnLst>
                                </p:cTn>
                              </p:par>
                              <p:par>
                                <p:cTn id="106" presetID="42" presetClass="entr" presetSubtype="0" fill="hold" nodeType="withEffect">
                                  <p:stCondLst>
                                    <p:cond delay="1664"/>
                                  </p:stCondLst>
                                  <p:childTnLst>
                                    <p:set>
                                      <p:cBhvr>
                                        <p:cTn id="107" dur="1" fill="hold">
                                          <p:stCondLst>
                                            <p:cond delay="0"/>
                                          </p:stCondLst>
                                        </p:cTn>
                                        <p:tgtEl>
                                          <p:spTgt spid="18"/>
                                        </p:tgtEl>
                                        <p:attrNameLst>
                                          <p:attrName>style.visibility</p:attrName>
                                        </p:attrNameLst>
                                      </p:cBhvr>
                                      <p:to>
                                        <p:strVal val="visible"/>
                                      </p:to>
                                    </p:set>
                                    <p:animEffect transition="in" filter="fade">
                                      <p:cBhvr>
                                        <p:cTn id="108" dur="600"/>
                                        <p:tgtEl>
                                          <p:spTgt spid="18"/>
                                        </p:tgtEl>
                                      </p:cBhvr>
                                    </p:animEffect>
                                    <p:anim calcmode="lin" valueType="num">
                                      <p:cBhvr additive="base">
                                        <p:cTn id="109" dur="600" fill="hold"/>
                                        <p:tgtEl>
                                          <p:spTgt spid="18"/>
                                        </p:tgtEl>
                                        <p:attrNameLst>
                                          <p:attrName>ppt_y</p:attrName>
                                        </p:attrNameLst>
                                      </p:cBhvr>
                                      <p:tavLst>
                                        <p:tav tm="0">
                                          <p:val>
                                            <p:strVal val="#ppt_y+0.05"/>
                                          </p:val>
                                        </p:tav>
                                        <p:tav tm="100000">
                                          <p:val>
                                            <p:strVal val="#ppt_y"/>
                                          </p:val>
                                        </p:tav>
                                      </p:tavLst>
                                    </p:anim>
                                  </p:childTnLst>
                                </p:cTn>
                              </p:par>
                              <p:par>
                                <p:cTn id="112" presetID="42" presetClass="entr" presetSubtype="0" fill="hold" nodeType="withEffect">
                                  <p:stCondLst>
                                    <p:cond delay="1768"/>
                                  </p:stCondLst>
                                  <p:childTnLst>
                                    <p:set>
                                      <p:cBhvr>
                                        <p:cTn id="113" dur="1" fill="hold">
                                          <p:stCondLst>
                                            <p:cond delay="0"/>
                                          </p:stCondLst>
                                        </p:cTn>
                                        <p:tgtEl>
                                          <p:spTgt spid="19"/>
                                        </p:tgtEl>
                                        <p:attrNameLst>
                                          <p:attrName>style.visibility</p:attrName>
                                        </p:attrNameLst>
                                      </p:cBhvr>
                                      <p:to>
                                        <p:strVal val="visible"/>
                                      </p:to>
                                    </p:set>
                                    <p:animEffect transition="in" filter="fade">
                                      <p:cBhvr>
                                        <p:cTn id="114" dur="600"/>
                                        <p:tgtEl>
                                          <p:spTgt spid="19"/>
                                        </p:tgtEl>
                                      </p:cBhvr>
                                    </p:animEffect>
                                    <p:anim calcmode="lin" valueType="num">
                                      <p:cBhvr additive="base">
                                        <p:cTn id="115" dur="600" fill="hold"/>
                                        <p:tgtEl>
                                          <p:spTgt spid="19"/>
                                        </p:tgtEl>
                                        <p:attrNameLst>
                                          <p:attrName>ppt_y</p:attrName>
                                        </p:attrNameLst>
                                      </p:cBhvr>
                                      <p:tavLst>
                                        <p:tav tm="0">
                                          <p:val>
                                            <p:strVal val="#ppt_y+0.05"/>
                                          </p:val>
                                        </p:tav>
                                        <p:tav tm="100000">
                                          <p:val>
                                            <p:strVal val="#ppt_y"/>
                                          </p:val>
                                        </p:tav>
                                      </p:tavLst>
                                    </p:anim>
                                  </p:childTnLst>
                                </p:cTn>
                              </p:par>
                              <p:par>
                                <p:cTn id="118" presetID="42" presetClass="entr" presetSubtype="0" fill="hold" nodeType="withEffect">
                                  <p:stCondLst>
                                    <p:cond delay="1872"/>
                                  </p:stCondLst>
                                  <p:childTnLst>
                                    <p:set>
                                      <p:cBhvr>
                                        <p:cTn id="119" dur="1" fill="hold">
                                          <p:stCondLst>
                                            <p:cond delay="0"/>
                                          </p:stCondLst>
                                        </p:cTn>
                                        <p:tgtEl>
                                          <p:spTgt spid="20"/>
                                        </p:tgtEl>
                                        <p:attrNameLst>
                                          <p:attrName>style.visibility</p:attrName>
                                        </p:attrNameLst>
                                      </p:cBhvr>
                                      <p:to>
                                        <p:strVal val="visible"/>
                                      </p:to>
                                    </p:set>
                                    <p:animEffect transition="in" filter="fade">
                                      <p:cBhvr>
                                        <p:cTn id="120" dur="600"/>
                                        <p:tgtEl>
                                          <p:spTgt spid="20"/>
                                        </p:tgtEl>
                                      </p:cBhvr>
                                    </p:animEffect>
                                    <p:anim calcmode="lin" valueType="num">
                                      <p:cBhvr additive="base">
                                        <p:cTn id="121" dur="600" fill="hold"/>
                                        <p:tgtEl>
                                          <p:spTgt spid="20"/>
                                        </p:tgtEl>
                                        <p:attrNameLst>
                                          <p:attrName>ppt_y</p:attrName>
                                        </p:attrNameLst>
                                      </p:cBhvr>
                                      <p:tavLst>
                                        <p:tav tm="0">
                                          <p:val>
                                            <p:strVal val="#ppt_y+0.05"/>
                                          </p:val>
                                        </p:tav>
                                        <p:tav tm="100000">
                                          <p:val>
                                            <p:strVal val="#ppt_y"/>
                                          </p:val>
                                        </p:tav>
                                      </p:tavLst>
                                    </p:anim>
                                  </p:childTnLst>
                                </p:cTn>
                              </p:par>
                              <p:par>
                                <p:cTn id="124" presetID="42" presetClass="entr" presetSubtype="0" fill="hold" nodeType="withEffect">
                                  <p:stCondLst>
                                    <p:cond delay="1976"/>
                                  </p:stCondLst>
                                  <p:childTnLst>
                                    <p:set>
                                      <p:cBhvr>
                                        <p:cTn id="125" dur="1" fill="hold">
                                          <p:stCondLst>
                                            <p:cond delay="0"/>
                                          </p:stCondLst>
                                        </p:cTn>
                                        <p:tgtEl>
                                          <p:spTgt spid="21"/>
                                        </p:tgtEl>
                                        <p:attrNameLst>
                                          <p:attrName>style.visibility</p:attrName>
                                        </p:attrNameLst>
                                      </p:cBhvr>
                                      <p:to>
                                        <p:strVal val="visible"/>
                                      </p:to>
                                    </p:set>
                                    <p:animEffect transition="in" filter="fade">
                                      <p:cBhvr>
                                        <p:cTn id="126" dur="600"/>
                                        <p:tgtEl>
                                          <p:spTgt spid="21"/>
                                        </p:tgtEl>
                                      </p:cBhvr>
                                    </p:animEffect>
                                    <p:anim calcmode="lin" valueType="num">
                                      <p:cBhvr additive="base">
                                        <p:cTn id="127" dur="600" fill="hold"/>
                                        <p:tgtEl>
                                          <p:spTgt spid="21"/>
                                        </p:tgtEl>
                                        <p:attrNameLst>
                                          <p:attrName>ppt_y</p:attrName>
                                        </p:attrNameLst>
                                      </p:cBhvr>
                                      <p:tavLst>
                                        <p:tav tm="0">
                                          <p:val>
                                            <p:strVal val="#ppt_y+0.05"/>
                                          </p:val>
                                        </p:tav>
                                        <p:tav tm="100000">
                                          <p:val>
                                            <p:strVal val="#ppt_y"/>
                                          </p:val>
                                        </p:tav>
                                      </p:tavLst>
                                    </p:anim>
                                  </p:childTnLst>
                                </p:cTn>
                              </p:par>
                              <p:par>
                                <p:cTn id="130" presetID="42" presetClass="entr" presetSubtype="0" fill="hold" nodeType="withEffect">
                                  <p:stCondLst>
                                    <p:cond delay="2080"/>
                                  </p:stCondLst>
                                  <p:childTnLst>
                                    <p:set>
                                      <p:cBhvr>
                                        <p:cTn id="131" dur="1" fill="hold">
                                          <p:stCondLst>
                                            <p:cond delay="0"/>
                                          </p:stCondLst>
                                        </p:cTn>
                                        <p:tgtEl>
                                          <p:spTgt spid="22"/>
                                        </p:tgtEl>
                                        <p:attrNameLst>
                                          <p:attrName>style.visibility</p:attrName>
                                        </p:attrNameLst>
                                      </p:cBhvr>
                                      <p:to>
                                        <p:strVal val="visible"/>
                                      </p:to>
                                    </p:set>
                                    <p:animEffect transition="in" filter="fade">
                                      <p:cBhvr>
                                        <p:cTn id="132" dur="600"/>
                                        <p:tgtEl>
                                          <p:spTgt spid="22"/>
                                        </p:tgtEl>
                                      </p:cBhvr>
                                    </p:animEffect>
                                    <p:anim calcmode="lin" valueType="num">
                                      <p:cBhvr additive="base">
                                        <p:cTn id="133" dur="600" fill="hold"/>
                                        <p:tgtEl>
                                          <p:spTgt spid="22"/>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Amazon Phone Market">
  <a:themeElements>
    <a:clrScheme name="Amazon Phone Market">
      <a:dk1>
        <a:srgbClr val="131A22"/>
      </a:dk1>
      <a:lt1>
        <a:srgbClr val="FFFFFF"/>
      </a:lt1>
      <a:dk2>
        <a:srgbClr val="232F3E"/>
      </a:dk2>
      <a:lt2>
        <a:srgbClr val="EEF2F6"/>
      </a:lt2>
      <a:accent1>
        <a:srgbClr val="FF9900"/>
      </a:accent1>
      <a:accent2>
        <a:srgbClr val="232F3E"/>
      </a:accent2>
      <a:accent3>
        <a:srgbClr val="1B8A9A"/>
      </a:accent3>
      <a:accent4>
        <a:srgbClr val="5B6B7D"/>
      </a:accent4>
      <a:accent5>
        <a:srgbClr val="D1495B"/>
      </a:accent5>
      <a:accent6>
        <a:srgbClr val="A7B4C2"/>
      </a:accent6>
      <a:hlink>
        <a:srgbClr val="1B8A9A"/>
      </a:hlink>
      <a:folHlink>
        <a:srgbClr val="5B6B7D"/>
      </a:folHlink>
    </a:clrScheme>
    <a:fontScheme name="Amazon Phone Marke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Amazon Phone Market Analysis</dc:title>
  <dc:subject>PptxGenJS Presentation</dc:subject>
  <dc:creator>Data Analysis Diploma - Final Project</dc:creator>
  <cp:lastModifiedBy>Data Analysis Diploma - Final Project</cp:lastModifiedBy>
  <cp:revision>1</cp:revision>
  <dcterms:created xsi:type="dcterms:W3CDTF">2026-10-25T23:04:30Z</dcterms:created>
  <dcterms:modified xsi:type="dcterms:W3CDTF">2026-10-25T23:04:30Z</dcterms:modified>
</cp:coreProperties>
</file>